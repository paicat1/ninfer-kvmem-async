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9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74" r:id="rId24"/>
    <p:sldId id="275" r:id="rId25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tableStyles" Target="tableStyles.xml"/><Relationship Id="rId22" Type="http://schemas.openxmlformats.org/officeDocument/2006/relationships/viewProps" Target="viewProps.xml"/><Relationship Id="rId24" Type="http://schemas.openxmlformats.org/officeDocument/2006/relationships/slide" Target="slides/slide19.xml"/><Relationship Id="rId25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/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/>
          </a:p>
          <a:p>
            <a:pPr lvl="1"/>
            <a:r>
              <a:rPr lang="en-US"/>
              <a:t>Second level</a:t>
            </a:r>
            <a:endParaRPr/>
          </a:p>
          <a:p>
            <a:pPr lvl="2"/>
            <a:r>
              <a:rPr lang="en-US"/>
              <a:t>Third level</a:t>
            </a:r>
            <a:endParaRPr/>
          </a:p>
          <a:p>
            <a:pPr lvl="3"/>
            <a:r>
              <a:rPr lang="en-US"/>
              <a:t>Fourth level</a:t>
            </a:r>
            <a:endParaRPr/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0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0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0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0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0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0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0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0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0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0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0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0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0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0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0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0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0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0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1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4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4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5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5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6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6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7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endParaRPr lang="en-US" dirty="0"/>
          </a:p>
        </p:txBody>
      </p:sp>
      <p:sp>
        <p:nvSpPr>
          <p:cNvPr id="72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/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.xml"/><Relationship Id="rId3" Type="http://schemas.openxmlformats.org/officeDocument/2006/relationships/hyperlink" Target="https://arxiv.org/abs/2609.04852" TargetMode="Externa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1.xml"/><Relationship Id="rId3" Type="http://schemas.openxmlformats.org/officeDocument/2006/relationships/hyperlink" Target="https://arxiv.org/abs/2609.04852" TargetMode="External"/><Relationship Id="rId4" Type="http://schemas.openxmlformats.org/officeDocument/2006/relationships/hyperlink" Target="https://github.com/kvmem/kvmem" TargetMode="External"/><Relationship Id="rId5" Type="http://schemas.openxmlformats.org/officeDocument/2006/relationships/hyperlink" Target="https://github.com/1314521gjy/ninfer-fusion-kvmem" TargetMode="External"/><Relationship Id="rId6" Type="http://schemas.openxmlformats.org/officeDocument/2006/relationships/hyperlink" Target="https://github.com/tancau/ninfer-kvmem-ring" TargetMode="External"/><Relationship Id="rId7" Type="http://schemas.openxmlformats.org/officeDocument/2006/relationships/hyperlink" Target="https://github.com/XuanzhengZhou/qwen3.8-27b-ternary-5060ti" TargetMode="External"/><Relationship Id="rId8" Type="http://schemas.openxmlformats.org/officeDocument/2006/relationships/hyperlink" Target="https://github.com/ggml-org/llama.cpp" TargetMode="External"/><Relationship Id="rId9" Type="http://schemas.openxmlformats.org/officeDocument/2006/relationships/hyperlink" Target="https://github.com/Neroued/ninfer" TargetMode="External"/><Relationship Id="rId10" Type="http://schemas.openxmlformats.org/officeDocument/2006/relationships/hyperlink" Target="https://github.com/iamwavecut/ninfer-all" TargetMode="Externa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6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8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2.xml"/></Relationships>
</file>

<file path=ppt/slides/_rels/slide1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3.xml"/></Relationships>
</file>

<file path=ppt/slides/_rels/slide1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5.xml"/></Relationships>
</file>

<file path=ppt/slides/_rels/slide1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6.xml"/></Relationships>
</file>

<file path=ppt/slides/_rels/slide1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7.xml"/></Relationships>
</file>

<file path=ppt/slides/_rels/slide1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 name="Slide 1">
    <p:bg>
      <p:bgPr>
        <a:solidFill>
          <a:srgbClr val="0B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 rotWithShape="1">
            <a:gsLst>
              <a:gs pos="0">
                <a:srgbClr val="0B1F33"/>
              </a:gs>
              <a:gs pos="100000">
                <a:srgbClr val="16405F"/>
              </a:gs>
            </a:gsLst>
            <a:lin scaled="0" ang="18900000"/>
          </a:gra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457200" y="1417320"/>
            <a:ext cx="128016" cy="86868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1120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公开技术说明 · 2026-10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11200" y="1261872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</a:t>
            </a:r>
            <a:r>
              <a:rPr lang="en-US" sz="42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</a:t>
            </a: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的肩膀上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11200" y="2286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93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异步页流水：从“</a:t>
            </a:r>
            <a:r>
              <a:rPr lang="en-US" sz="17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装得下</a:t>
            </a:r>
            <a:r>
              <a:rPr lang="en-US" sz="1700" dirty="0">
                <a:solidFill>
                  <a:srgbClr val="93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“到“</a:t>
            </a:r>
            <a:r>
              <a:rPr lang="en-US" sz="17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跑得动</a:t>
            </a:r>
            <a:r>
              <a:rPr lang="en-US" sz="1700" dirty="0">
                <a:solidFill>
                  <a:srgbClr val="93A7B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“的探索与实践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1200" y="32004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致谢 KVMem 原作者团队：</a:t>
            </a:r>
            <a:r>
              <a:rPr lang="en-US" sz="11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 Chai · Leye Wang · Zeshen Su · Zhiguo Xia · Zhihang Yu</a:t>
            </a:r>
            <a:r>
              <a:rPr lang="en-US" sz="1100" dirty="0" u="sng">
                <a:solidFill>
                  <a:srgbClr val="3FC6D6"/>
                </a:solidFill>
                <a:latin typeface="Microsoft YaHei"/>
                <a:ea typeface="Microsoft YaHei"/>
                <a:hlinkClick xmlns:ns0="http://schemas.openxmlformats.org/officeDocument/2006/relationships" ns0:id="rId3"/>
              </a:rPr>
              <a:t>（arXiv 2609.04852）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112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890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890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先行者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258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4036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4036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740400" y="3703320"/>
            <a:ext cx="2286000" cy="777240"/>
          </a:xfrm>
          <a:prstGeom prst="roundRect">
            <a:avLst>
              <a:gd name="adj" fmla="val 49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918200" y="3785616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持续跑得动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918200" y="4133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050" dirty="0"/>
          </a:p>
        </p:txBody>
      </p:sp>
      <p:sp>
        <p:nvSpPr>
          <p:cNvPr id="20" name="TextBox 19"/>
          <p:cNvSpPr txBox="1"/>
          <p:nvPr/>
        </p:nvSpPr>
        <p:spPr>
          <a:xfrm>
            <a:off x="24384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b="1" sz="900">
                <a:solidFill>
                  <a:srgbClr val="F5A623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530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b="1" sz="900">
                <a:solidFill>
                  <a:srgbClr val="F5A623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67600" y="3771900"/>
            <a:ext cx="381000" cy="177800"/>
          </a:xfrm>
          <a:prstGeom prst="rect">
            <a:avLst/>
          </a:prstGeom>
          <a:noFill/>
          <a:ln/>
        </p:spPr>
        <p:txBody>
          <a:bodyPr wrap="none">
            <a:spAutoFit/>
          </a:bodyPr>
          <a:lstStyle/>
          <a:p>
            <a:pPr algn="r"/>
            <a:r>
              <a:rPr b="1" sz="900">
                <a:solidFill>
                  <a:srgbClr val="F5A623"/>
                </a:solidFill>
                <a:latin typeface="Microsoft YaHei"/>
                <a:ea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 name="Slide 2">
    <p:bg>
      <p:bgPr>
        <a:solidFill>
          <a:srgbClr val="0B1F33"/>
        </a:solidFill>
      </p:bgPr>
    </p:bg>
    <p:spTree>
      <p:nvGrpSpPr>
        <p:cNvPr id="20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0"/>
          <p:cNvSpPr/>
          <p:nvPr/>
        </p:nvSpPr>
        <p:spPr>
          <a:xfrm>
            <a:off x="457200" y="411480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207" name="Text 1"/>
          <p:cNvSpPr/>
          <p:nvPr/>
        </p:nvSpPr>
        <p:spPr>
          <a:xfrm>
            <a:off x="713232" y="329184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 FIRST</a:t>
            </a:r>
            <a:endParaRPr lang="en-US" sz="1100" dirty="0"/>
          </a:p>
        </p:txBody>
      </p:sp>
      <p:sp>
        <p:nvSpPr>
          <p:cNvPr id="208" name="Text 2"/>
          <p:cNvSpPr/>
          <p:nvPr/>
        </p:nvSpPr>
        <p:spPr>
          <a:xfrm>
            <a:off x="713232" y="566928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首先，致敬原作者的开创性工作</a:t>
            </a:r>
            <a:endParaRPr lang="en-US" sz="2400" dirty="0"/>
          </a:p>
        </p:txBody>
      </p:sp>
      <p:sp>
        <p:nvSpPr>
          <p:cNvPr id="209" name="Text 3"/>
          <p:cNvSpPr/>
          <p:nvPr/>
        </p:nvSpPr>
        <p:spPr>
          <a:xfrm>
            <a:off x="713232" y="1234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他们在没有先例可循的情况下回答了一个被认为做不到的问题：</a:t>
            </a:r>
            <a:endParaRPr lang="en-US" sz="1350" dirty="0"/>
          </a:p>
        </p:txBody>
      </p:sp>
      <p:sp>
        <p:nvSpPr>
          <p:cNvPr id="210" name="Text 4"/>
          <p:cNvSpPr/>
          <p:nvPr/>
        </p:nvSpPr>
        <p:spPr>
          <a:xfrm>
            <a:off x="713232" y="155448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“消费级 16GB 显卡，能不能承载百万 token 级的 Agent 工作区？”</a:t>
            </a:r>
            <a:endParaRPr lang="en-US" sz="1600" dirty="0"/>
          </a:p>
        </p:txBody>
      </p:sp>
      <p:sp>
        <p:nvSpPr>
          <p:cNvPr id="211" name="Shape 5"/>
          <p:cNvSpPr/>
          <p:nvPr/>
        </p:nvSpPr>
        <p:spPr>
          <a:xfrm>
            <a:off x="7132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212" name="Shape 6"/>
          <p:cNvSpPr/>
          <p:nvPr/>
        </p:nvSpPr>
        <p:spPr>
          <a:xfrm>
            <a:off x="7132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213" name="Text 7"/>
          <p:cNvSpPr/>
          <p:nvPr/>
        </p:nvSpPr>
        <p:spPr>
          <a:xfrm>
            <a:off x="8961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论文与创新</a:t>
            </a:r>
            <a:endParaRPr lang="en-US" sz="1350" dirty="0"/>
          </a:p>
        </p:txBody>
      </p:sp>
      <p:sp>
        <p:nvSpPr>
          <p:cNvPr id="214" name="Text 8"/>
          <p:cNvSpPr/>
          <p:nvPr/>
        </p:nvSpPr>
        <p:spPr>
          <a:xfrm>
            <a:off x="8961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KVMem: Virtualizing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Million-Token Agent Workspaces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 a Consumer GPU</a:t>
            </a:r>
            <a:endParaRPr lang="en-US" sz="950" dirty="0"/>
          </a:p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0="http://schemas.openxmlformats.org/officeDocument/2006/relationships" ns0:id="rId3"/>
              </a:rPr>
              <a:t>(arXiv 2609.04852 · B 站 FirePKU)</a:t>
            </a:r>
            <a:endParaRPr lang="en-US" sz="950" dirty="0"/>
          </a:p>
        </p:txBody>
      </p:sp>
      <p:sp>
        <p:nvSpPr>
          <p:cNvPr id="215" name="Shape 9"/>
          <p:cNvSpPr/>
          <p:nvPr/>
        </p:nvSpPr>
        <p:spPr>
          <a:xfrm>
            <a:off x="34564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216" name="Shape 10"/>
          <p:cNvSpPr/>
          <p:nvPr/>
        </p:nvSpPr>
        <p:spPr>
          <a:xfrm>
            <a:off x="34564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217" name="Text 11"/>
          <p:cNvSpPr/>
          <p:nvPr/>
        </p:nvSpPr>
        <p:spPr>
          <a:xfrm>
            <a:off x="36393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开源工程</a:t>
            </a:r>
            <a:endParaRPr lang="en-US" sz="1350" dirty="0"/>
          </a:p>
        </p:txBody>
      </p:sp>
      <p:sp>
        <p:nvSpPr>
          <p:cNvPr id="218" name="Text 12"/>
          <p:cNvSpPr/>
          <p:nvPr/>
        </p:nvSpPr>
        <p:spPr>
          <a:xfrm>
            <a:off x="36393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2="http://schemas.openxmlformats.org/officeDocument/2006/relationships" ns2:id="rId4"/>
              </a:rPr>
              <a:t>kvmem/kvmem：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双后端正式化（llama.cpp + NInfer）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Windows RTX 50 正式运行包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成体系的验收与回归记录</a:t>
            </a:r>
            <a:endParaRPr lang="en-US" sz="950" dirty="0"/>
          </a:p>
        </p:txBody>
      </p:sp>
      <p:sp>
        <p:nvSpPr>
          <p:cNvPr id="219" name="Shape 13"/>
          <p:cNvSpPr/>
          <p:nvPr/>
        </p:nvSpPr>
        <p:spPr>
          <a:xfrm>
            <a:off x="6199632" y="2240280"/>
            <a:ext cx="2560320" cy="1828800"/>
          </a:xfrm>
          <a:prstGeom prst="roundRect">
            <a:avLst>
              <a:gd name="adj" fmla="val 2100"/>
            </a:avLst>
          </a:prstGeom>
          <a:solidFill>
            <a:srgbClr val="13314D"/>
          </a:solidFill>
          <a:ln w="9525">
            <a:solidFill>
              <a:srgbClr val="23465C"/>
            </a:solidFill>
          </a:ln>
        </p:spPr>
        <p:txBody>
          <a:bodyPr/>
          <a:p/>
        </p:txBody>
      </p:sp>
      <p:sp>
        <p:nvSpPr>
          <p:cNvPr id="220" name="Shape 14"/>
          <p:cNvSpPr/>
          <p:nvPr/>
        </p:nvSpPr>
        <p:spPr>
          <a:xfrm>
            <a:off x="6199632" y="22402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221" name="Text 15"/>
          <p:cNvSpPr/>
          <p:nvPr/>
        </p:nvSpPr>
        <p:spPr>
          <a:xfrm>
            <a:off x="6382512" y="24231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生态血统</a:t>
            </a:r>
            <a:endParaRPr lang="en-US" sz="1350" dirty="0"/>
          </a:p>
        </p:txBody>
      </p:sp>
      <p:sp>
        <p:nvSpPr>
          <p:cNvPr id="222" name="Text 16"/>
          <p:cNvSpPr/>
          <p:nvPr/>
        </p:nvSpPr>
        <p:spPr>
          <a:xfrm>
            <a:off x="6382512" y="283464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4="http://schemas.openxmlformats.org/officeDocument/2006/relationships" ns4:id="rId5"/>
              </a:rPr>
              <a:t>沈三殊——最早把 NInfer × KVMem 结合</a:t>
            </a:r>
            <a:endParaRPr lang="en-US" sz="950" dirty="0"/>
          </a:p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6="http://schemas.openxmlformats.org/officeDocument/2006/relationships" ns6:id="rId6"/>
              </a:rPr>
              <a:t>tancau——Ring 环实现 · 直接讨论</a:t>
            </a:r>
            <a:endParaRPr lang="en-US" sz="950" dirty="0"/>
          </a:p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8="http://schemas.openxmlformats.org/officeDocument/2006/relationships" ns8:id="rId7"/>
              </a:rPr>
              <a:t>帅气的 zxz——5060Ti 线 · 融合计划</a:t>
            </a:r>
            <a:endParaRPr lang="en-US" sz="950" dirty="0"/>
          </a:p>
          <a:p>
            <a:pPr marL="0" indent="0">
              <a:buNone/>
            </a:pP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10="http://schemas.openxmlformats.org/officeDocument/2006/relationships" ns10:id="rId8"/>
              </a:rPr>
              <a:t>llama.cpp</a:t>
            </a: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· </a:t>
            </a: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12="http://schemas.openxmlformats.org/officeDocument/2006/relationships" ns12:id="rId9"/>
              </a:rPr>
              <a:t>Neroued/ninfer</a:t>
            </a: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· </a:t>
            </a:r>
            <a:r>
              <a:rPr lang="en-US" sz="950" dirty="0" u="sng">
                <a:solidFill>
                  <a:srgbClr val="3FC6D6"/>
                </a:solidFill>
                <a:latin typeface="Microsoft YaHei"/>
                <a:ea typeface="Microsoft YaHei"/>
                <a:hlinkClick xmlns:ns14="http://schemas.openxmlformats.org/officeDocument/2006/relationships" ns14:id="rId10"/>
              </a:rPr>
              <a:t>iamwavecut/ninfer-all</a:t>
            </a:r>
            <a:endParaRPr lang="en-US" sz="950" dirty="0"/>
          </a:p>
        </p:txBody>
      </p:sp>
      <p:sp>
        <p:nvSpPr>
          <p:cNvPr id="223" name="Text 17"/>
          <p:cNvSpPr/>
          <p:nvPr/>
        </p:nvSpPr>
        <p:spPr>
          <a:xfrm>
            <a:off x="713232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我们的线始于沈三殊的 NInfer × KVMem 组合；感谢 tancau 与帅气的 zxz 的直接交流与同行；近期 KVMem 官方亦将 NInfer 纳入正式后端——技术收敛。</a:t>
            </a:r>
            <a:endParaRPr lang="en-US" sz="1050" dirty="0"/>
          </a:p>
        </p:txBody>
      </p:sp>
      <p:sp>
        <p:nvSpPr>
          <p:cNvPr id="224" name="Text 1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02</a:t>
            </a:r>
            <a:r>
              <a:rPr sz="900">
                <a:solidFill>
                  <a:srgbClr val="3FC6D6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225" name="Text 1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226" name="Rectangle 225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E5A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 name="Slide 3">
    <p:bg>
      <p:bgPr>
        <a:solidFill>
          <a:srgbClr val="0B1F33"/>
        </a:solidFill>
      </p:bgPr>
    </p:bg>
    <p:spTree>
      <p:nvGrpSpPr>
        <p:cNvPr id="2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INSIGHT</a:t>
            </a:r>
            <a:endParaRPr lang="en-US" sz="1100" dirty="0"/>
          </a:p>
        </p:txBody>
      </p:sp>
      <p:sp>
        <p:nvSpPr>
          <p:cNvPr id="2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原作者的核心洞察：每一步，只需看见一小部分</a:t>
            </a:r>
            <a:endParaRPr lang="en-US" sz="2400" dirty="0"/>
          </a:p>
        </p:txBody>
      </p:sp>
      <p:sp>
        <p:nvSpPr>
          <p:cNvPr id="230" name="Text 3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场景把上下文推到几十万到上百万 token（100 万 token 的 KV ≈ 32 GiB，消费卡只有 16 GB）——但模型每一步真正“看见”的 KV 只是一小部分：</a:t>
            </a:r>
            <a:endParaRPr lang="en-US" sz="1250" dirty="0"/>
          </a:p>
        </p:txBody>
      </p:sp>
      <p:sp>
        <p:nvSpPr>
          <p:cNvPr id="231" name="Shape 4"/>
          <p:cNvSpPr/>
          <p:nvPr/>
        </p:nvSpPr>
        <p:spPr>
          <a:xfrm>
            <a:off x="548640" y="1783080"/>
            <a:ext cx="2377440" cy="1371600"/>
          </a:xfrm>
          <a:prstGeom prst="roundRect">
            <a:avLst>
              <a:gd name="adj" fmla="val 28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32" name="Text 5"/>
          <p:cNvSpPr/>
          <p:nvPr/>
        </p:nvSpPr>
        <p:spPr>
          <a:xfrm>
            <a:off x="685800" y="1920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Sink（固定开头）</a:t>
            </a:r>
            <a:endParaRPr lang="en-US" sz="1200" dirty="0"/>
          </a:p>
        </p:txBody>
      </p:sp>
      <p:sp>
        <p:nvSpPr>
          <p:cNvPr id="233" name="Text 6"/>
          <p:cNvSpPr/>
          <p:nvPr/>
        </p:nvSpPr>
        <p:spPr>
          <a:xfrm>
            <a:off x="685800" y="246888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12K token · 常驻</a:t>
            </a:r>
            <a:endParaRPr lang="en-US" sz="1000" dirty="0"/>
          </a:p>
        </p:txBody>
      </p:sp>
      <p:sp>
        <p:nvSpPr>
          <p:cNvPr id="234" name="Shape 7"/>
          <p:cNvSpPr/>
          <p:nvPr/>
        </p:nvSpPr>
        <p:spPr>
          <a:xfrm>
            <a:off x="3017520" y="1783080"/>
            <a:ext cx="1371600" cy="1371600"/>
          </a:xfrm>
          <a:prstGeom prst="roundRect">
            <a:avLst>
              <a:gd name="adj" fmla="val 28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35" name="Text 8"/>
          <p:cNvSpPr/>
          <p:nvPr/>
        </p:nvSpPr>
        <p:spPr>
          <a:xfrm>
            <a:off x="3154680" y="19202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Recent（最近窗口）</a:t>
            </a:r>
            <a:endParaRPr lang="en-US" sz="1200" dirty="0"/>
          </a:p>
        </p:txBody>
      </p:sp>
      <p:sp>
        <p:nvSpPr>
          <p:cNvPr id="236" name="Text 9"/>
          <p:cNvSpPr/>
          <p:nvPr/>
        </p:nvSpPr>
        <p:spPr>
          <a:xfrm>
            <a:off x="3154680" y="24688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1K token · 常驻</a:t>
            </a:r>
            <a:endParaRPr lang="en-US" sz="1000" dirty="0"/>
          </a:p>
        </p:txBody>
      </p:sp>
      <p:sp>
        <p:nvSpPr>
          <p:cNvPr id="237" name="Shape 10"/>
          <p:cNvSpPr/>
          <p:nvPr/>
        </p:nvSpPr>
        <p:spPr>
          <a:xfrm>
            <a:off x="4480560" y="1783080"/>
            <a:ext cx="4114800" cy="1371600"/>
          </a:xfrm>
          <a:prstGeom prst="roundRect">
            <a:avLst>
              <a:gd name="adj" fmla="val 2800"/>
            </a:avLst>
          </a:prstGeom>
          <a:solidFill>
            <a:srgbClr val="5A7789"/>
          </a:solidFill>
          <a:ln/>
        </p:spPr>
        <p:txBody>
          <a:bodyPr/>
          <a:p/>
        </p:txBody>
      </p:sp>
      <p:sp>
        <p:nvSpPr>
          <p:cNvPr id="238" name="Text 11"/>
          <p:cNvSpPr/>
          <p:nvPr/>
        </p:nvSpPr>
        <p:spPr>
          <a:xfrm>
            <a:off x="4617720" y="1920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其余全部历史</a:t>
            </a:r>
            <a:endParaRPr lang="en-US" sz="1200" dirty="0"/>
          </a:p>
        </p:txBody>
      </p:sp>
      <p:sp>
        <p:nvSpPr>
          <p:cNvPr id="239" name="Text 12"/>
          <p:cNvSpPr/>
          <p:nvPr/>
        </p:nvSpPr>
        <p:spPr>
          <a:xfrm>
            <a:off x="4617720" y="246888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按检索命中才换入 GPU</a:t>
            </a:r>
            <a:endParaRPr lang="en-US" sz="1000" dirty="0"/>
          </a:p>
        </p:txBody>
      </p:sp>
      <p:sp>
        <p:nvSpPr>
          <p:cNvPr id="240" name="Text 13"/>
          <p:cNvSpPr/>
          <p:nvPr/>
        </p:nvSpPr>
        <p:spPr>
          <a:xfrm>
            <a:off x="548640" y="34290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于是：完整 KV 存放 Host RAM（可选下沉 SSD），GPU 只保留“当前用得着的”——KV 虚拟化诞生</a:t>
            </a:r>
            <a:endParaRPr lang="en-US" sz="1350" dirty="0"/>
          </a:p>
        </p:txBody>
      </p:sp>
      <p:sp>
        <p:nvSpPr>
          <p:cNvPr id="241" name="Text 1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03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242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243" name="Rectangle 24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 name="Slide 4">
    <p:bg>
      <p:bgPr>
        <a:solidFill>
          <a:srgbClr val="0B1F33"/>
        </a:solidFill>
      </p:bgPr>
    </p:bg>
    <p:spTree>
      <p:nvGrpSpPr>
        <p:cNvPr id="2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4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THEIR WORK</a:t>
            </a:r>
            <a:endParaRPr lang="en-US" sz="1100" dirty="0"/>
          </a:p>
        </p:txBody>
      </p:sp>
      <p:sp>
        <p:nvSpPr>
          <p:cNvPr id="24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开创性技术与公开进展</a:t>
            </a:r>
            <a:endParaRPr lang="en-US" sz="2400" dirty="0"/>
          </a:p>
        </p:txBody>
      </p:sp>
      <p:sp>
        <p:nvSpPr>
          <p:cNvPr id="247" name="Text 3"/>
          <p:cNvSpPr/>
          <p:nvPr/>
        </p:nvSpPr>
        <p:spPr>
          <a:xfrm>
            <a:off x="54864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系统性实践的首创技术</a:t>
            </a:r>
            <a:endParaRPr lang="en-US" sz="1300" dirty="0"/>
          </a:p>
        </p:txBody>
      </p:sp>
      <p:sp>
        <p:nvSpPr>
          <p:cNvPr id="248" name="Text 4"/>
          <p:cNvSpPr/>
          <p:nvPr/>
        </p:nvSpPr>
        <p:spPr>
          <a:xfrm>
            <a:off x="548640" y="146304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KV 虚拟化（含量化附属 + MTP KV 一起分层）</a:t>
            </a:r>
            <a:endParaRPr lang="en-US" sz="1050" dirty="0"/>
          </a:p>
        </p:txBody>
      </p:sp>
      <p:sp>
        <p:nvSpPr>
          <p:cNvPr id="249" name="Text 5"/>
          <p:cNvSpPr/>
          <p:nvPr/>
        </p:nvSpPr>
        <p:spPr>
          <a:xfrm>
            <a:off x="548640" y="1892808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检索驱动的按需换入（不是全量搬运）</a:t>
            </a:r>
            <a:endParaRPr lang="en-US" sz="1050" dirty="0"/>
          </a:p>
        </p:txBody>
      </p:sp>
      <p:sp>
        <p:nvSpPr>
          <p:cNvPr id="250" name="Text 6"/>
          <p:cNvSpPr/>
          <p:nvPr/>
        </p:nvSpPr>
        <p:spPr>
          <a:xfrm>
            <a:off x="548640" y="2322576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LRFU 历史加权 + GQA max 打分</a:t>
            </a:r>
            <a:endParaRPr lang="en-US" sz="1050" dirty="0"/>
          </a:p>
        </p:txBody>
      </p:sp>
      <p:sp>
        <p:nvSpPr>
          <p:cNvPr id="251" name="Text 7"/>
          <p:cNvSpPr/>
          <p:nvPr/>
        </p:nvSpPr>
        <p:spPr>
          <a:xfrm>
            <a:off x="548640" y="2752344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所有权移动（恢复不复制、不重新量化）</a:t>
            </a:r>
            <a:endParaRPr lang="en-US" sz="1050" dirty="0"/>
          </a:p>
        </p:txBody>
      </p:sp>
      <p:sp>
        <p:nvSpPr>
          <p:cNvPr id="252" name="Text 8"/>
          <p:cNvSpPr/>
          <p:nvPr/>
        </p:nvSpPr>
        <p:spPr>
          <a:xfrm>
            <a:off x="548640" y="318211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配额 + 版本化发布 + 读租约</a:t>
            </a:r>
            <a:endParaRPr lang="en-US" sz="1050" dirty="0"/>
          </a:p>
        </p:txBody>
      </p:sp>
      <p:sp>
        <p:nvSpPr>
          <p:cNvPr id="253" name="Text 9"/>
          <p:cNvSpPr/>
          <p:nvPr/>
        </p:nvSpPr>
        <p:spPr>
          <a:xfrm>
            <a:off x="548640" y="3611880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▪"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跨后端统一内存契约（双引擎共用）</a:t>
            </a:r>
            <a:endParaRPr lang="en-US" sz="1050" dirty="0"/>
          </a:p>
        </p:txBody>
      </p:sp>
      <p:sp>
        <p:nvSpPr>
          <p:cNvPr id="254" name="Shape 10"/>
          <p:cNvSpPr/>
          <p:nvPr/>
        </p:nvSpPr>
        <p:spPr>
          <a:xfrm>
            <a:off x="5029200" y="1143000"/>
            <a:ext cx="3611880" cy="3063240"/>
          </a:xfrm>
          <a:prstGeom prst="roundRect">
            <a:avLst>
              <a:gd name="adj" fmla="val 125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5" name="Shape 11"/>
          <p:cNvSpPr/>
          <p:nvPr/>
        </p:nvSpPr>
        <p:spPr>
          <a:xfrm>
            <a:off x="5029200" y="1143000"/>
            <a:ext cx="361188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56" name="Text 12"/>
          <p:cNvSpPr/>
          <p:nvPr/>
        </p:nvSpPr>
        <p:spPr>
          <a:xfrm>
            <a:off x="52578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公开进展（0.18.0 / RC3）</a:t>
            </a:r>
            <a:endParaRPr lang="en-US" sz="1300" dirty="0"/>
          </a:p>
        </p:txBody>
      </p:sp>
      <p:sp>
        <p:nvSpPr>
          <p:cNvPr id="257" name="Text 13"/>
          <p:cNvSpPr/>
          <p:nvPr/>
        </p:nvSpPr>
        <p:spPr>
          <a:xfrm>
            <a:off x="5257800" y="16916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双后端正式化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llama.cpp + NInfer；Windows RTX 50 (sm120a) 正式包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RC3 实测（5060 Ti 16GB + IQ3_S 模型）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长历史工具轮 53.24 tok/s · 输入 26 万 token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日常文本 50.08 / 代码 64.54 tok/s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整卡显存峰值 ≈ 14.12 GiB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 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工程纪律示范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配对统计（95% 上界）· 边界“明确拒绝而非猜测”</a:t>
            </a:r>
            <a:endParaRPr lang="en-US" sz="105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完整的验收与失败记录公开</a:t>
            </a:r>
            <a:endParaRPr lang="en-US" sz="1050" dirty="0"/>
          </a:p>
        </p:txBody>
      </p:sp>
      <p:sp>
        <p:nvSpPr>
          <p:cNvPr id="258" name="Text 1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04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259" name="Text 1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260" name="Rectangle 25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 name="Slide 5">
    <p:bg>
      <p:bgPr>
        <a:solidFill>
          <a:srgbClr val="0B1F33"/>
        </a:solidFill>
      </p:bgPr>
    </p:bg>
    <p:spTree>
      <p:nvGrpSpPr>
        <p:cNvPr id="2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6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 WALL</a:t>
            </a:r>
            <a:endParaRPr lang="en-US" sz="1100" dirty="0"/>
          </a:p>
        </p:txBody>
      </p:sp>
      <p:sp>
        <p:nvSpPr>
          <p:cNvPr id="26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留下的那道墙：同步换页</a:t>
            </a:r>
            <a:endParaRPr lang="en-US" sz="2400" dirty="0"/>
          </a:p>
        </p:txBody>
      </p:sp>
      <p:sp>
        <p:nvSpPr>
          <p:cNvPr id="264" name="Text 3"/>
          <p:cNvSpPr/>
          <p:nvPr/>
        </p:nvSpPr>
        <p:spPr>
          <a:xfrm>
            <a:off x="548640" y="1325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当时的形态</a:t>
            </a:r>
            <a:endParaRPr lang="en-US" sz="1200" dirty="0"/>
          </a:p>
        </p:txBody>
      </p:sp>
      <p:sp>
        <p:nvSpPr>
          <p:cNvPr id="265" name="Shape 4"/>
          <p:cNvSpPr/>
          <p:nvPr/>
        </p:nvSpPr>
        <p:spPr>
          <a:xfrm>
            <a:off x="2377440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66" name="Text 5"/>
          <p:cNvSpPr/>
          <p:nvPr/>
        </p:nvSpPr>
        <p:spPr>
          <a:xfrm>
            <a:off x="2377440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67" name="Shape 6"/>
          <p:cNvSpPr/>
          <p:nvPr/>
        </p:nvSpPr>
        <p:spPr>
          <a:xfrm>
            <a:off x="3675888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268" name="Text 7"/>
          <p:cNvSpPr/>
          <p:nvPr/>
        </p:nvSpPr>
        <p:spPr>
          <a:xfrm>
            <a:off x="3675888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69" name="Shape 8"/>
          <p:cNvSpPr/>
          <p:nvPr/>
        </p:nvSpPr>
        <p:spPr>
          <a:xfrm>
            <a:off x="4974336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70" name="Text 9"/>
          <p:cNvSpPr/>
          <p:nvPr/>
        </p:nvSpPr>
        <p:spPr>
          <a:xfrm>
            <a:off x="4974336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1" name="Shape 10"/>
          <p:cNvSpPr/>
          <p:nvPr/>
        </p:nvSpPr>
        <p:spPr>
          <a:xfrm>
            <a:off x="6272784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272" name="Text 11"/>
          <p:cNvSpPr/>
          <p:nvPr/>
        </p:nvSpPr>
        <p:spPr>
          <a:xfrm>
            <a:off x="6272784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等搬运</a:t>
            </a:r>
            <a:endParaRPr lang="en-US" sz="950" dirty="0"/>
          </a:p>
        </p:txBody>
      </p:sp>
      <p:sp>
        <p:nvSpPr>
          <p:cNvPr id="273" name="Shape 12"/>
          <p:cNvSpPr/>
          <p:nvPr/>
        </p:nvSpPr>
        <p:spPr>
          <a:xfrm>
            <a:off x="7571232" y="132588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74" name="Text 13"/>
          <p:cNvSpPr/>
          <p:nvPr/>
        </p:nvSpPr>
        <p:spPr>
          <a:xfrm>
            <a:off x="7571232" y="134416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5" name="Text 14"/>
          <p:cNvSpPr/>
          <p:nvPr/>
        </p:nvSpPr>
        <p:spPr>
          <a:xfrm>
            <a:off x="548640" y="1965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我们的目标</a:t>
            </a:r>
            <a:endParaRPr lang="en-US" sz="1200" dirty="0"/>
          </a:p>
        </p:txBody>
      </p:sp>
      <p:sp>
        <p:nvSpPr>
          <p:cNvPr id="276" name="Shape 15"/>
          <p:cNvSpPr/>
          <p:nvPr/>
        </p:nvSpPr>
        <p:spPr>
          <a:xfrm>
            <a:off x="2377440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77" name="Text 16"/>
          <p:cNvSpPr/>
          <p:nvPr/>
        </p:nvSpPr>
        <p:spPr>
          <a:xfrm>
            <a:off x="2377440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78" name="Shape 17"/>
          <p:cNvSpPr/>
          <p:nvPr/>
        </p:nvSpPr>
        <p:spPr>
          <a:xfrm>
            <a:off x="3675888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79" name="Text 18"/>
          <p:cNvSpPr/>
          <p:nvPr/>
        </p:nvSpPr>
        <p:spPr>
          <a:xfrm>
            <a:off x="3675888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0" name="Shape 19"/>
          <p:cNvSpPr/>
          <p:nvPr/>
        </p:nvSpPr>
        <p:spPr>
          <a:xfrm>
            <a:off x="4974336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81" name="Text 20"/>
          <p:cNvSpPr/>
          <p:nvPr/>
        </p:nvSpPr>
        <p:spPr>
          <a:xfrm>
            <a:off x="4974336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2" name="Shape 21"/>
          <p:cNvSpPr/>
          <p:nvPr/>
        </p:nvSpPr>
        <p:spPr>
          <a:xfrm>
            <a:off x="6272784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83" name="Text 22"/>
          <p:cNvSpPr/>
          <p:nvPr/>
        </p:nvSpPr>
        <p:spPr>
          <a:xfrm>
            <a:off x="6272784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4" name="Shape 23"/>
          <p:cNvSpPr/>
          <p:nvPr/>
        </p:nvSpPr>
        <p:spPr>
          <a:xfrm>
            <a:off x="7571232" y="1965960"/>
            <a:ext cx="11887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85" name="Text 24"/>
          <p:cNvSpPr/>
          <p:nvPr/>
        </p:nvSpPr>
        <p:spPr>
          <a:xfrm>
            <a:off x="7571232" y="1984248"/>
            <a:ext cx="1188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</a:t>
            </a:r>
            <a:endParaRPr lang="en-US" sz="950" dirty="0"/>
          </a:p>
        </p:txBody>
      </p:sp>
      <p:sp>
        <p:nvSpPr>
          <p:cNvPr id="286" name="Shape 25"/>
          <p:cNvSpPr/>
          <p:nvPr/>
        </p:nvSpPr>
        <p:spPr>
          <a:xfrm>
            <a:off x="2377440" y="2395728"/>
            <a:ext cx="6309360" cy="310896"/>
          </a:xfrm>
          <a:prstGeom prst="roundRect">
            <a:avLst>
              <a:gd name="adj" fmla="val 12500"/>
            </a:avLst>
          </a:prstGeom>
          <a:solidFill>
            <a:srgbClr val="16324A"/>
          </a:solidFill>
          <a:ln/>
        </p:spPr>
        <p:txBody>
          <a:bodyPr/>
          <a:p/>
        </p:txBody>
      </p:sp>
      <p:sp>
        <p:nvSpPr>
          <p:cNvPr id="287" name="Text 26"/>
          <p:cNvSpPr/>
          <p:nvPr/>
        </p:nvSpPr>
        <p:spPr>
          <a:xfrm>
            <a:off x="2514600" y="2404872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搬运与计算重叠执行（第七页解剖）</a:t>
            </a:r>
            <a:endParaRPr lang="en-US" sz="1000" dirty="0"/>
          </a:p>
        </p:txBody>
      </p:sp>
      <p:sp>
        <p:nvSpPr>
          <p:cNvPr id="288" name="Text 27"/>
          <p:cNvSpPr/>
          <p:nvPr/>
        </p:nvSpPr>
        <p:spPr>
          <a:xfrm>
            <a:off x="548640" y="30632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同步换页的推论：</a:t>
            </a:r>
            <a:r>
              <a:rPr lang="en-US" sz="13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“池不要小于工作集”的工程红线，本质是在</a:t>
            </a:r>
            <a:r>
              <a:rPr lang="en-US" sz="1300" b="1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回避换页</a:t>
            </a:r>
            <a:r>
              <a:rPr lang="en-US" sz="1300" dirty="0">
                <a:solidFill>
                  <a:srgbClr val="DCE8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——池盖住需求就不换。但 Agent 的真实上下文会持续增长，回避终有尽头。</a:t>
            </a:r>
            <a:endParaRPr lang="en-US" sz="1300" dirty="0"/>
          </a:p>
        </p:txBody>
      </p:sp>
      <p:sp>
        <p:nvSpPr>
          <p:cNvPr id="289" name="Text 28"/>
          <p:cNvSpPr/>
          <p:nvPr/>
        </p:nvSpPr>
        <p:spPr>
          <a:xfrm>
            <a:off x="548640" y="37947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我们的探索从这道墙开始：把“回避换页”变成“驾驭换页”。</a:t>
            </a:r>
            <a:endParaRPr lang="en-US" sz="1350" dirty="0"/>
          </a:p>
        </p:txBody>
      </p:sp>
      <p:sp>
        <p:nvSpPr>
          <p:cNvPr id="290" name="Text 2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05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291" name="Text 3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292" name="Rectangle 291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 name="Slide 6">
    <p:bg>
      <p:bgPr>
        <a:solidFill>
          <a:srgbClr val="0B1F33"/>
        </a:solidFill>
      </p:bgPr>
    </p:bg>
    <p:spTree>
      <p:nvGrpSpPr>
        <p:cNvPr id="29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9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①</a:t>
            </a:r>
            <a:endParaRPr lang="en-US" sz="1100" dirty="0"/>
          </a:p>
        </p:txBody>
      </p:sp>
      <p:sp>
        <p:nvSpPr>
          <p:cNvPr id="29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异步页流水（Async Page Pipeline）：让搬运和计算同时发生</a:t>
            </a:r>
            <a:endParaRPr lang="en-US" sz="2400" dirty="0"/>
          </a:p>
        </p:txBody>
      </p:sp>
      <p:sp>
        <p:nvSpPr>
          <p:cNvPr id="296" name="Text 3"/>
          <p:cNvSpPr/>
          <p:nvPr/>
        </p:nvSpPr>
        <p:spPr>
          <a:xfrm>
            <a:off x="54864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1</a:t>
            </a:r>
            <a:endParaRPr lang="en-US" sz="1050" dirty="0"/>
          </a:p>
        </p:txBody>
      </p:sp>
      <p:sp>
        <p:nvSpPr>
          <p:cNvPr id="297" name="Shape 4"/>
          <p:cNvSpPr/>
          <p:nvPr/>
        </p:nvSpPr>
        <p:spPr>
          <a:xfrm>
            <a:off x="155448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298" name="Text 5"/>
          <p:cNvSpPr/>
          <p:nvPr/>
        </p:nvSpPr>
        <p:spPr>
          <a:xfrm>
            <a:off x="155448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299" name="Text 6"/>
          <p:cNvSpPr/>
          <p:nvPr/>
        </p:nvSpPr>
        <p:spPr>
          <a:xfrm>
            <a:off x="3840480" y="11704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 2</a:t>
            </a:r>
            <a:endParaRPr lang="en-US" sz="1050" dirty="0"/>
          </a:p>
        </p:txBody>
      </p:sp>
      <p:sp>
        <p:nvSpPr>
          <p:cNvPr id="300" name="Shape 7"/>
          <p:cNvSpPr/>
          <p:nvPr/>
        </p:nvSpPr>
        <p:spPr>
          <a:xfrm>
            <a:off x="4846320" y="117043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301" name="Text 8"/>
          <p:cNvSpPr/>
          <p:nvPr/>
        </p:nvSpPr>
        <p:spPr>
          <a:xfrm>
            <a:off x="4846320" y="118872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推理步</a:t>
            </a:r>
            <a:endParaRPr lang="en-US" sz="1000" dirty="0"/>
          </a:p>
        </p:txBody>
      </p:sp>
      <p:sp>
        <p:nvSpPr>
          <p:cNvPr id="302" name="Shape 9"/>
          <p:cNvSpPr/>
          <p:nvPr/>
        </p:nvSpPr>
        <p:spPr>
          <a:xfrm>
            <a:off x="1554480" y="1673352"/>
            <a:ext cx="2103120" cy="384048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03" name="Text 10"/>
          <p:cNvSpPr/>
          <p:nvPr/>
        </p:nvSpPr>
        <p:spPr>
          <a:xfrm>
            <a:off x="1554480" y="1691640"/>
            <a:ext cx="2103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搬运（批 8 页）</a:t>
            </a:r>
            <a:endParaRPr lang="en-US" sz="1000" dirty="0"/>
          </a:p>
        </p:txBody>
      </p:sp>
      <p:sp>
        <p:nvSpPr>
          <p:cNvPr id="304" name="Text 11"/>
          <p:cNvSpPr/>
          <p:nvPr/>
        </p:nvSpPr>
        <p:spPr>
          <a:xfrm>
            <a:off x="3840480" y="1700784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 下一步开始前，页已就位</a:t>
            </a:r>
            <a:endParaRPr lang="en-US" sz="1050" dirty="0"/>
          </a:p>
        </p:txBody>
      </p:sp>
      <p:sp>
        <p:nvSpPr>
          <p:cNvPr id="305" name="Shape 12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06" name="Shape 13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07" name="Text 14"/>
          <p:cNvSpPr/>
          <p:nvPr/>
        </p:nvSpPr>
        <p:spPr>
          <a:xfrm>
            <a:off x="8046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 + 批</a:t>
            </a:r>
            <a:endParaRPr lang="en-US" sz="1250" dirty="0"/>
          </a:p>
        </p:txBody>
      </p:sp>
      <p:sp>
        <p:nvSpPr>
          <p:cNvPr id="308" name="Text 15"/>
          <p:cNvSpPr/>
          <p:nvPr/>
        </p:nvSpPr>
        <p:spPr>
          <a:xfrm>
            <a:off x="8046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64 token/页；8 页一批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控制单次搬运占用</a:t>
            </a:r>
            <a:endParaRPr lang="en-US" sz="1000" dirty="0"/>
          </a:p>
        </p:txBody>
      </p:sp>
      <p:sp>
        <p:nvSpPr>
          <p:cNvPr id="309" name="Shape 16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0" name="Shape 17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11" name="Text 18"/>
          <p:cNvSpPr/>
          <p:nvPr/>
        </p:nvSpPr>
        <p:spPr>
          <a:xfrm>
            <a:off x="4919472" y="237744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提交即返回</a:t>
            </a:r>
            <a:endParaRPr lang="en-US" sz="1250" dirty="0"/>
          </a:p>
        </p:txBody>
      </p:sp>
      <p:sp>
        <p:nvSpPr>
          <p:cNvPr id="312" name="Text 19"/>
          <p:cNvSpPr/>
          <p:nvPr/>
        </p:nvSpPr>
        <p:spPr>
          <a:xfrm>
            <a:off x="4919472" y="268833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解码步不等搬运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这是“异步”的本质</a:t>
            </a:r>
            <a:endParaRPr lang="en-US" sz="1000" dirty="0"/>
          </a:p>
        </p:txBody>
      </p:sp>
      <p:sp>
        <p:nvSpPr>
          <p:cNvPr id="313" name="Shape 20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4" name="Shape 21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15" name="Text 22"/>
          <p:cNvSpPr/>
          <p:nvPr/>
        </p:nvSpPr>
        <p:spPr>
          <a:xfrm>
            <a:off x="8046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在飞页计数</a:t>
            </a:r>
            <a:endParaRPr lang="en-US" sz="1250" dirty="0"/>
          </a:p>
        </p:txBody>
      </p:sp>
      <p:sp>
        <p:nvSpPr>
          <p:cNvPr id="316" name="Text 23"/>
          <p:cNvSpPr/>
          <p:nvPr/>
        </p:nvSpPr>
        <p:spPr>
          <a:xfrm>
            <a:off x="8046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“已离开设备、未发布”的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中间态如实记账</a:t>
            </a:r>
            <a:endParaRPr lang="en-US" sz="1000" dirty="0"/>
          </a:p>
        </p:txBody>
      </p:sp>
      <p:sp>
        <p:nvSpPr>
          <p:cNvPr id="317" name="Shape 24"/>
          <p:cNvSpPr/>
          <p:nvPr/>
        </p:nvSpPr>
        <p:spPr>
          <a:xfrm>
            <a:off x="46634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18" name="Shape 25"/>
          <p:cNvSpPr/>
          <p:nvPr/>
        </p:nvSpPr>
        <p:spPr>
          <a:xfrm>
            <a:off x="46634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19" name="Text 26"/>
          <p:cNvSpPr/>
          <p:nvPr/>
        </p:nvSpPr>
        <p:spPr>
          <a:xfrm>
            <a:off x="4919472" y="3474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publish / drop</a:t>
            </a:r>
            <a:endParaRPr lang="en-US" sz="1250" dirty="0"/>
          </a:p>
        </p:txBody>
      </p:sp>
      <p:sp>
        <p:nvSpPr>
          <p:cNvPr id="320" name="Text 27"/>
          <p:cNvSpPr/>
          <p:nvPr/>
        </p:nvSpPr>
        <p:spPr>
          <a:xfrm>
            <a:off x="4919472" y="3785616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搬完校验才发布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确定无用才丢弃</a:t>
            </a:r>
            <a:endParaRPr lang="en-US" sz="1000" dirty="0"/>
          </a:p>
        </p:txBody>
      </p:sp>
      <p:sp>
        <p:nvSpPr>
          <p:cNvPr id="321" name="Text 2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06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322" name="Text 2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323" name="Rectangle 32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 name="Slide 7">
    <p:bg>
      <p:bgPr>
        <a:solidFill>
          <a:srgbClr val="0B1F33"/>
        </a:solidFill>
      </p:bgPr>
    </p:bg>
    <p:spTree>
      <p:nvGrpSpPr>
        <p:cNvPr id="32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2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ANATOMY</a:t>
            </a:r>
            <a:endParaRPr lang="en-US" sz="1100" dirty="0"/>
          </a:p>
        </p:txBody>
      </p:sp>
      <p:sp>
        <p:nvSpPr>
          <p:cNvPr id="32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搬运是怎么“藏”起来的？</a:t>
            </a:r>
            <a:endParaRPr lang="en-US" sz="2400" dirty="0"/>
          </a:p>
        </p:txBody>
      </p:sp>
      <p:sp>
        <p:nvSpPr>
          <p:cNvPr id="327" name="Shape 3"/>
          <p:cNvSpPr/>
          <p:nvPr/>
        </p:nvSpPr>
        <p:spPr>
          <a:xfrm>
            <a:off x="54864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8" name="Shape 4"/>
          <p:cNvSpPr/>
          <p:nvPr/>
        </p:nvSpPr>
        <p:spPr>
          <a:xfrm>
            <a:off x="54864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329" name="Text 5"/>
          <p:cNvSpPr/>
          <p:nvPr/>
        </p:nvSpPr>
        <p:spPr>
          <a:xfrm>
            <a:off x="74980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主厨</a:t>
            </a:r>
            <a:endParaRPr lang="en-US" sz="1400" dirty="0"/>
          </a:p>
        </p:txBody>
      </p:sp>
      <p:sp>
        <p:nvSpPr>
          <p:cNvPr id="330" name="Text 6"/>
          <p:cNvSpPr/>
          <p:nvPr/>
        </p:nvSpPr>
        <p:spPr>
          <a:xfrm>
            <a:off x="74980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计算单元（SM）</a:t>
            </a:r>
            <a:endParaRPr lang="en-US" sz="1000" dirty="0"/>
          </a:p>
        </p:txBody>
      </p:sp>
      <p:sp>
        <p:nvSpPr>
          <p:cNvPr id="331" name="Text 7"/>
          <p:cNvSpPr/>
          <p:nvPr/>
        </p:nvSpPr>
        <p:spPr>
          <a:xfrm>
            <a:off x="74980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跑解码的整张计算图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每个解码步约 27-32 ms</a:t>
            </a:r>
            <a:endParaRPr lang="en-US" sz="950" dirty="0"/>
          </a:p>
        </p:txBody>
      </p:sp>
      <p:sp>
        <p:nvSpPr>
          <p:cNvPr id="332" name="Shape 8"/>
          <p:cNvSpPr/>
          <p:nvPr/>
        </p:nvSpPr>
        <p:spPr>
          <a:xfrm>
            <a:off x="333756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3" name="Shape 9"/>
          <p:cNvSpPr/>
          <p:nvPr/>
        </p:nvSpPr>
        <p:spPr>
          <a:xfrm>
            <a:off x="333756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34" name="Text 10"/>
          <p:cNvSpPr/>
          <p:nvPr/>
        </p:nvSpPr>
        <p:spPr>
          <a:xfrm>
            <a:off x="353872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专职跑腿</a:t>
            </a:r>
            <a:endParaRPr lang="en-US" sz="1400" dirty="0"/>
          </a:p>
        </p:txBody>
      </p:sp>
      <p:sp>
        <p:nvSpPr>
          <p:cNvPr id="335" name="Text 11"/>
          <p:cNvSpPr/>
          <p:nvPr/>
        </p:nvSpPr>
        <p:spPr>
          <a:xfrm>
            <a:off x="353872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拷贝引擎（DMA）</a:t>
            </a:r>
            <a:endParaRPr lang="en-US" sz="1000" dirty="0"/>
          </a:p>
        </p:txBody>
      </p:sp>
      <p:sp>
        <p:nvSpPr>
          <p:cNvPr id="336" name="Text 12"/>
          <p:cNvSpPr/>
          <p:nvPr/>
        </p:nvSpPr>
        <p:spPr>
          <a:xfrm>
            <a:off x="353872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显存 ↔ 内存之间搬页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每批 8 页约 1-3 ms</a:t>
            </a:r>
            <a:endParaRPr lang="en-US" sz="950" dirty="0"/>
          </a:p>
        </p:txBody>
      </p:sp>
      <p:sp>
        <p:nvSpPr>
          <p:cNvPr id="337" name="Shape 13"/>
          <p:cNvSpPr/>
          <p:nvPr/>
        </p:nvSpPr>
        <p:spPr>
          <a:xfrm>
            <a:off x="6126480" y="1097280"/>
            <a:ext cx="2606040" cy="1572768"/>
          </a:xfrm>
          <a:prstGeom prst="roundRect">
            <a:avLst>
              <a:gd name="adj" fmla="val 24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8" name="Shape 14"/>
          <p:cNvSpPr/>
          <p:nvPr/>
        </p:nvSpPr>
        <p:spPr>
          <a:xfrm>
            <a:off x="6126480" y="1097280"/>
            <a:ext cx="2606040" cy="73152"/>
          </a:xfrm>
          <a:prstGeom prst="roundRect">
            <a:avLst>
              <a:gd name="adj" fmla="val 50000"/>
            </a:avLst>
          </a:prstGeom>
          <a:solidFill>
            <a:srgbClr val="D98E1F">
              <a:alpha val="100000"/>
            </a:srgbClr>
          </a:solidFill>
          <a:ln/>
        </p:spPr>
        <p:txBody>
          <a:bodyPr/>
          <a:p/>
        </p:txBody>
      </p:sp>
      <p:sp>
        <p:nvSpPr>
          <p:cNvPr id="339" name="Text 15"/>
          <p:cNvSpPr/>
          <p:nvPr/>
        </p:nvSpPr>
        <p:spPr>
          <a:xfrm>
            <a:off x="6327648" y="124358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经理</a:t>
            </a:r>
            <a:endParaRPr lang="en-US" sz="1400" dirty="0"/>
          </a:p>
        </p:txBody>
      </p:sp>
      <p:sp>
        <p:nvSpPr>
          <p:cNvPr id="340" name="Text 16"/>
          <p:cNvSpPr/>
          <p:nvPr/>
        </p:nvSpPr>
        <p:spPr>
          <a:xfrm>
            <a:off x="6327648" y="157276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调度线程</a:t>
            </a:r>
            <a:endParaRPr lang="en-US" sz="1000" dirty="0"/>
          </a:p>
        </p:txBody>
      </p:sp>
      <p:sp>
        <p:nvSpPr>
          <p:cNvPr id="341" name="Text 17"/>
          <p:cNvSpPr/>
          <p:nvPr/>
        </p:nvSpPr>
        <p:spPr>
          <a:xfrm>
            <a:off x="6327648" y="18470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三道过滤器：保护范围 → 水位 → 相关性打分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微秒级——不亲手搬</a:t>
            </a:r>
            <a:endParaRPr lang="en-US" sz="950" dirty="0"/>
          </a:p>
        </p:txBody>
      </p:sp>
      <p:sp>
        <p:nvSpPr>
          <p:cNvPr id="342" name="Shape 18"/>
          <p:cNvSpPr/>
          <p:nvPr/>
        </p:nvSpPr>
        <p:spPr>
          <a:xfrm>
            <a:off x="548640" y="2816352"/>
            <a:ext cx="8046720" cy="566928"/>
          </a:xfrm>
          <a:prstGeom prst="roundRect">
            <a:avLst>
              <a:gd name="adj" fmla="val 6700"/>
            </a:avLst>
          </a:prstGeom>
          <a:solidFill>
            <a:srgbClr val="23465C"/>
          </a:solidFill>
          <a:ln/>
        </p:spPr>
        <p:txBody>
          <a:bodyPr/>
          <a:p/>
        </p:txBody>
      </p:sp>
      <p:sp>
        <p:nvSpPr>
          <p:cNvPr id="343" name="Text 19"/>
          <p:cNvSpPr/>
          <p:nvPr/>
        </p:nvSpPr>
        <p:spPr>
          <a:xfrm>
            <a:off x="777240" y="2862072"/>
            <a:ext cx="7589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不是让主厨停下活去仓库取菜，而是后厨一直开火、跑腿小哥专职往返仓库与灶台——两双不同的手，同时干活。</a:t>
            </a:r>
            <a:endParaRPr lang="en-US" sz="1200" dirty="0"/>
          </a:p>
        </p:txBody>
      </p:sp>
      <p:sp>
        <p:nvSpPr>
          <p:cNvPr id="344" name="Text 20"/>
          <p:cNvSpPr/>
          <p:nvPr/>
        </p:nvSpPr>
        <p:spPr>
          <a:xfrm>
            <a:off x="548640" y="356616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1-3 ms 藏在 27-32 ms 里 → 完全隐藏    ｜    </a:t>
            </a:r>
            <a:r>
              <a:rPr lang="en-US" sz="140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74.4K 深度超池 → 114.4 tok/s</a:t>
            </a:r>
            <a:endParaRPr lang="en-US" sz="1400" dirty="0"/>
          </a:p>
        </p:txBody>
      </p:sp>
      <p:sp>
        <p:nvSpPr>
          <p:cNvPr id="345" name="Text 21"/>
          <p:cNvSpPr/>
          <p:nvPr/>
        </p:nvSpPr>
        <p:spPr>
          <a:xfrm>
            <a:off x="548640" y="404164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双保险：决策更准（保护/水位/打分三道过滤器）+ 失误更便宜（异步隐藏 + A2 无损）；在飞计数 + 账本保证不丢失、不重复。</a:t>
            </a:r>
            <a:endParaRPr lang="en-US" sz="1050" dirty="0"/>
          </a:p>
        </p:txBody>
      </p:sp>
      <p:sp>
        <p:nvSpPr>
          <p:cNvPr id="346" name="Text 22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07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347" name="Text 23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348" name="Rectangle 347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 name="Slide 8">
    <p:bg>
      <p:bgPr>
        <a:solidFill>
          <a:srgbClr val="0B1F33"/>
        </a:solidFill>
      </p:bgPr>
    </p:bg>
    <p:spTree>
      <p:nvGrpSpPr>
        <p:cNvPr id="34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50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②</a:t>
            </a:r>
            <a:endParaRPr lang="en-US" sz="1100" dirty="0"/>
          </a:p>
        </p:txBody>
      </p:sp>
      <p:sp>
        <p:nvSpPr>
          <p:cNvPr id="351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目标函数修正：池从“容量门槛”变成“旋钮”</a:t>
            </a:r>
            <a:endParaRPr lang="en-US" sz="2400" dirty="0"/>
          </a:p>
        </p:txBody>
      </p:sp>
      <p:sp>
        <p:nvSpPr>
          <p:cNvPr id="352" name="Text 3"/>
          <p:cNvSpPr/>
          <p:nvPr/>
        </p:nvSpPr>
        <p:spPr>
          <a:xfrm>
            <a:off x="548640" y="117043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异步之后，池的收益曲线出现三段结构（200K 上下文场景）：</a:t>
            </a:r>
            <a:endParaRPr lang="en-US" sz="1300" dirty="0"/>
          </a:p>
        </p:txBody>
      </p:sp>
      <p:sp>
        <p:nvSpPr>
          <p:cNvPr id="353" name="Shape 4"/>
          <p:cNvSpPr/>
          <p:nvPr/>
        </p:nvSpPr>
        <p:spPr>
          <a:xfrm>
            <a:off x="548640" y="1600200"/>
            <a:ext cx="2468880" cy="457200"/>
          </a:xfrm>
          <a:prstGeom prst="roundRect">
            <a:avLst>
              <a:gd name="adj" fmla="val 50000"/>
            </a:avLst>
          </a:prstGeom>
          <a:solidFill>
            <a:srgbClr val="D9A82C"/>
          </a:solidFill>
          <a:ln/>
        </p:spPr>
        <p:txBody>
          <a:bodyPr/>
          <a:p/>
        </p:txBody>
      </p:sp>
      <p:sp>
        <p:nvSpPr>
          <p:cNvPr id="354" name="Text 5"/>
          <p:cNvSpPr/>
          <p:nvPr/>
        </p:nvSpPr>
        <p:spPr>
          <a:xfrm>
            <a:off x="621792" y="1618488"/>
            <a:ext cx="23225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&lt; 工作集（~42K）</a:t>
            </a:r>
            <a:endParaRPr lang="en-US" sz="950" dirty="0"/>
          </a:p>
        </p:txBody>
      </p:sp>
      <p:sp>
        <p:nvSpPr>
          <p:cNvPr id="355" name="Text 6"/>
          <p:cNvSpPr/>
          <p:nvPr/>
        </p:nvSpPr>
        <p:spPr>
          <a:xfrm>
            <a:off x="548640" y="2121408"/>
            <a:ext cx="2468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每步都在搬运——全靠流水硬扛</a:t>
            </a:r>
            <a:endParaRPr lang="en-US" sz="900" dirty="0"/>
          </a:p>
        </p:txBody>
      </p:sp>
      <p:sp>
        <p:nvSpPr>
          <p:cNvPr id="356" name="Shape 7"/>
          <p:cNvSpPr/>
          <p:nvPr/>
        </p:nvSpPr>
        <p:spPr>
          <a:xfrm>
            <a:off x="306324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57" name="Text 8"/>
          <p:cNvSpPr/>
          <p:nvPr/>
        </p:nvSpPr>
        <p:spPr>
          <a:xfrm>
            <a:off x="313639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甜点区 42K-56K</a:t>
            </a:r>
            <a:endParaRPr lang="en-US" sz="950" dirty="0"/>
          </a:p>
        </p:txBody>
      </p:sp>
      <p:sp>
        <p:nvSpPr>
          <p:cNvPr id="358" name="Text 9"/>
          <p:cNvSpPr/>
          <p:nvPr/>
        </p:nvSpPr>
        <p:spPr>
          <a:xfrm>
            <a:off x="306324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常规轮次零搬运</a:t>
            </a:r>
            <a:endParaRPr lang="en-US" sz="900" dirty="0"/>
          </a:p>
        </p:txBody>
      </p:sp>
      <p:sp>
        <p:nvSpPr>
          <p:cNvPr id="359" name="Shape 10"/>
          <p:cNvSpPr/>
          <p:nvPr/>
        </p:nvSpPr>
        <p:spPr>
          <a:xfrm>
            <a:off x="4709160" y="1600200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0E7E86">
              <a:alpha val="100000"/>
            </a:srgbClr>
          </a:solidFill>
          <a:ln/>
        </p:spPr>
        <p:txBody>
          <a:bodyPr/>
          <a:p/>
        </p:txBody>
      </p:sp>
      <p:sp>
        <p:nvSpPr>
          <p:cNvPr id="360" name="Text 11"/>
          <p:cNvSpPr/>
          <p:nvPr/>
        </p:nvSpPr>
        <p:spPr>
          <a:xfrm>
            <a:off x="4782312" y="1618488"/>
            <a:ext cx="14538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优选段 56K-96K</a:t>
            </a:r>
            <a:endParaRPr lang="en-US" sz="950" dirty="0"/>
          </a:p>
        </p:txBody>
      </p:sp>
      <p:sp>
        <p:nvSpPr>
          <p:cNvPr id="361" name="Text 12"/>
          <p:cNvSpPr/>
          <p:nvPr/>
        </p:nvSpPr>
        <p:spPr>
          <a:xfrm>
            <a:off x="4709160" y="2121408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覆盖大多数会话</a:t>
            </a:r>
            <a:endParaRPr lang="en-US" sz="900" dirty="0"/>
          </a:p>
        </p:txBody>
      </p:sp>
      <p:sp>
        <p:nvSpPr>
          <p:cNvPr id="362" name="Shape 13"/>
          <p:cNvSpPr/>
          <p:nvPr/>
        </p:nvSpPr>
        <p:spPr>
          <a:xfrm>
            <a:off x="6355080" y="1600200"/>
            <a:ext cx="2240280" cy="457200"/>
          </a:xfrm>
          <a:prstGeom prst="roundRect">
            <a:avLst>
              <a:gd name="adj" fmla="val 50000"/>
            </a:avLst>
          </a:prstGeom>
          <a:solidFill>
            <a:srgbClr val="5A7789"/>
          </a:solidFill>
          <a:ln/>
        </p:spPr>
        <p:txBody>
          <a:bodyPr/>
          <a:p/>
        </p:txBody>
      </p:sp>
      <p:sp>
        <p:nvSpPr>
          <p:cNvPr id="363" name="Text 14"/>
          <p:cNvSpPr/>
          <p:nvPr/>
        </p:nvSpPr>
        <p:spPr>
          <a:xfrm>
            <a:off x="6428232" y="1618488"/>
            <a:ext cx="2093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96K（请求线上）</a:t>
            </a:r>
            <a:endParaRPr lang="en-US" sz="950" dirty="0"/>
          </a:p>
        </p:txBody>
      </p:sp>
      <p:sp>
        <p:nvSpPr>
          <p:cNvPr id="364" name="Text 15"/>
          <p:cNvSpPr/>
          <p:nvPr/>
        </p:nvSpPr>
        <p:spPr>
          <a:xfrm>
            <a:off x="6355080" y="2121408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边际收益骤降</a:t>
            </a:r>
            <a:endParaRPr lang="en-US" sz="900" dirty="0"/>
          </a:p>
        </p:txBody>
      </p:sp>
      <p:sp>
        <p:nvSpPr>
          <p:cNvPr id="365" name="Text 16"/>
          <p:cNvSpPr/>
          <p:nvPr/>
        </p:nvSpPr>
        <p:spPr>
          <a:xfrm>
            <a:off x="54864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实测：</a:t>
            </a:r>
            <a:r>
              <a:rPr lang="en-US" sz="1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池 64K vs 51K 仅多撑约 8 轮会话——过了工作集线后，多买的池主要是“防深堆积”，而深堆积有流水兜底。</a:t>
            </a:r>
            <a:endParaRPr lang="en-US" sz="1250" dirty="0"/>
          </a:p>
        </p:txBody>
      </p:sp>
      <p:sp>
        <p:nvSpPr>
          <p:cNvPr id="366" name="Shape 17"/>
          <p:cNvSpPr/>
          <p:nvPr/>
        </p:nvSpPr>
        <p:spPr>
          <a:xfrm>
            <a:off x="548640" y="3566160"/>
            <a:ext cx="8046720" cy="621792"/>
          </a:xfrm>
          <a:prstGeom prst="roundRect">
            <a:avLst>
              <a:gd name="adj" fmla="val 6100"/>
            </a:avLst>
          </a:prstGeom>
          <a:solidFill>
            <a:srgbClr val="23465C"/>
          </a:solidFill>
          <a:ln/>
        </p:spPr>
        <p:txBody>
          <a:bodyPr/>
          <a:p/>
        </p:txBody>
      </p:sp>
      <p:sp>
        <p:nvSpPr>
          <p:cNvPr id="367" name="Text 18"/>
          <p:cNvSpPr/>
          <p:nvPr/>
        </p:nvSpPr>
        <p:spPr>
          <a:xfrm>
            <a:off x="777240" y="3611880"/>
            <a:ext cx="7589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16GB 显存是零和的：每 1 GiB 给池，就少 1 GiB 给 KV 精度或权重档位——而精度影响每一轮。→ 浅池 + 深流水 + 高精度。</a:t>
            </a:r>
            <a:endParaRPr lang="en-US" sz="1200" dirty="0"/>
          </a:p>
        </p:txBody>
      </p:sp>
      <p:sp>
        <p:nvSpPr>
          <p:cNvPr id="368" name="Text 1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08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369" name="Text 2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370" name="Rectangle 36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 name="Slide 9">
    <p:bg>
      <p:bgPr>
        <a:solidFill>
          <a:srgbClr val="0B1F33"/>
        </a:solidFill>
      </p:bgPr>
    </p:bg>
    <p:spTree>
      <p:nvGrpSpPr>
        <p:cNvPr id="3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7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OUR EXPLORATION ③</a:t>
            </a:r>
            <a:endParaRPr lang="en-US" sz="1100" dirty="0"/>
          </a:p>
        </p:txBody>
      </p:sp>
      <p:sp>
        <p:nvSpPr>
          <p:cNvPr id="37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正确性工程：给“跑腿”立三条规矩</a:t>
            </a:r>
            <a:endParaRPr lang="en-US" sz="2400" dirty="0"/>
          </a:p>
        </p:txBody>
      </p:sp>
      <p:sp>
        <p:nvSpPr>
          <p:cNvPr id="374" name="Text 3"/>
          <p:cNvSpPr/>
          <p:nvPr/>
        </p:nvSpPr>
        <p:spPr>
          <a:xfrm>
            <a:off x="548640" y="1060704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 = 请了跑腿小哥（见第 7 页）。规矩立不好会丢件、会搬错——所以我们给他立三条规矩，外加一张“考卷”：</a:t>
            </a:r>
            <a:endParaRPr lang="en-US" sz="1200" dirty="0"/>
          </a:p>
        </p:txBody>
      </p:sp>
      <p:sp>
        <p:nvSpPr>
          <p:cNvPr id="375" name="Text 4"/>
          <p:cNvSpPr/>
          <p:nvPr/>
        </p:nvSpPr>
        <p:spPr>
          <a:xfrm>
            <a:off x="548640" y="1517904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规矩一：正在用的书不能搬：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引擎的“施工图”在启动时就画定（捕获期），运行中不许改——要改就重启，边界清清楚楚</a:t>
            </a:r>
            <a:endParaRPr lang="en-US" sz="1150" dirty="0"/>
          </a:p>
        </p:txBody>
      </p:sp>
      <p:sp>
        <p:nvSpPr>
          <p:cNvPr id="376" name="Text 5"/>
          <p:cNvSpPr/>
          <p:nvPr/>
        </p:nvSpPr>
        <p:spPr>
          <a:xfrm>
            <a:off x="548640" y="2084832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规矩二：货没交稳，旧的不扔：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新副本发布之前，旧的那一份永远不许丢——任何时候都有一份“唯一有效”的数据在手</a:t>
            </a:r>
            <a:endParaRPr lang="en-US" sz="1150" dirty="0"/>
          </a:p>
        </p:txBody>
      </p:sp>
      <p:sp>
        <p:nvSpPr>
          <p:cNvPr id="377" name="Text 6"/>
          <p:cNvSpPr/>
          <p:nvPr/>
        </p:nvSpPr>
        <p:spPr>
          <a:xfrm>
            <a:off x="548640" y="2651760"/>
            <a:ext cx="8046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规矩三：订单取消，已出发的必须跑完：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请求可以取消，但已经在路上的搬运必须排空才能收账——不收“半路失踪”的账</a:t>
            </a:r>
            <a:endParaRPr lang="en-US" sz="1150" dirty="0"/>
          </a:p>
        </p:txBody>
      </p:sp>
      <p:sp>
        <p:nvSpPr>
          <p:cNvPr id="378" name="Shape 7"/>
          <p:cNvSpPr/>
          <p:nvPr/>
        </p:nvSpPr>
        <p:spPr>
          <a:xfrm>
            <a:off x="548640" y="3291840"/>
            <a:ext cx="8046720" cy="658368"/>
          </a:xfrm>
          <a:prstGeom prst="roundRect">
            <a:avLst>
              <a:gd name="adj" fmla="val 5800"/>
            </a:avLst>
          </a:prstGeom>
          <a:solidFill>
            <a:srgbClr val="16324A"/>
          </a:solidFill>
          <a:ln/>
        </p:spPr>
        <p:txBody>
          <a:bodyPr/>
          <a:p/>
        </p:txBody>
      </p:sp>
      <p:sp>
        <p:nvSpPr>
          <p:cNvPr id="379" name="Text 8"/>
          <p:cNvSpPr/>
          <p:nvPr/>
        </p:nvSpPr>
        <p:spPr>
          <a:xfrm>
            <a:off x="777240" y="3364992"/>
            <a:ext cx="7589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那张“考卷”（无损门 A2）：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同一道题，“池内”与“首次超池”两条路径的答卷</a:t>
            </a: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逐字相同</a:t>
            </a:r>
            <a:r>
              <a:rPr lang="en-US" sz="11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——异步只改变搬运时机，不改变模型输出。</a:t>
            </a:r>
            <a:endParaRPr lang="en-US" sz="1150" dirty="0"/>
          </a:p>
        </p:txBody>
      </p:sp>
      <p:sp>
        <p:nvSpPr>
          <p:cNvPr id="380" name="Text 9"/>
          <p:cNvSpPr/>
          <p:nvPr/>
        </p:nvSpPr>
        <p:spPr>
          <a:xfrm>
            <a:off x="548640" y="409651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诚实披露：</a:t>
            </a:r>
            <a:r>
              <a:rPr lang="en-US" sz="11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慢峰时搬运会“藏不住”（单批接近步窗）——这就是流水的击穿边界，解法是深流水（见问题页）。</a:t>
            </a:r>
            <a:endParaRPr lang="en-US" sz="1100" dirty="0"/>
          </a:p>
        </p:txBody>
      </p:sp>
      <p:sp>
        <p:nvSpPr>
          <p:cNvPr id="381" name="Text 10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09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382" name="Text 11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383" name="Rectangle 38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 name="Slide 10">
    <p:bg>
      <p:bgPr>
        <a:solidFill>
          <a:srgbClr val="0B1F33"/>
        </a:solidFill>
      </p:bgPr>
    </p:bg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9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STATUS · 2026-10-11~14</a:t>
            </a:r>
            <a:endParaRPr lang="en-US" sz="1100" dirty="0"/>
          </a:p>
        </p:txBody>
      </p:sp>
      <p:sp>
        <p:nvSpPr>
          <p:cNvPr id="20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已实现的阶段：V2 上线初期的成果快照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/>
        </p:nvGraphicFramePr>
        <p:xfrm>
          <a:off x="548640" y="1143000"/>
          <a:ext cx="8046720" cy="9144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val="1"/>
                    </a:ext>
                  </a:extLst>
                </a:gridCol>
                <a:gridCol w="4846320">
                  <a:extLst>
                    <a:ext uri="{9D8B030D-6E8A-4147-A177-3AD203B41FA5}">
                      <a16:colId val="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项目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状态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页级异步流水（搬运与解码并行）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已交付并转正（日常运行档）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池标定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81,920 token 实测（16GB 卡低比特 KV 档）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速度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极值 400+ tok/s；1 小时综合平均 220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深超池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74.4K 上下文（池约 65K）：114.4 tok/s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无损性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池内 vs 超池输出逐字相同（A2 门）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验证场景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单路长上下文 Agent 会话（多路场景待覆盖）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22" name="Text 3"/>
          <p:cNvSpPr/>
          <p:nvPr/>
        </p:nvSpPr>
        <p:spPr>
          <a:xfrm>
            <a:off x="548640" y="39319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↑ V2 上线初期的成果（10-11 上线当天：首战峰值 333、超池 103-195 tok/s；随后数日陆续补全上表数字）——**不是最新状态**；最新进展（死亡谷攻关 / 深轮 AB 铁证）见第 13-14 页。</a:t>
            </a:r>
            <a:endParaRPr lang="en-US" sz="1000" dirty="0"/>
          </a:p>
        </p:txBody>
      </p:sp>
      <p:sp>
        <p:nvSpPr>
          <p:cNvPr id="23" name="Text 4"/>
          <p:cNvSpPr/>
          <p:nvPr/>
        </p:nvSpPr>
        <p:spPr>
          <a:xfrm>
            <a:off x="548640" y="422452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阶段定位：第一阶段（可行性与稳定性）完成——从“能跑”到“长跑不崩、输出无损”；正在进入第二阶段（性能深化）。</a:t>
            </a:r>
            <a:endParaRPr lang="en-US" sz="1200" dirty="0"/>
          </a:p>
        </p:txBody>
      </p:sp>
      <p:sp>
        <p:nvSpPr>
          <p:cNvPr id="24" name="Text 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10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25" name="Text 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26" name="Rectangle 25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 name="Slide 11">
    <p:bg>
      <p:bgPr>
        <a:solidFill>
          <a:srgbClr val="0B1F33"/>
        </a:solidFill>
      </p:bgPr>
    </p:bg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8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MILESTONES</a:t>
            </a:r>
            <a:endParaRPr lang="en-US" sz="1100" dirty="0"/>
          </a:p>
        </p:txBody>
      </p:sp>
      <p:sp>
        <p:nvSpPr>
          <p:cNvPr id="29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攻关里程碑：异步页流水诞生记（单日闭环）</a:t>
            </a:r>
            <a:endParaRPr lang="en-US" sz="2400" dirty="0"/>
          </a:p>
        </p:txBody>
      </p:sp>
      <p:sp>
        <p:nvSpPr>
          <p:cNvPr id="30" name="Shape 3"/>
          <p:cNvSpPr/>
          <p:nvPr/>
        </p:nvSpPr>
        <p:spPr>
          <a:xfrm>
            <a:off x="548640" y="1051560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31" name="Text 4"/>
          <p:cNvSpPr/>
          <p:nvPr/>
        </p:nvSpPr>
        <p:spPr>
          <a:xfrm>
            <a:off x="640080" y="1088136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凌晨 · 问题定义</a:t>
            </a:r>
            <a:endParaRPr lang="en-US" sz="950" dirty="0"/>
          </a:p>
        </p:txBody>
      </p:sp>
      <p:sp>
        <p:nvSpPr>
          <p:cNvPr id="32" name="Shape 5"/>
          <p:cNvSpPr/>
          <p:nvPr/>
        </p:nvSpPr>
        <p:spPr>
          <a:xfrm>
            <a:off x="2468880" y="1051560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3" name="Text 6"/>
          <p:cNvSpPr/>
          <p:nvPr/>
        </p:nvSpPr>
        <p:spPr>
          <a:xfrm>
            <a:off x="2697480" y="1088136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页漂移：34 轮后 330 页滞留 Host —— decode 掉到 3 tok/s</a:t>
            </a:r>
            <a:endParaRPr lang="en-US" sz="1000" dirty="0"/>
          </a:p>
        </p:txBody>
      </p:sp>
      <p:sp>
        <p:nvSpPr>
          <p:cNvPr id="34" name="Shape 7"/>
          <p:cNvSpPr/>
          <p:nvPr/>
        </p:nvSpPr>
        <p:spPr>
          <a:xfrm>
            <a:off x="548640" y="1746504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35" name="Text 8"/>
          <p:cNvSpPr/>
          <p:nvPr/>
        </p:nvSpPr>
        <p:spPr>
          <a:xfrm>
            <a:off x="640080" y="1783080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14:35-17:39 · 三个施工</a:t>
            </a:r>
            <a:endParaRPr lang="en-US" sz="950" dirty="0"/>
          </a:p>
        </p:txBody>
      </p:sp>
      <p:sp>
        <p:nvSpPr>
          <p:cNvPr id="36" name="Shape 9"/>
          <p:cNvSpPr/>
          <p:nvPr/>
        </p:nvSpPr>
        <p:spPr>
          <a:xfrm>
            <a:off x="2468880" y="1746504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7" name="Text 10"/>
          <p:cNvSpPr/>
          <p:nvPr/>
        </p:nvSpPr>
        <p:spPr>
          <a:xfrm>
            <a:off x="2697480" y="1783080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取消检查点前移 → 批量搬运（8 页/批）→ 实测定案：真凶 = 同步 D2H 拷贝（双峰 10-20×）</a:t>
            </a:r>
            <a:endParaRPr lang="en-US" sz="1000" dirty="0"/>
          </a:p>
        </p:txBody>
      </p:sp>
      <p:sp>
        <p:nvSpPr>
          <p:cNvPr id="38" name="Shape 11"/>
          <p:cNvSpPr/>
          <p:nvPr/>
        </p:nvSpPr>
        <p:spPr>
          <a:xfrm>
            <a:off x="548640" y="2441448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39" name="Text 12"/>
          <p:cNvSpPr/>
          <p:nvPr/>
        </p:nvSpPr>
        <p:spPr>
          <a:xfrm>
            <a:off x="640080" y="2478024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20:36 · 异步搬运上线</a:t>
            </a:r>
            <a:endParaRPr lang="en-US" sz="950" dirty="0"/>
          </a:p>
        </p:txBody>
      </p:sp>
      <p:sp>
        <p:nvSpPr>
          <p:cNvPr id="40" name="Shape 13"/>
          <p:cNvSpPr/>
          <p:nvPr/>
        </p:nvSpPr>
        <p:spPr>
          <a:xfrm>
            <a:off x="2468880" y="2441448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1" name="Text 14"/>
          <p:cNvSpPr/>
          <p:nvPr/>
        </p:nvSpPr>
        <p:spPr>
          <a:xfrm>
            <a:off x="2697480" y="2478024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transfer stream 异步提交 + 下一步收割（约 600 行）——当天首战：峰值 333 tok/s</a:t>
            </a:r>
            <a:endParaRPr lang="en-US" sz="1000" dirty="0"/>
          </a:p>
        </p:txBody>
      </p:sp>
      <p:sp>
        <p:nvSpPr>
          <p:cNvPr id="42" name="Shape 15"/>
          <p:cNvSpPr/>
          <p:nvPr/>
        </p:nvSpPr>
        <p:spPr>
          <a:xfrm>
            <a:off x="548640" y="3136392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43" name="Text 16"/>
          <p:cNvSpPr/>
          <p:nvPr/>
        </p:nvSpPr>
        <p:spPr>
          <a:xfrm>
            <a:off x="640080" y="3172968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夜间 · 验证闭环</a:t>
            </a:r>
            <a:endParaRPr lang="en-US" sz="950" dirty="0"/>
          </a:p>
        </p:txBody>
      </p:sp>
      <p:sp>
        <p:nvSpPr>
          <p:cNvPr id="44" name="Shape 17"/>
          <p:cNvSpPr/>
          <p:nvPr/>
        </p:nvSpPr>
        <p:spPr>
          <a:xfrm>
            <a:off x="2468880" y="3136392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5" name="Text 18"/>
          <p:cNvSpPr/>
          <p:nvPr/>
        </p:nvSpPr>
        <p:spPr>
          <a:xfrm>
            <a:off x="2697480" y="3172968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超池解码 103-195 tok/s（此前 4-6）——提升 20-40×；连续 10+ 轮零降速</a:t>
            </a:r>
            <a:endParaRPr lang="en-US" sz="1000" dirty="0"/>
          </a:p>
        </p:txBody>
      </p:sp>
      <p:sp>
        <p:nvSpPr>
          <p:cNvPr id="46" name="Shape 19"/>
          <p:cNvSpPr/>
          <p:nvPr/>
        </p:nvSpPr>
        <p:spPr>
          <a:xfrm>
            <a:off x="548640" y="3831336"/>
            <a:ext cx="1783080" cy="585216"/>
          </a:xfrm>
          <a:prstGeom prst="roundRect">
            <a:avLst>
              <a:gd name="adj" fmla="val 6500"/>
            </a:avLst>
          </a:prstGeom>
          <a:solidFill>
            <a:srgbClr val="C98A1B"/>
          </a:solidFill>
          <a:ln/>
        </p:spPr>
        <p:txBody>
          <a:bodyPr/>
          <a:p/>
        </p:txBody>
      </p:sp>
      <p:sp>
        <p:nvSpPr>
          <p:cNvPr id="47" name="Text 20"/>
          <p:cNvSpPr/>
          <p:nvPr/>
        </p:nvSpPr>
        <p:spPr>
          <a:xfrm>
            <a:off x="640080" y="3867912"/>
            <a:ext cx="16276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10-13 · 转正</a:t>
            </a:r>
            <a:endParaRPr lang="en-US" sz="950" dirty="0"/>
          </a:p>
        </p:txBody>
      </p:sp>
      <p:sp>
        <p:nvSpPr>
          <p:cNvPr id="48" name="Shape 21"/>
          <p:cNvSpPr/>
          <p:nvPr/>
        </p:nvSpPr>
        <p:spPr>
          <a:xfrm>
            <a:off x="2468880" y="3831336"/>
            <a:ext cx="6126480" cy="585216"/>
          </a:xfrm>
          <a:prstGeom prst="roundRect">
            <a:avLst>
              <a:gd name="adj" fmla="val 65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9" name="Text 22"/>
          <p:cNvSpPr/>
          <p:nvPr/>
        </p:nvSpPr>
        <p:spPr>
          <a:xfrm>
            <a:off x="2697480" y="3867912"/>
            <a:ext cx="5760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独立交叉审核（2×40 轮深压）+ 真实长会话 → 默认基线：127 轮 0×500 · 峰值 403.7 tok/s</a:t>
            </a:r>
            <a:endParaRPr lang="en-US" sz="1000" dirty="0"/>
          </a:p>
        </p:txBody>
      </p:sp>
      <p:sp>
        <p:nvSpPr>
          <p:cNvPr id="50" name="Text 23"/>
          <p:cNvSpPr/>
          <p:nvPr/>
        </p:nvSpPr>
        <p:spPr>
          <a:xfrm>
            <a:off x="548640" y="446227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单日完成 “问题定义 → 施工 → 定案 → 上线 → 验证”；每一步都带 A/B 回退臂（NINFER_ASYNC_DEMOTE=0）。</a:t>
            </a:r>
            <a:endParaRPr lang="en-US" sz="1150" dirty="0"/>
          </a:p>
        </p:txBody>
      </p:sp>
      <p:sp>
        <p:nvSpPr>
          <p:cNvPr id="51" name="Text 2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11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52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53" name="Rectangle 52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 name="Slide 12">
    <p:bg>
      <p:bgPr>
        <a:solidFill>
          <a:srgbClr val="0B1F33"/>
        </a:solidFill>
      </p:bgPr>
    </p:bg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55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QUEST</a:t>
            </a:r>
            <a:endParaRPr lang="en-US" sz="1100" dirty="0"/>
          </a:p>
        </p:txBody>
      </p:sp>
      <p:sp>
        <p:nvSpPr>
          <p:cNvPr id="56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一个仍在攻关的问题：时段性慢态（“死亡谷”）</a:t>
            </a:r>
            <a:endParaRPr lang="en-US" sz="2400" dirty="0"/>
          </a:p>
        </p:txBody>
      </p:sp>
      <p:sp>
        <p:nvSpPr>
          <p:cNvPr id="57" name="Shape 3"/>
          <p:cNvSpPr/>
          <p:nvPr/>
        </p:nvSpPr>
        <p:spPr>
          <a:xfrm>
            <a:off x="548640" y="1097280"/>
            <a:ext cx="3886200" cy="2148840"/>
          </a:xfrm>
          <a:prstGeom prst="roundRect">
            <a:avLst>
              <a:gd name="adj" fmla="val 18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8" name="Shape 4"/>
          <p:cNvSpPr/>
          <p:nvPr/>
        </p:nvSpPr>
        <p:spPr>
          <a:xfrm>
            <a:off x="54864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59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现象与指纹</a:t>
            </a:r>
            <a:endParaRPr lang="en-US" sz="1300" dirty="0"/>
          </a:p>
        </p:txBody>
      </p:sp>
      <p:sp>
        <p:nvSpPr>
          <p:cNvPr id="60" name="Text 6"/>
          <p:cNvSpPr/>
          <p:nvPr/>
        </p:nvSpPr>
        <p:spPr>
          <a:xfrm>
            <a:off x="77724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偶发延迟尖峰：同一步耗时可从 30 ms 级 → 数百 ms 级（深端可达秒级）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指纹：GPU 满占用 / 满频，但功耗极低、显存几乎不动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分钟级自愈；输出逐字无损（与池内路径相同）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曾以“小时级窗口”极难复现——现已可按需制造（见右）</a:t>
            </a:r>
            <a:endParaRPr lang="en-US" sz="950" dirty="0"/>
          </a:p>
        </p:txBody>
      </p:sp>
      <p:sp>
        <p:nvSpPr>
          <p:cNvPr id="61" name="Shape 7"/>
          <p:cNvSpPr/>
          <p:nvPr/>
        </p:nvSpPr>
        <p:spPr>
          <a:xfrm>
            <a:off x="4709160" y="1097280"/>
            <a:ext cx="3886200" cy="2148840"/>
          </a:xfrm>
          <a:prstGeom prst="roundRect">
            <a:avLst>
              <a:gd name="adj" fmla="val 18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62" name="Shape 8"/>
          <p:cNvSpPr/>
          <p:nvPr/>
        </p:nvSpPr>
        <p:spPr>
          <a:xfrm>
            <a:off x="470916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63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攻关进展（最新）</a:t>
            </a:r>
            <a:endParaRPr lang="en-US" sz="1300" dirty="0"/>
          </a:p>
        </p:txBody>
      </p:sp>
      <p:sp>
        <p:nvSpPr>
          <p:cNvPr id="64" name="Text 10"/>
          <p:cNvSpPr/>
          <p:nvPr/>
        </p:nvSpPr>
        <p:spPr>
          <a:xfrm>
            <a:off x="4937760" y="1572768"/>
            <a:ext cx="35204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按需复现：外部显存压力（约 1.2 GiB）⇒ 谷档（1/25）稳定可造、释放即恢复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深档（≈1/100）受时窗支配：窗内 4/4 命中（含重启首持）；窗外 8/8 谷档——“重启即复现”被证伪，时窗开合未知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机制定位：时间全在 host 侧提交调用（submit≈wall、wait=sync≈0）⇒ 驱动内部阻塞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排除清单：PDL ❌ 出局（原最大嫌疑）· 页中转 ❌ · 宿主路径 ❌ · 页档位 ❌ · 池大小 ❌ · 节流 ❌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应对：避免与引擎争抢显存（唯一确证有效）；最小复现协议已备（供上游）</a:t>
            </a:r>
            <a:endParaRPr lang="en-US" sz="900" dirty="0"/>
          </a:p>
        </p:txBody>
      </p:sp>
      <p:sp>
        <p:nvSpPr>
          <p:cNvPr id="65" name="Shape 11"/>
          <p:cNvSpPr/>
          <p:nvPr/>
        </p:nvSpPr>
        <p:spPr>
          <a:xfrm>
            <a:off x="548640" y="3383280"/>
            <a:ext cx="8046720" cy="713232"/>
          </a:xfrm>
          <a:prstGeom prst="roundRect">
            <a:avLst>
              <a:gd name="adj" fmla="val 5400"/>
            </a:avLst>
          </a:prstGeom>
          <a:solidFill>
            <a:srgbClr val="3A2E12"/>
          </a:solidFill>
          <a:ln/>
        </p:spPr>
        <p:txBody>
          <a:bodyPr/>
          <a:p/>
        </p:txBody>
      </p:sp>
      <p:sp>
        <p:nvSpPr>
          <p:cNvPr id="66" name="Shape 12"/>
          <p:cNvSpPr/>
          <p:nvPr/>
        </p:nvSpPr>
        <p:spPr>
          <a:xfrm>
            <a:off x="548640" y="3383280"/>
            <a:ext cx="109728" cy="71323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67" name="Text 13"/>
          <p:cNvSpPr/>
          <p:nvPr/>
        </p:nvSpPr>
        <p:spPr>
          <a:xfrm>
            <a:off x="777240" y="343814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机制已收敛：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整轮时间全部花在 host 侧提交调用里（submit ≈ wall、wait = sync ≈ 0）⇒ 卡点在引擎自身的提交路径（驱动内部阻塞）——</a:t>
            </a: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外部算力 / 拷贝 / 节流全部正常。</a:t>
            </a:r>
            <a:endParaRPr lang="en-US" sz="1000" dirty="0"/>
          </a:p>
        </p:txBody>
      </p:sp>
      <p:sp>
        <p:nvSpPr>
          <p:cNvPr id="68" name="Text 14"/>
          <p:cNvSpPr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里程碑：谷档可按需复现（约 1.2 GiB 外部显存压力）；深档受机器态时窗支配（窗内 4/4、窗外 8/8，开合条件解析中）；3 步、约 2 分钟的最小复现协议已备好供上游 / 驱动侧研判。仍待解：自然状态下的触发源。</a:t>
            </a:r>
            <a:endParaRPr lang="en-US" sz="1050" dirty="0"/>
          </a:p>
        </p:txBody>
      </p:sp>
      <p:sp>
        <p:nvSpPr>
          <p:cNvPr id="69" name="Text 1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12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70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71" name="Rectangle 70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 name="Slide 13">
    <p:bg>
      <p:bgPr>
        <a:solidFill>
          <a:srgbClr val="0B1F33"/>
        </a:solidFill>
      </p:bgPr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MANHUNT</a:t>
            </a:r>
            <a:endParaRPr lang="en-US" sz="1100" dirty="0"/>
          </a:p>
        </p:txBody>
      </p:sp>
      <p:sp>
        <p:nvSpPr>
          <p:cNvPr id="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追捕进行时：真凶未获，但包围圈在收紧</a:t>
            </a:r>
            <a:endParaRPr lang="en-US" sz="2400" dirty="0"/>
          </a:p>
        </p:txBody>
      </p:sp>
      <p:sp>
        <p:nvSpPr>
          <p:cNvPr id="75" name="Text 3"/>
          <p:cNvSpPr/>
          <p:nvPr/>
        </p:nvSpPr>
        <p:spPr>
          <a:xfrm>
            <a:off x="548640" y="1024128"/>
            <a:ext cx="80467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 xml:space="preserve">追凶已连续 </a:t>
            </a:r>
            <a:r>
              <a:rPr lang="en-US" sz="105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120 小时（5 昼夜）不间断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（10-11 → 10-16）：全程工程化受控压测 + 现场取证；中途顺手修复和改进了大量问题（仪表缺陷、回归、自伤 bug 等）。今天（10-16）再次进行异步页流水极深池 AB 测试——结果见下页。</a:t>
            </a:r>
            <a:endParaRPr lang="en-US" sz="1050" dirty="0"/>
          </a:p>
        </p:txBody>
      </p:sp>
      <p:sp>
        <p:nvSpPr>
          <p:cNvPr id="76" name="Shape 4"/>
          <p:cNvSpPr/>
          <p:nvPr/>
        </p:nvSpPr>
        <p:spPr>
          <a:xfrm>
            <a:off x="54864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77" name="Shape 5"/>
          <p:cNvSpPr/>
          <p:nvPr/>
        </p:nvSpPr>
        <p:spPr>
          <a:xfrm>
            <a:off x="54864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78" name="Text 6"/>
          <p:cNvSpPr/>
          <p:nvPr/>
        </p:nvSpPr>
        <p:spPr>
          <a:xfrm>
            <a:off x="77724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异步的贡献：同条件对照铁证</a:t>
            </a:r>
            <a:endParaRPr lang="en-US" sz="1300" dirty="0"/>
          </a:p>
        </p:txBody>
      </p:sp>
      <p:sp>
        <p:nvSpPr>
          <p:cNvPr id="79" name="Text 7"/>
          <p:cNvSpPr/>
          <p:nvPr/>
        </p:nvSpPr>
        <p:spPr>
          <a:xfrm>
            <a:off x="77724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深轮重载（2.3-3.5× 超池）拆掉异步：decode 拖慢约 20%（r=0.80）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超池）：≈ 2.0 倍差（235.6 vs 119.4 tok/s）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停机（ring STALL）：33 → 2 次（约 16×）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浅载/单发：打平（r=1.13）⇒ 口径：“看工作集深度”</a:t>
            </a:r>
            <a:endParaRPr lang="en-US" sz="900" dirty="0"/>
          </a:p>
        </p:txBody>
      </p:sp>
      <p:sp>
        <p:nvSpPr>
          <p:cNvPr id="80" name="Shape 8"/>
          <p:cNvSpPr/>
          <p:nvPr/>
        </p:nvSpPr>
        <p:spPr>
          <a:xfrm>
            <a:off x="4709160" y="1627632"/>
            <a:ext cx="3886200" cy="1664208"/>
          </a:xfrm>
          <a:prstGeom prst="roundRect">
            <a:avLst>
              <a:gd name="adj" fmla="val 23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1" name="Shape 9"/>
          <p:cNvSpPr/>
          <p:nvPr/>
        </p:nvSpPr>
        <p:spPr>
          <a:xfrm>
            <a:off x="4709160" y="1627632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82" name="Text 10"/>
          <p:cNvSpPr/>
          <p:nvPr/>
        </p:nvSpPr>
        <p:spPr>
          <a:xfrm>
            <a:off x="4937760" y="1755648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嫌疑范围：不断收紧的排除法</a:t>
            </a:r>
            <a:endParaRPr lang="en-US" sz="1300" dirty="0"/>
          </a:p>
        </p:txBody>
      </p:sp>
      <p:sp>
        <p:nvSpPr>
          <p:cNvPr id="83" name="Text 11"/>
          <p:cNvSpPr/>
          <p:nvPr/>
        </p:nvSpPr>
        <p:spPr>
          <a:xfrm>
            <a:off x="4937760" y="2066544"/>
            <a:ext cx="352044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已出局：PDL（原最大嫌疑）· 页中转 · 宿主路径 · 页档位 · 池大小 · 驱动节流——逐项实测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已锁定：时间全在 host 侧提交调用（submit≈wall）⇒ 驱动内部阻塞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已可按需复现（外部显存压力协议）：不再“等窗口”</a:t>
            </a:r>
            <a:endParaRPr lang="en-US" sz="9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现存嫌疑人：驱动提交路径内部 · 自然触发源 · 叠加态假说</a:t>
            </a:r>
            <a:endParaRPr lang="en-US" sz="900" dirty="0"/>
          </a:p>
        </p:txBody>
      </p:sp>
      <p:sp>
        <p:nvSpPr>
          <p:cNvPr id="84" name="Shape 12"/>
          <p:cNvSpPr/>
          <p:nvPr/>
        </p:nvSpPr>
        <p:spPr>
          <a:xfrm>
            <a:off x="548640" y="3419856"/>
            <a:ext cx="8046720" cy="676656"/>
          </a:xfrm>
          <a:prstGeom prst="roundRect">
            <a:avLst>
              <a:gd name="adj" fmla="val 5700"/>
            </a:avLst>
          </a:prstGeom>
          <a:solidFill>
            <a:srgbClr val="3A2E12"/>
          </a:solidFill>
          <a:ln/>
        </p:spPr>
        <p:txBody>
          <a:bodyPr/>
          <a:p/>
        </p:txBody>
      </p:sp>
      <p:sp>
        <p:nvSpPr>
          <p:cNvPr id="85" name="Shape 13"/>
          <p:cNvSpPr/>
          <p:nvPr/>
        </p:nvSpPr>
        <p:spPr>
          <a:xfrm>
            <a:off x="548640" y="3419856"/>
            <a:ext cx="109728" cy="676656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86" name="Text 14"/>
          <p:cNvSpPr/>
          <p:nvPr/>
        </p:nvSpPr>
        <p:spPr>
          <a:xfrm>
            <a:off x="777240" y="3474720"/>
            <a:ext cx="76809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真凶未获，但猎捕方式已从“等它出现”变成“随时造它出来”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——剩下的问题：把提交路径上的具体阻塞点钉到行号级（驱动侧定位 + 现场取证并行推进）。</a:t>
            </a:r>
            <a:endParaRPr lang="en-US" sz="1100" dirty="0"/>
          </a:p>
        </p:txBody>
      </p:sp>
      <p:sp>
        <p:nvSpPr>
          <p:cNvPr id="87" name="Text 15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备注：异步收益的对照证据口径 = n=3/臂、单机、健康期；谷期影响未覆盖（留作后续）。</a:t>
            </a:r>
            <a:endParaRPr lang="en-US" sz="1050" dirty="0"/>
          </a:p>
        </p:txBody>
      </p:sp>
      <p:sp>
        <p:nvSpPr>
          <p:cNvPr id="88" name="Text 16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13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89" name="Text 17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90" name="Rectangle 89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 name="Slide 14">
    <p:bg>
      <p:bgPr>
        <a:solidFill>
          <a:srgbClr val="0B1F33"/>
        </a:solidFill>
      </p:bgPr>
    </p:bg>
    <p:spTree>
      <p:nvGrpSpPr>
        <p:cNvPr id="9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92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93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异步贡献的判决实验：极深池 AB 对照（2026-10-16）</a:t>
            </a:r>
            <a:endParaRPr lang="en-US" sz="2400" dirty="0"/>
          </a:p>
        </p:txBody>
      </p:sp>
      <p:graphicFrame>
        <p:nvGraphicFramePr>
          <p:cNvPr id="94" name="Table 0"/>
          <p:cNvGraphicFramePr>
            <a:graphicFrameLocks noGrp="1"/>
          </p:cNvGraphicFramePr>
          <p:nvPr/>
        </p:nvGraphicFramePr>
        <p:xfrm>
          <a:off x="548640" y="1078992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val="1"/>
                    </a:ext>
                  </a:extLst>
                </a:gridCol>
                <a:gridCol w="548640">
                  <a:extLst>
                    <a:ext uri="{9D8B030D-6E8A-4147-A177-3AD203B41FA5}">
                      <a16:colId val="2"/>
                    </a:ext>
                  </a:extLst>
                </a:gridCol>
                <a:gridCol w="1645920">
                  <a:extLst>
                    <a:ext uri="{9D8B030D-6E8A-4147-A177-3AD203B41FA5}">
                      <a16:colId val="3"/>
                    </a:ext>
                  </a:extLst>
                </a:gridCol>
                <a:gridCol w="1371600">
                  <a:extLst>
                    <a:ext uri="{9D8B030D-6E8A-4147-A177-3AD203B41FA5}">
                      <a16:colId val="4"/>
                    </a:ext>
                  </a:extLst>
                </a:gridCol>
                <a:gridCol w="1371600">
                  <a:extLst>
                    <a:ext uri="{9D8B030D-6E8A-4147-A177-3AD203B41FA5}">
                      <a16:colId val="5"/>
                    </a:ext>
                  </a:extLst>
                </a:gridCol>
                <a:gridCol w="1280160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臂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run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round1（1.15× 超池）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round2（2.3×）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round3（3.5×）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深段均值(r2,r3)</a:t>
                      </a:r>
                      <a:endParaRPr lang="en-US" sz="9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F84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OFF（同步回退）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327.6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218.9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223.5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332.0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107.5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149.5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36"/>
                    </a:solidFill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OFF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256.7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119.4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188.1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4D"/>
                    </a:solidFill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ON（异步）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293.9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285.7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237.3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261.5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303.1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264.2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125.8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195.0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ON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235.6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234.9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36576" marR="36576" marT="36576" marB="36576" anchor="ctr">
                    <a:lnL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346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E86"/>
                    </a:solidFill>
                  </a:tcPr>
                </a:tc>
                <a:extLst>
                  <a:ext uri="{0D108BD9-81ED-4DB2-BD59-A6C34878D82A}">
                    <a16:rowId val="7"/>
                  </a:ext>
                </a:extLst>
              </a:tr>
            </a:tbl>
          </a:graphicData>
        </a:graphic>
      </p:graphicFrame>
      <p:sp>
        <p:nvSpPr>
          <p:cNvPr id="95" name="Text 3"/>
          <p:cNvSpPr/>
          <p:nvPr/>
        </p:nvSpPr>
        <p:spPr>
          <a:xfrm>
            <a:off x="548640" y="331012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实验数据：上下文 ~75.3K → ~152K → ~229K token（池 65,536 ⇒ 超池 1.15× / 2.3× / 3.5×）；每轮长输出 max 2000 token；轮间前缀缓存部分复用（49.3% / 66.4%）；两臂仅差 NINFER_ASYNC_DEMOTE 开关</a:t>
            </a:r>
            <a:endParaRPr lang="en-US" sz="900" dirty="0"/>
          </a:p>
        </p:txBody>
      </p:sp>
      <p:sp>
        <p:nvSpPr>
          <p:cNvPr id="96" name="Text 4"/>
          <p:cNvSpPr/>
          <p:nvPr/>
        </p:nvSpPr>
        <p:spPr>
          <a:xfrm>
            <a:off x="548640" y="3657600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主判据：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OFF 深段 median 188.1 vs ON 234.9 ⇒ r = 0.80 &lt; 0.85：异步净收益成立；三轮配对 ON 全胜</a:t>
            </a:r>
            <a:endParaRPr lang="en-US" sz="1050" dirty="0"/>
          </a:p>
        </p:txBody>
      </p:sp>
      <p:sp>
        <p:nvSpPr>
          <p:cNvPr id="97" name="Text 5"/>
          <p:cNvSpPr/>
          <p:nvPr/>
        </p:nvSpPr>
        <p:spPr>
          <a:xfrm>
            <a:off x="548640" y="3959352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最深段（3.5× 超池）：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119.4 vs 235.6 ≈ 2.0 倍；停机（ring STALL）33 → 2 次（约 16×）</a:t>
            </a:r>
            <a:endParaRPr lang="en-US" sz="1050" dirty="0"/>
          </a:p>
        </p:txBody>
      </p:sp>
      <p:sp>
        <p:nvSpPr>
          <p:cNvPr id="98" name="Text 6"/>
          <p:cNvSpPr/>
          <p:nvPr/>
        </p:nvSpPr>
        <p:spPr>
          <a:xfrm>
            <a:off x="548640" y="4261104"/>
            <a:ext cx="8046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D0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浅载对照（同日单发）：</a:t>
            </a:r>
            <a:r>
              <a:rPr lang="en-US" sz="10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 = 1.13 打平 ⇒ 口径：价值随工作集深度上升而显现——异步正是为深载设计的</a:t>
            </a:r>
            <a:endParaRPr lang="en-US" sz="1050" dirty="0"/>
          </a:p>
        </p:txBody>
      </p:sp>
      <p:sp>
        <p:nvSpPr>
          <p:cNvPr id="99" name="Text 7"/>
          <p:cNvSpPr/>
          <p:nvPr/>
        </p:nvSpPr>
        <p:spPr>
          <a:xfrm>
            <a:off x="548640" y="45720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诚实备注：n=3/臂、单机、健康期；同步臂未“死”——历史“v2 前多轮必死”的更强主张未复现（观测为“可用但慢”）；**且本次未现死亡谷，可能因前序多轮修复已碰巧缓解了该状态**（未在对照中复现，待后续验证）。</a:t>
            </a:r>
            <a:endParaRPr lang="en-US" sz="900" dirty="0"/>
          </a:p>
        </p:txBody>
      </p:sp>
      <p:sp>
        <p:nvSpPr>
          <p:cNvPr id="100" name="Text 8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14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101" name="Text 9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102" name="Rectangle 101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 name="Slide 15">
    <p:bg>
      <p:bgPr>
        <a:solidFill>
          <a:srgbClr val="0B1F33"/>
        </a:solidFill>
      </p:bgPr>
    </p:bg>
    <p:spTree>
      <p:nvGrpSpPr>
        <p:cNvPr id="1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04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 ISSUES</a:t>
            </a:r>
            <a:endParaRPr lang="en-US" sz="1100" dirty="0"/>
          </a:p>
        </p:txBody>
      </p:sp>
      <p:sp>
        <p:nvSpPr>
          <p:cNvPr id="105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其余问题（诚实清单）</a:t>
            </a:r>
            <a:endParaRPr lang="en-US" sz="2400" dirty="0"/>
          </a:p>
        </p:txBody>
      </p:sp>
      <p:sp>
        <p:nvSpPr>
          <p:cNvPr id="106" name="Shape 3"/>
          <p:cNvSpPr/>
          <p:nvPr/>
        </p:nvSpPr>
        <p:spPr>
          <a:xfrm>
            <a:off x="5486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7" name="Shape 4"/>
          <p:cNvSpPr/>
          <p:nvPr/>
        </p:nvSpPr>
        <p:spPr>
          <a:xfrm>
            <a:off x="5486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108" name="Text 5"/>
          <p:cNvSpPr/>
          <p:nvPr/>
        </p:nvSpPr>
        <p:spPr>
          <a:xfrm>
            <a:off x="8046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流水击穿边界</a:t>
            </a:r>
            <a:endParaRPr lang="en-US" sz="1200" dirty="0"/>
          </a:p>
        </p:txBody>
      </p:sp>
      <p:sp>
        <p:nvSpPr>
          <p:cNvPr id="109" name="Text 6"/>
          <p:cNvSpPr/>
          <p:nvPr/>
        </p:nvSpPr>
        <p:spPr>
          <a:xfrm>
            <a:off x="8046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慢峰单批搬运 11.5-33.7 ms 会接近/超过解码步窗——异步方案固有的暴露窗口</a:t>
            </a:r>
            <a:endParaRPr lang="en-US" sz="950" dirty="0"/>
          </a:p>
        </p:txBody>
      </p:sp>
      <p:sp>
        <p:nvSpPr>
          <p:cNvPr id="110" name="Shape 7"/>
          <p:cNvSpPr/>
          <p:nvPr/>
        </p:nvSpPr>
        <p:spPr>
          <a:xfrm>
            <a:off x="4663440" y="118872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1" name="Shape 8"/>
          <p:cNvSpPr/>
          <p:nvPr/>
        </p:nvSpPr>
        <p:spPr>
          <a:xfrm>
            <a:off x="4663440" y="118872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112" name="Text 9"/>
          <p:cNvSpPr/>
          <p:nvPr/>
        </p:nvSpPr>
        <p:spPr>
          <a:xfrm>
            <a:off x="4919472" y="127101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深流水尚未转正</a:t>
            </a:r>
            <a:endParaRPr lang="en-US" sz="1200" dirty="0"/>
          </a:p>
        </p:txBody>
      </p:sp>
      <p:sp>
        <p:nvSpPr>
          <p:cNvPr id="113" name="Text 10"/>
          <p:cNvSpPr/>
          <p:nvPr/>
        </p:nvSpPr>
        <p:spPr>
          <a:xfrm>
            <a:off x="4919472" y="157276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多批同时搬运在飞是摊薄击穿的方向，仍在验证中</a:t>
            </a:r>
            <a:endParaRPr lang="en-US" sz="950" dirty="0"/>
          </a:p>
        </p:txBody>
      </p:sp>
      <p:sp>
        <p:nvSpPr>
          <p:cNvPr id="114" name="Shape 11"/>
          <p:cNvSpPr/>
          <p:nvPr/>
        </p:nvSpPr>
        <p:spPr>
          <a:xfrm>
            <a:off x="5486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5" name="Shape 12"/>
          <p:cNvSpPr/>
          <p:nvPr/>
        </p:nvSpPr>
        <p:spPr>
          <a:xfrm>
            <a:off x="5486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116" name="Text 13"/>
          <p:cNvSpPr/>
          <p:nvPr/>
        </p:nvSpPr>
        <p:spPr>
          <a:xfrm>
            <a:off x="8046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SSD 层：有意取舍</a:t>
            </a:r>
            <a:endParaRPr lang="en-US" sz="1200" dirty="0"/>
          </a:p>
        </p:txBody>
      </p:sp>
      <p:sp>
        <p:nvSpPr>
          <p:cNvPr id="117" name="Text 14"/>
          <p:cNvSpPr/>
          <p:nvPr/>
        </p:nvSpPr>
        <p:spPr>
          <a:xfrm>
            <a:off x="8046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全部 KV 可常驻 Host RAM（最坏 ≈8.6 GB / 本机 128 GB）——无容量必要，热成本 +11% 不划算</a:t>
            </a:r>
            <a:endParaRPr lang="en-US" sz="950" dirty="0"/>
          </a:p>
        </p:txBody>
      </p:sp>
      <p:sp>
        <p:nvSpPr>
          <p:cNvPr id="118" name="Shape 15"/>
          <p:cNvSpPr/>
          <p:nvPr/>
        </p:nvSpPr>
        <p:spPr>
          <a:xfrm>
            <a:off x="4663440" y="228600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9" name="Shape 16"/>
          <p:cNvSpPr/>
          <p:nvPr/>
        </p:nvSpPr>
        <p:spPr>
          <a:xfrm>
            <a:off x="4663440" y="228600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120" name="Text 17"/>
          <p:cNvSpPr/>
          <p:nvPr/>
        </p:nvSpPr>
        <p:spPr>
          <a:xfrm>
            <a:off x="4919472" y="236829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拷贝式搬运</a:t>
            </a:r>
            <a:endParaRPr lang="en-US" sz="1200" dirty="0"/>
          </a:p>
        </p:txBody>
      </p:sp>
      <p:sp>
        <p:nvSpPr>
          <p:cNvPr id="121" name="Text 18"/>
          <p:cNvSpPr/>
          <p:nvPr/>
        </p:nvSpPr>
        <p:spPr>
          <a:xfrm>
            <a:off x="4919472" y="267004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仍是拷贝；原作者已实现“所有权移动”——追赶中。落地后用按需协议做拷贝版 vs 移动版对照（入谷率/谷深），并测对暴露面的作用</a:t>
            </a:r>
            <a:endParaRPr lang="en-US" sz="950" dirty="0"/>
          </a:p>
        </p:txBody>
      </p:sp>
      <p:sp>
        <p:nvSpPr>
          <p:cNvPr id="122" name="Shape 19"/>
          <p:cNvSpPr/>
          <p:nvPr/>
        </p:nvSpPr>
        <p:spPr>
          <a:xfrm>
            <a:off x="548640" y="3383280"/>
            <a:ext cx="3840480" cy="950976"/>
          </a:xfrm>
          <a:prstGeom prst="roundRect">
            <a:avLst>
              <a:gd name="adj" fmla="val 40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3" name="Shape 20"/>
          <p:cNvSpPr/>
          <p:nvPr/>
        </p:nvSpPr>
        <p:spPr>
          <a:xfrm>
            <a:off x="548640" y="3383280"/>
            <a:ext cx="91440" cy="950976"/>
          </a:xfrm>
          <a:prstGeom prst="roundRect">
            <a:avLst>
              <a:gd name="adj" fmla="val 50000"/>
            </a:avLst>
          </a:prstGeom>
          <a:solidFill>
            <a:srgbClr val="D06055"/>
          </a:solidFill>
          <a:ln/>
        </p:spPr>
        <p:txBody>
          <a:bodyPr/>
          <a:p/>
        </p:txBody>
      </p:sp>
      <p:sp>
        <p:nvSpPr>
          <p:cNvPr id="124" name="Text 21"/>
          <p:cNvSpPr/>
          <p:nvPr/>
        </p:nvSpPr>
        <p:spPr>
          <a:xfrm>
            <a:off x="804672" y="3465576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覆盖差异</a:t>
            </a:r>
            <a:endParaRPr lang="en-US" sz="1200" dirty="0"/>
          </a:p>
        </p:txBody>
      </p:sp>
      <p:sp>
        <p:nvSpPr>
          <p:cNvPr id="125" name="Text 22"/>
          <p:cNvSpPr/>
          <p:nvPr/>
        </p:nvSpPr>
        <p:spPr>
          <a:xfrm>
            <a:off x="804672" y="37673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我们深耕单路长上下文；原作者的多路并发场景我们覆盖不足</a:t>
            </a:r>
            <a:endParaRPr lang="en-US" sz="950" dirty="0"/>
          </a:p>
        </p:txBody>
      </p:sp>
      <p:sp>
        <p:nvSpPr>
          <p:cNvPr id="126" name="Text 23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注：“时段性慢态”已在上一页单独展开。</a:t>
            </a:r>
            <a:endParaRPr lang="en-US" sz="950" dirty="0"/>
          </a:p>
        </p:txBody>
      </p:sp>
      <p:sp>
        <p:nvSpPr>
          <p:cNvPr id="127" name="Text 24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15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128" name="Text 25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129" name="Rectangle 128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 name="Slide 16">
    <p:bg>
      <p:bgPr>
        <a:solidFill>
          <a:srgbClr val="0B1F33"/>
        </a:solidFill>
      </p:bgPr>
    </p:bg>
    <p:spTree>
      <p:nvGrpSpPr>
        <p:cNvPr id="1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31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ROADMAP</a:t>
            </a:r>
            <a:endParaRPr lang="en-US" sz="1100" dirty="0"/>
          </a:p>
        </p:txBody>
      </p:sp>
      <p:sp>
        <p:nvSpPr>
          <p:cNvPr id="132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未来的方向</a:t>
            </a:r>
            <a:endParaRPr lang="en-US" sz="2400" dirty="0"/>
          </a:p>
        </p:txBody>
      </p:sp>
      <p:sp>
        <p:nvSpPr>
          <p:cNvPr id="133" name="Shape 3"/>
          <p:cNvSpPr/>
          <p:nvPr/>
        </p:nvSpPr>
        <p:spPr>
          <a:xfrm>
            <a:off x="548640" y="102412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34" name="Shape 4"/>
          <p:cNvSpPr/>
          <p:nvPr/>
        </p:nvSpPr>
        <p:spPr>
          <a:xfrm>
            <a:off x="548640" y="102412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35" name="Shape 5"/>
          <p:cNvSpPr/>
          <p:nvPr/>
        </p:nvSpPr>
        <p:spPr>
          <a:xfrm>
            <a:off x="777240" y="1106424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36" name="Text 6"/>
          <p:cNvSpPr/>
          <p:nvPr/>
        </p:nvSpPr>
        <p:spPr>
          <a:xfrm>
            <a:off x="777240" y="111556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50" dirty="0"/>
          </a:p>
        </p:txBody>
      </p:sp>
      <p:sp>
        <p:nvSpPr>
          <p:cNvPr id="137" name="Text 7"/>
          <p:cNvSpPr/>
          <p:nvPr/>
        </p:nvSpPr>
        <p:spPr>
          <a:xfrm>
            <a:off x="1325880" y="10698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深流水</a:t>
            </a:r>
            <a:endParaRPr lang="en-US" sz="1200" dirty="0"/>
          </a:p>
        </p:txBody>
      </p:sp>
      <p:sp>
        <p:nvSpPr>
          <p:cNvPr id="138" name="Text 8"/>
          <p:cNvSpPr/>
          <p:nvPr/>
        </p:nvSpPr>
        <p:spPr>
          <a:xfrm>
            <a:off x="3474720" y="106984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多批在飞，把击穿余量拿回来——“浅池+深流水+高精度”最后一环</a:t>
            </a:r>
            <a:endParaRPr lang="en-US" sz="950" dirty="0"/>
          </a:p>
        </p:txBody>
      </p:sp>
      <p:sp>
        <p:nvSpPr>
          <p:cNvPr id="139" name="Shape 9"/>
          <p:cNvSpPr/>
          <p:nvPr/>
        </p:nvSpPr>
        <p:spPr>
          <a:xfrm>
            <a:off x="548640" y="1645920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0" name="Shape 10"/>
          <p:cNvSpPr/>
          <p:nvPr/>
        </p:nvSpPr>
        <p:spPr>
          <a:xfrm>
            <a:off x="548640" y="1645920"/>
            <a:ext cx="91440" cy="5303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141" name="Shape 11"/>
          <p:cNvSpPr/>
          <p:nvPr/>
        </p:nvSpPr>
        <p:spPr>
          <a:xfrm>
            <a:off x="777240" y="1728216"/>
            <a:ext cx="365760" cy="365760"/>
          </a:xfrm>
          <a:prstGeom prst="ellipse">
            <a:avLst/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142" name="Text 12"/>
          <p:cNvSpPr/>
          <p:nvPr/>
        </p:nvSpPr>
        <p:spPr>
          <a:xfrm>
            <a:off x="777240" y="1737360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50" dirty="0"/>
          </a:p>
        </p:txBody>
      </p:sp>
      <p:sp>
        <p:nvSpPr>
          <p:cNvPr id="143" name="Text 13"/>
          <p:cNvSpPr/>
          <p:nvPr/>
        </p:nvSpPr>
        <p:spPr>
          <a:xfrm>
            <a:off x="1325880" y="16916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所有权移动</a:t>
            </a:r>
            <a:endParaRPr lang="en-US" sz="1200" dirty="0"/>
          </a:p>
        </p:txBody>
      </p:sp>
      <p:sp>
        <p:nvSpPr>
          <p:cNvPr id="144" name="Text 14"/>
          <p:cNvSpPr/>
          <p:nvPr/>
        </p:nvSpPr>
        <p:spPr>
          <a:xfrm>
            <a:off x="3474720" y="169164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向原作者语义看齐：搬运不复制、恢复零快照</a:t>
            </a:r>
            <a:endParaRPr lang="en-US" sz="950" dirty="0"/>
          </a:p>
        </p:txBody>
      </p:sp>
      <p:sp>
        <p:nvSpPr>
          <p:cNvPr id="145" name="Shape 15"/>
          <p:cNvSpPr/>
          <p:nvPr/>
        </p:nvSpPr>
        <p:spPr>
          <a:xfrm>
            <a:off x="548640" y="2267712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46" name="Shape 16"/>
          <p:cNvSpPr/>
          <p:nvPr/>
        </p:nvSpPr>
        <p:spPr>
          <a:xfrm>
            <a:off x="548640" y="2267712"/>
            <a:ext cx="91440" cy="5303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147" name="Shape 17"/>
          <p:cNvSpPr/>
          <p:nvPr/>
        </p:nvSpPr>
        <p:spPr>
          <a:xfrm>
            <a:off x="777240" y="2350008"/>
            <a:ext cx="365760" cy="365760"/>
          </a:xfrm>
          <a:prstGeom prst="ellipse">
            <a:avLst/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148" name="Text 18"/>
          <p:cNvSpPr/>
          <p:nvPr/>
        </p:nvSpPr>
        <p:spPr>
          <a:xfrm>
            <a:off x="777240" y="2359152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50" dirty="0"/>
          </a:p>
        </p:txBody>
      </p:sp>
      <p:sp>
        <p:nvSpPr>
          <p:cNvPr id="149" name="Text 19"/>
          <p:cNvSpPr/>
          <p:nvPr/>
        </p:nvSpPr>
        <p:spPr>
          <a:xfrm>
            <a:off x="1325880" y="231343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Host 层深化</a:t>
            </a:r>
            <a:endParaRPr lang="en-US" sz="1200" dirty="0"/>
          </a:p>
        </p:txBody>
      </p:sp>
      <p:sp>
        <p:nvSpPr>
          <p:cNvPr id="150" name="Text 20"/>
          <p:cNvSpPr/>
          <p:nvPr/>
        </p:nvSpPr>
        <p:spPr>
          <a:xfrm>
            <a:off x="3474720" y="2313432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扩大 Host 配额 + 优化 RAM↔显存搬运；SSD 按需再评估（非跟随项）</a:t>
            </a:r>
            <a:endParaRPr lang="en-US" sz="950" dirty="0"/>
          </a:p>
        </p:txBody>
      </p:sp>
      <p:sp>
        <p:nvSpPr>
          <p:cNvPr id="151" name="Shape 21"/>
          <p:cNvSpPr/>
          <p:nvPr/>
        </p:nvSpPr>
        <p:spPr>
          <a:xfrm>
            <a:off x="548640" y="2889504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2" name="Shape 22"/>
          <p:cNvSpPr/>
          <p:nvPr/>
        </p:nvSpPr>
        <p:spPr>
          <a:xfrm>
            <a:off x="548640" y="2889504"/>
            <a:ext cx="91440" cy="530352"/>
          </a:xfrm>
          <a:prstGeom prst="roundRect">
            <a:avLst>
              <a:gd name="adj" fmla="val 50000"/>
            </a:avLst>
          </a:prstGeom>
          <a:solidFill>
            <a:srgbClr val="D98E1F">
              <a:alpha val="100000"/>
            </a:srgbClr>
          </a:solidFill>
          <a:ln/>
        </p:spPr>
        <p:txBody>
          <a:bodyPr/>
          <a:p/>
        </p:txBody>
      </p:sp>
      <p:sp>
        <p:nvSpPr>
          <p:cNvPr id="153" name="Shape 23"/>
          <p:cNvSpPr/>
          <p:nvPr/>
        </p:nvSpPr>
        <p:spPr>
          <a:xfrm>
            <a:off x="777240" y="2971800"/>
            <a:ext cx="365760" cy="365760"/>
          </a:xfrm>
          <a:prstGeom prst="ellipse">
            <a:avLst/>
          </a:prstGeom>
          <a:solidFill>
            <a:srgbClr val="C98A1B"/>
          </a:solidFill>
          <a:ln/>
        </p:spPr>
        <p:txBody>
          <a:bodyPr/>
          <a:p/>
        </p:txBody>
      </p:sp>
      <p:sp>
        <p:nvSpPr>
          <p:cNvPr id="154" name="Text 24"/>
          <p:cNvSpPr/>
          <p:nvPr/>
        </p:nvSpPr>
        <p:spPr>
          <a:xfrm>
            <a:off x="777240" y="29809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50" dirty="0"/>
          </a:p>
        </p:txBody>
      </p:sp>
      <p:sp>
        <p:nvSpPr>
          <p:cNvPr id="155" name="Text 25"/>
          <p:cNvSpPr/>
          <p:nvPr/>
        </p:nvSpPr>
        <p:spPr>
          <a:xfrm>
            <a:off x="1325880" y="293522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慢态收口</a:t>
            </a:r>
            <a:endParaRPr lang="en-US" sz="1200" dirty="0"/>
          </a:p>
        </p:txBody>
      </p:sp>
      <p:sp>
        <p:nvSpPr>
          <p:cNvPr id="156" name="Text 26"/>
          <p:cNvSpPr/>
          <p:nvPr/>
        </p:nvSpPr>
        <p:spPr>
          <a:xfrm>
            <a:off x="3474720" y="293522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驱动提交阻塞的上游定位（3 步最小复现已备）；自然触发源追查</a:t>
            </a:r>
            <a:endParaRPr lang="en-US" sz="950" dirty="0"/>
          </a:p>
        </p:txBody>
      </p:sp>
      <p:sp>
        <p:nvSpPr>
          <p:cNvPr id="157" name="Shape 27"/>
          <p:cNvSpPr/>
          <p:nvPr/>
        </p:nvSpPr>
        <p:spPr>
          <a:xfrm>
            <a:off x="548640" y="3511296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58" name="Shape 28"/>
          <p:cNvSpPr/>
          <p:nvPr/>
        </p:nvSpPr>
        <p:spPr>
          <a:xfrm>
            <a:off x="548640" y="3511296"/>
            <a:ext cx="91440" cy="5303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59" name="Shape 29"/>
          <p:cNvSpPr/>
          <p:nvPr/>
        </p:nvSpPr>
        <p:spPr>
          <a:xfrm>
            <a:off x="777240" y="3593592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60" name="Text 30"/>
          <p:cNvSpPr/>
          <p:nvPr/>
        </p:nvSpPr>
        <p:spPr>
          <a:xfrm>
            <a:off x="777240" y="3602736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250" dirty="0"/>
          </a:p>
        </p:txBody>
      </p:sp>
      <p:sp>
        <p:nvSpPr>
          <p:cNvPr id="161" name="Text 31"/>
          <p:cNvSpPr/>
          <p:nvPr/>
        </p:nvSpPr>
        <p:spPr>
          <a:xfrm>
            <a:off x="1325880" y="355701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误搬率观测</a:t>
            </a:r>
            <a:endParaRPr lang="en-US" sz="1200" dirty="0"/>
          </a:p>
        </p:txBody>
      </p:sp>
      <p:sp>
        <p:nvSpPr>
          <p:cNvPr id="162" name="Text 32"/>
          <p:cNvSpPr/>
          <p:nvPr/>
        </p:nvSpPr>
        <p:spPr>
          <a:xfrm>
            <a:off x="3474720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统计“搬出后又快速搬回”的比率——让决策质量从猜变成量</a:t>
            </a:r>
            <a:endParaRPr lang="en-US" sz="950" dirty="0"/>
          </a:p>
        </p:txBody>
      </p:sp>
      <p:sp>
        <p:nvSpPr>
          <p:cNvPr id="163" name="Shape 33"/>
          <p:cNvSpPr/>
          <p:nvPr/>
        </p:nvSpPr>
        <p:spPr>
          <a:xfrm>
            <a:off x="548640" y="4133088"/>
            <a:ext cx="8046720" cy="530352"/>
          </a:xfrm>
          <a:prstGeom prst="roundRect">
            <a:avLst>
              <a:gd name="adj" fmla="val 71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4" name="Shape 34"/>
          <p:cNvSpPr/>
          <p:nvPr/>
        </p:nvSpPr>
        <p:spPr>
          <a:xfrm>
            <a:off x="548640" y="4133088"/>
            <a:ext cx="91440" cy="53035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165" name="Shape 35"/>
          <p:cNvSpPr/>
          <p:nvPr/>
        </p:nvSpPr>
        <p:spPr>
          <a:xfrm>
            <a:off x="777240" y="4215384"/>
            <a:ext cx="365760" cy="365760"/>
          </a:xfrm>
          <a:prstGeom prst="ellipse">
            <a:avLst/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166" name="Text 36"/>
          <p:cNvSpPr/>
          <p:nvPr/>
        </p:nvSpPr>
        <p:spPr>
          <a:xfrm>
            <a:off x="777240" y="4224528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250" dirty="0"/>
          </a:p>
        </p:txBody>
      </p:sp>
      <p:sp>
        <p:nvSpPr>
          <p:cNvPr id="167" name="Text 37"/>
          <p:cNvSpPr/>
          <p:nvPr/>
        </p:nvSpPr>
        <p:spPr>
          <a:xfrm>
            <a:off x="1325880" y="417880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向上游回馈</a:t>
            </a:r>
            <a:endParaRPr lang="en-US" sz="1200" dirty="0"/>
          </a:p>
        </p:txBody>
      </p:sp>
      <p:sp>
        <p:nvSpPr>
          <p:cNvPr id="168" name="Text 38"/>
          <p:cNvSpPr/>
          <p:nvPr/>
        </p:nvSpPr>
        <p:spPr>
          <a:xfrm>
            <a:off x="3474720" y="417880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修复与实测数据贡献回社区（含与 KVMem 官方后端的收敛对接）</a:t>
            </a:r>
            <a:endParaRPr lang="en-US" sz="950" dirty="0"/>
          </a:p>
        </p:txBody>
      </p:sp>
      <p:sp>
        <p:nvSpPr>
          <p:cNvPr id="169" name="Text 39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16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170" name="Text 40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171" name="Rectangle 170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 name="Slide 17">
    <p:bg>
      <p:bgPr>
        <a:solidFill>
          <a:srgbClr val="0B1F33"/>
        </a:solidFill>
      </p:bgPr>
    </p:bg>
    <p:spTree>
      <p:nvGrpSpPr>
        <p:cNvPr id="1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Shape 0"/>
          <p:cNvSpPr/>
          <p:nvPr/>
        </p:nvSpPr>
        <p:spPr>
          <a:xfrm>
            <a:off x="457200" y="384048"/>
            <a:ext cx="109728" cy="45720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73" name="Text 1"/>
          <p:cNvSpPr/>
          <p:nvPr/>
        </p:nvSpPr>
        <p:spPr>
          <a:xfrm>
            <a:off x="713232" y="310896"/>
            <a:ext cx="7955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OPEN SOURCE</a:t>
            </a:r>
            <a:endParaRPr lang="en-US" sz="1100" dirty="0"/>
          </a:p>
        </p:txBody>
      </p:sp>
      <p:sp>
        <p:nvSpPr>
          <p:cNvPr id="174" name="Text 2"/>
          <p:cNvSpPr/>
          <p:nvPr/>
        </p:nvSpPr>
        <p:spPr>
          <a:xfrm>
            <a:off x="713232" y="54864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为什么要开源这份工作</a:t>
            </a:r>
            <a:endParaRPr lang="en-US" sz="2400" dirty="0"/>
          </a:p>
        </p:txBody>
      </p:sp>
      <p:sp>
        <p:nvSpPr>
          <p:cNvPr id="175" name="Shape 3"/>
          <p:cNvSpPr/>
          <p:nvPr/>
        </p:nvSpPr>
        <p:spPr>
          <a:xfrm>
            <a:off x="54864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76" name="Shape 4"/>
          <p:cNvSpPr/>
          <p:nvPr/>
        </p:nvSpPr>
        <p:spPr>
          <a:xfrm>
            <a:off x="54864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77" name="Text 5"/>
          <p:cNvSpPr/>
          <p:nvPr/>
        </p:nvSpPr>
        <p:spPr>
          <a:xfrm>
            <a:off x="77724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缘起：到火候了就开门</a:t>
            </a:r>
            <a:endParaRPr lang="en-US" sz="1300" dirty="0"/>
          </a:p>
        </p:txBody>
      </p:sp>
      <p:sp>
        <p:nvSpPr>
          <p:cNvPr id="178" name="Text 6"/>
          <p:cNvSpPr/>
          <p:nvPr/>
        </p:nvSpPr>
        <p:spPr>
          <a:xfrm>
            <a:off x="77724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技术已达“限定场景生产可用”：单路长上下文 Agent 会话（显存独占）实跑验证通过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但最大未解课题（时段性慢态）已超出单线攻关的带宽——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b="1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 = 借社区 / 上游 / 驱动侧协同攻关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我们已备好”换帮助”的钥匙：约 2 分钟的最小复现协议（可随时造出该状态）</a:t>
            </a:r>
            <a:endParaRPr lang="en-US" sz="950" dirty="0"/>
          </a:p>
        </p:txBody>
      </p:sp>
      <p:sp>
        <p:nvSpPr>
          <p:cNvPr id="179" name="Shape 7"/>
          <p:cNvSpPr/>
          <p:nvPr/>
        </p:nvSpPr>
        <p:spPr>
          <a:xfrm>
            <a:off x="4709160" y="1097280"/>
            <a:ext cx="3886200" cy="2377440"/>
          </a:xfrm>
          <a:prstGeom prst="roundRect">
            <a:avLst>
              <a:gd name="adj" fmla="val 1600"/>
            </a:avLst>
          </a:prstGeom>
          <a:solidFill>
            <a:srgbClr val="13314D"/>
          </a:solidFill>
          <a:ln w="9525">
            <a:solidFill>
              <a:srgbClr val="23465C">
                <a:alpha val="100000"/>
              </a:srgbClr>
            </a:solidFill>
          </a:ln>
          <a:effectLst>
            <a:outerShdw blurRad="76200" dist="25400" dir="8100000" sx="100000" sy="100000" kx="0" ky="0" algn="bl" rotWithShape="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0" name="Shape 8"/>
          <p:cNvSpPr/>
          <p:nvPr/>
        </p:nvSpPr>
        <p:spPr>
          <a:xfrm>
            <a:off x="4709160" y="1097280"/>
            <a:ext cx="3886200" cy="73152"/>
          </a:xfrm>
          <a:prstGeom prst="roundRect">
            <a:avLst>
              <a:gd name="adj" fmla="val 50000"/>
            </a:avLst>
          </a:prstGeom>
          <a:solidFill>
            <a:srgbClr val="1A5F84"/>
          </a:solidFill>
          <a:ln/>
        </p:spPr>
        <p:txBody>
          <a:bodyPr/>
          <a:p/>
        </p:txBody>
      </p:sp>
      <p:sp>
        <p:nvSpPr>
          <p:cNvPr id="181" name="Text 9"/>
          <p:cNvSpPr/>
          <p:nvPr/>
        </p:nvSpPr>
        <p:spPr>
          <a:xfrm>
            <a:off x="4937760" y="1243584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定位与承诺（口径先行）</a:t>
            </a:r>
            <a:endParaRPr lang="en-US" sz="1300" dirty="0"/>
          </a:p>
        </p:txBody>
      </p:sp>
      <p:sp>
        <p:nvSpPr>
          <p:cNvPr id="182" name="Text 10"/>
          <p:cNvSpPr/>
          <p:nvPr/>
        </p:nvSpPr>
        <p:spPr>
          <a:xfrm>
            <a:off x="4937760" y="1591056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定位：“研究性工程 + 限定场景生产可用”；多路并发未覆盖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① 进谷可控：指纹可检测 / 分钟级自愈 / 回避手段已确证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承诺 ② 输出无损：池内 vs 超池逐字相同（A2 门）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50" dirty="0">
                <a:solidFill>
                  <a:srgbClr val="FF8A7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不承诺：永不进谷（触发源未解）；通用生产级</a:t>
            </a:r>
            <a:endParaRPr lang="en-US" sz="950" dirty="0"/>
          </a:p>
        </p:txBody>
      </p:sp>
      <p:sp>
        <p:nvSpPr>
          <p:cNvPr id="183" name="Shape 11"/>
          <p:cNvSpPr/>
          <p:nvPr/>
        </p:nvSpPr>
        <p:spPr>
          <a:xfrm>
            <a:off x="548640" y="3657600"/>
            <a:ext cx="8046720" cy="713232"/>
          </a:xfrm>
          <a:prstGeom prst="roundRect">
            <a:avLst>
              <a:gd name="adj" fmla="val 5400"/>
            </a:avLst>
          </a:prstGeom>
          <a:solidFill>
            <a:srgbClr val="3A2E12"/>
          </a:solidFill>
          <a:ln/>
        </p:spPr>
        <p:txBody>
          <a:bodyPr/>
          <a:p/>
        </p:txBody>
      </p:sp>
      <p:sp>
        <p:nvSpPr>
          <p:cNvPr id="184" name="Shape 12"/>
          <p:cNvSpPr/>
          <p:nvPr/>
        </p:nvSpPr>
        <p:spPr>
          <a:xfrm>
            <a:off x="548640" y="3657600"/>
            <a:ext cx="109728" cy="713232"/>
          </a:xfrm>
          <a:prstGeom prst="roundRect">
            <a:avLst>
              <a:gd name="adj" fmla="val 50000"/>
            </a:avLst>
          </a:prstGeom>
          <a:solidFill>
            <a:srgbClr val="D98E1F"/>
          </a:solidFill>
          <a:ln/>
        </p:spPr>
        <p:txBody>
          <a:bodyPr/>
          <a:p/>
        </p:txBody>
      </p:sp>
      <p:sp>
        <p:nvSpPr>
          <p:cNvPr id="185" name="Text 13"/>
          <p:cNvSpPr/>
          <p:nvPr/>
        </p:nvSpPr>
        <p:spPr>
          <a:xfrm>
            <a:off x="777240" y="3712464"/>
            <a:ext cx="76809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我们希望换到的：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不是“夸赞”，而是</a:t>
            </a: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同路人的线索与判决</a:t>
            </a: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——谁在驱动侧见过提交阻塞、谁复现过同样的慢态、谁能一起把行号级的根因钉死。</a:t>
            </a:r>
            <a:endParaRPr lang="en-US" sz="1100" dirty="0"/>
          </a:p>
        </p:txBody>
      </p:sp>
      <p:sp>
        <p:nvSpPr>
          <p:cNvPr id="186" name="Text 14"/>
          <p:cNvSpPr/>
          <p:nvPr/>
        </p:nvSpPr>
        <p:spPr>
          <a:xfrm>
            <a:off x="548640" y="449884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说明：本页口径来自发布前检查清单（docs/发布前事项-…-20261016.md）§0 与缘起段。</a:t>
            </a:r>
            <a:endParaRPr lang="en-US" sz="900" dirty="0"/>
          </a:p>
        </p:txBody>
      </p:sp>
      <p:sp>
        <p:nvSpPr>
          <p:cNvPr id="187" name="Text 15"/>
          <p:cNvSpPr/>
          <p:nvPr/>
        </p:nvSpPr>
        <p:spPr>
          <a:xfrm>
            <a:off x="7874000" y="4826000"/>
            <a:ext cx="1130300" cy="274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r">
              <a:buNone/>
            </a:pPr>
            <a:r>
              <a:rPr b="1" sz="1000">
                <a:solidFill>
                  <a:srgbClr val="3FC6D6"/>
                </a:solidFill>
                <a:latin typeface="Microsoft YaHei"/>
                <a:ea typeface="Microsoft YaHei"/>
              </a:rPr>
              <a:t>17</a:t>
            </a:r>
            <a:r>
              <a:rPr sz="900">
                <a:solidFill>
                  <a:srgbClr val="8FA6B5"/>
                </a:solidFill>
                <a:latin typeface="Microsoft YaHei"/>
                <a:ea typeface="Microsoft YaHei"/>
              </a:rPr>
              <a:t> / 18</a:t>
            </a:r>
            <a:endParaRPr lang="en-US" sz="1000" dirty="0"/>
          </a:p>
        </p:txBody>
      </p:sp>
      <p:sp>
        <p:nvSpPr>
          <p:cNvPr id="188" name="Text 16"/>
          <p:cNvSpPr/>
          <p:nvPr/>
        </p:nvSpPr>
        <p:spPr>
          <a:xfrm>
            <a:off x="457200" y="4828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站在 KVMem 的肩膀上 · 异步页流水</a:t>
            </a:r>
            <a:endParaRPr lang="en-US" sz="900" dirty="0"/>
          </a:p>
        </p:txBody>
      </p:sp>
      <p:sp>
        <p:nvSpPr>
          <p:cNvPr id="189" name="Rectangle 188"/>
          <p:cNvSpPr/>
          <p:nvPr/>
        </p:nvSpPr>
        <p:spPr>
          <a:xfrm>
            <a:off x="457200" y="4711700"/>
            <a:ext cx="8547100" cy="9525"/>
          </a:xfrm>
          <a:prstGeom prst="rect">
            <a:avLst/>
          </a:prstGeom>
          <a:solidFill>
            <a:srgbClr val="2346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 name="Slide 18">
    <p:bg>
      <p:bgPr>
        <a:solidFill>
          <a:srgbClr val="0B1F33"/>
        </a:solidFill>
      </p:bgPr>
    </p:bg>
    <p:spTree>
      <p:nvGrpSpPr>
        <p:cNvPr id="18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0"/>
          <p:cNvSpPr/>
          <p:nvPr/>
        </p:nvSpPr>
        <p:spPr>
          <a:xfrm>
            <a:off x="457200" y="640080"/>
            <a:ext cx="128016" cy="640080"/>
          </a:xfrm>
          <a:prstGeom prst="roundRect">
            <a:avLst>
              <a:gd name="adj" fmla="val 50000"/>
            </a:avLst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91" name="Text 1"/>
          <p:cNvSpPr/>
          <p:nvPr/>
        </p:nvSpPr>
        <p:spPr>
          <a:xfrm>
            <a:off x="777240" y="59436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3FC6D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&amp; THANKS</a:t>
            </a:r>
            <a:endParaRPr lang="en-US" sz="1200" dirty="0"/>
          </a:p>
        </p:txBody>
      </p:sp>
      <p:sp>
        <p:nvSpPr>
          <p:cNvPr id="192" name="Text 2"/>
          <p:cNvSpPr/>
          <p:nvPr/>
        </p:nvSpPr>
        <p:spPr>
          <a:xfrm>
            <a:off x="777240" y="8686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三句话</a:t>
            </a:r>
            <a:endParaRPr lang="en-US" sz="2800" dirty="0"/>
          </a:p>
        </p:txBody>
      </p:sp>
      <p:sp>
        <p:nvSpPr>
          <p:cNvPr id="193" name="Shape 3"/>
          <p:cNvSpPr/>
          <p:nvPr/>
        </p:nvSpPr>
        <p:spPr>
          <a:xfrm>
            <a:off x="822960" y="160020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94" name="Text 4"/>
          <p:cNvSpPr/>
          <p:nvPr/>
        </p:nvSpPr>
        <p:spPr>
          <a:xfrm>
            <a:off x="822960" y="160934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95" name="Text 5"/>
          <p:cNvSpPr/>
          <p:nvPr/>
        </p:nvSpPr>
        <p:spPr>
          <a:xfrm>
            <a:off x="1371600" y="155448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原作者把“装不下”变成“装得下”——KV 虚拟化让消费卡承载百万 token 工作区；</a:t>
            </a:r>
            <a:endParaRPr lang="en-US" sz="1350" dirty="0"/>
          </a:p>
        </p:txBody>
      </p:sp>
      <p:sp>
        <p:nvSpPr>
          <p:cNvPr id="196" name="Shape 6"/>
          <p:cNvSpPr/>
          <p:nvPr/>
        </p:nvSpPr>
        <p:spPr>
          <a:xfrm>
            <a:off x="822960" y="237744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197" name="Text 7"/>
          <p:cNvSpPr/>
          <p:nvPr/>
        </p:nvSpPr>
        <p:spPr>
          <a:xfrm>
            <a:off x="822960" y="238658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98" name="Text 8"/>
          <p:cNvSpPr/>
          <p:nvPr/>
        </p:nvSpPr>
        <p:spPr>
          <a:xfrm>
            <a:off x="1371600" y="233172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我们在其基础上把“换页”从同步等待变成异步页流水——搬运与计算重叠，超池不等于减速；</a:t>
            </a:r>
            <a:endParaRPr lang="en-US" sz="1350" dirty="0"/>
          </a:p>
        </p:txBody>
      </p:sp>
      <p:sp>
        <p:nvSpPr>
          <p:cNvPr id="199" name="Shape 9"/>
          <p:cNvSpPr/>
          <p:nvPr/>
        </p:nvSpPr>
        <p:spPr>
          <a:xfrm>
            <a:off x="822960" y="3154680"/>
            <a:ext cx="365760" cy="365760"/>
          </a:xfrm>
          <a:prstGeom prst="ellipse">
            <a:avLst/>
          </a:prstGeom>
          <a:solidFill>
            <a:srgbClr val="0E7E86"/>
          </a:solidFill>
          <a:ln/>
        </p:spPr>
        <p:txBody>
          <a:bodyPr/>
          <a:p/>
        </p:txBody>
      </p:sp>
      <p:sp>
        <p:nvSpPr>
          <p:cNvPr id="200" name="Text 10"/>
          <p:cNvSpPr/>
          <p:nvPr/>
        </p:nvSpPr>
        <p:spPr>
          <a:xfrm>
            <a:off x="822960" y="3163824"/>
            <a:ext cx="365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01" name="Text 11"/>
          <p:cNvSpPr/>
          <p:nvPr/>
        </p:nvSpPr>
        <p:spPr>
          <a:xfrm>
            <a:off x="1371600" y="3108960"/>
            <a:ext cx="7223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第一阶段已交付、慢态攻关在进行——目标：从“持续装得下”到“持续跑得快”。</a:t>
            </a:r>
            <a:endParaRPr lang="en-US" sz="1350" dirty="0"/>
          </a:p>
        </p:txBody>
      </p:sp>
      <p:sp>
        <p:nvSpPr>
          <p:cNvPr id="202" name="Shape 12"/>
          <p:cNvSpPr/>
          <p:nvPr/>
        </p:nvSpPr>
        <p:spPr>
          <a:xfrm>
            <a:off x="822960" y="3977640"/>
            <a:ext cx="7498080" cy="566928"/>
          </a:xfrm>
          <a:prstGeom prst="roundRect">
            <a:avLst>
              <a:gd name="adj" fmla="val 6700"/>
            </a:avLst>
          </a:prstGeom>
          <a:solidFill>
            <a:srgbClr val="16324A"/>
          </a:solidFill>
          <a:ln/>
        </p:spPr>
        <p:txBody>
          <a:bodyPr/>
          <a:p/>
        </p:txBody>
      </p:sp>
      <p:sp>
        <p:nvSpPr>
          <p:cNvPr id="203" name="Text 13"/>
          <p:cNvSpPr/>
          <p:nvPr/>
        </p:nvSpPr>
        <p:spPr>
          <a:xfrm>
            <a:off x="1005840" y="4023360"/>
            <a:ext cx="7223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再次感谢：KVMem 作者团队（B 站 FirePKU）· 沈三殊 · tancau（Ring 环）· 帅气的 zxz（5060Ti 线），以及 llama.cpp / Neroued/ninfer / iamwavecut/ninfer-all 与社区所有贡献者。</a:t>
            </a:r>
            <a:endParaRPr lang="en-US" sz="900" dirty="0"/>
          </a:p>
        </p:txBody>
      </p:sp>
      <p:sp>
        <p:nvSpPr>
          <p:cNvPr id="204" name="Text 14"/>
          <p:cNvSpPr/>
          <p:nvPr/>
        </p:nvSpPr>
        <p:spPr>
          <a:xfrm>
            <a:off x="822960" y="46817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EC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Ninfer-KVMem-Async · 2026-10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E7E86"/>
                </a:solidFill>
                <a:latin typeface="Microsoft YaHei"/>
              </a:rPr>
              <a:t>WHERE PAGES LIVE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3314D"/>
                </a:solidFill>
                <a:latin typeface="Microsoft YaHei"/>
              </a:rPr>
              <a:t>提前搬运的页放在哪？——池页数恒定，搬运只换内容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设备池 = 1,024 个页槽（65,536 tok ÷ 64），启动时一次分配、永不增减——搬运不是“加空间”，是“换槽里的内容”（同 OS 物理页帧）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restore（搬回）的落点 = 设备池的 free 槽；demote（搬出）的落点 = Host RAM 配额槽（写前取配额：host 没空槽就不发起）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空间守恒律：restore 进来的每页 = demote 出去的一页的槽；每步新增 N 页 = 每步腾出 N 槽——稳态流水平衡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唯一的瞬时额外 = 在飞批次的双份副本 ≈ 26 MiB（publish 前旧副本不丢——账本保证任何时刻至少一份有效）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池满 = 换页体系的设计工况：池满不回退，池浅才等价（浅载无搬运需求，两条路自然一样快）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3FC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3314D"/>
                </a:solidFill>
                <a:latin typeface="Microsoft YaHei"/>
              </a:rPr>
              <a:t>真边界只有两条：Host 配额耗尽（=原作者 SSD 层场景，128 GB 下远不可达）与瞬时涌入超流水深度（=深流水的主战场）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80467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0E7E86"/>
                </a:solidFill>
                <a:latin typeface="Microsoft YaHei"/>
              </a:rPr>
              <a:t>THEORY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804672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3314D"/>
                </a:solidFill>
                <a:latin typeface="Microsoft YaHei"/>
              </a:rPr>
              <a:t>原理自检：异步到底有没有优化作用？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8046720" cy="3127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两条公式：同步 = 计算 + 搬运（串行）；异步 = max(计算, 搬运)（重叠）——收益条件全部可测量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三个充要条件：可隐藏（1-3 ms vs 27-32 ms，10 倍余量）/ 需求不超吞吐 / 无隐藏同步点——模式签名证明真异步（retire wait ON=1195 vs OFF=0；ring STALL 33 vs 2）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三个理论反例如实列出：伪异步 · 开销主导 · 带宽饱和（DMA 与计算共享显存带宽）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两实验合出理论曲线：深轮（持续需求）r=0.80；单发（无持续需求）r=1.13 = 理论边界命中——“连边界都预测对，就不是幻觉”</a:t>
            </a:r>
          </a:p>
          <a:p>
            <a:pPr>
              <a:spcAft>
                <a:spcPts val="700"/>
              </a:spcAft>
            </a:pPr>
            <a:r>
              <a:rPr sz="1050">
                <a:solidFill>
                  <a:srgbClr val="23465C"/>
                </a:solidFill>
                <a:latin typeface="Microsoft YaHei"/>
              </a:rPr>
              <a:t>▪ 待堵的洞：n=3 置信区间宽 · 带宽竞争未单独计量 · 判决实验 = r 随超池深度单调下降（1.0×→3.5×，曲线平了才拆）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4498848"/>
            <a:ext cx="8046720" cy="438912"/>
          </a:xfrm>
          <a:prstGeom prst="rect">
            <a:avLst/>
          </a:prstGeom>
          <a:solidFill>
            <a:srgbClr val="3FC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150" b="1">
                <a:solidFill>
                  <a:srgbClr val="13314D"/>
                </a:solidFill>
                <a:latin typeface="Microsoft YaHei"/>
              </a:rPr>
              <a:t>这不是信念，是带边界条件的工程定理——两个工况的观测都落在理论预测的位置上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xmlns:thm15="http://schemas.microsoft.com/office/thememl/2012/main" xmlns:mc="http://schemas.openxmlformats.org/markup-compatibility/2006" name="Office 主题​​" mc:Ignorable="thm15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明朝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2026-10-17T01:46:31Z</dcterms:created>
  <dcterms:modified xsi:type="dcterms:W3CDTF">2026-10-17T01:46:31Z</dcterms:modified>
</cp:coreProperties>
</file>