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F3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417320"/>
            <a:ext cx="128016" cy="86868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4" name="Text 2"/>
          <p:cNvSpPr/>
          <p:nvPr/>
        </p:nvSpPr>
        <p:spPr>
          <a:xfrm>
            <a:off x="749808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公开技术说明 · 2026-10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49808" y="1261872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49808" y="22860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FD3D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异步页流水：从“装得下”到“跑得动”的探索与实践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3200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7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致谢 KVMem 原作者团队：</a:t>
            </a:r>
            <a:pPr indent="0" marL="0">
              <a:buNone/>
            </a:pPr>
            <a:r>
              <a:rPr lang="en-US" sz="110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 Chai · Leye Wang · Zeshen Su · Zhiguo Xia · Zhihang Yu</a:t>
            </a:r>
            <a:pPr indent="0" marL="0">
              <a:buNone/>
            </a:pPr>
            <a:r>
              <a:rPr lang="en-US" sz="1100" dirty="0">
                <a:solidFill>
                  <a:srgbClr val="7E97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（arXiv 2609.04852）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49808" y="370332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13314D"/>
          </a:solidFill>
          <a:ln/>
        </p:spPr>
      </p:sp>
      <p:sp>
        <p:nvSpPr>
          <p:cNvPr id="9" name="Text 7"/>
          <p:cNvSpPr/>
          <p:nvPr/>
        </p:nvSpPr>
        <p:spPr>
          <a:xfrm>
            <a:off x="932688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 虚拟化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32688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先行者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64408" y="370332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13314D"/>
          </a:solidFill>
          <a:ln/>
        </p:spPr>
      </p:sp>
      <p:sp>
        <p:nvSpPr>
          <p:cNvPr id="12" name="Text 10"/>
          <p:cNvSpPr/>
          <p:nvPr/>
        </p:nvSpPr>
        <p:spPr>
          <a:xfrm>
            <a:off x="3447288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47288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779008" y="370332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13314D"/>
          </a:solidFill>
          <a:ln/>
        </p:spPr>
      </p:sp>
      <p:sp>
        <p:nvSpPr>
          <p:cNvPr id="15" name="Text 13"/>
          <p:cNvSpPr/>
          <p:nvPr/>
        </p:nvSpPr>
        <p:spPr>
          <a:xfrm>
            <a:off x="5961888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持续跑得动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961888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4572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29184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THANKS FIRST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首先，致敬原作者的开创性工作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13232" y="12344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9D9E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他们在没有先例可循的情况下回答了一个被认为做不到的问题：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13232" y="15544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“消费级 16GB 显卡，能不能承载百万 token 级的 Agent 工作区？”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13232" y="2240280"/>
            <a:ext cx="2560320" cy="1828800"/>
          </a:xfrm>
          <a:prstGeom prst="rect">
            <a:avLst/>
          </a:prstGeom>
          <a:solidFill>
            <a:srgbClr val="13314D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2240280"/>
            <a:ext cx="256032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8961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论文与创新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961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KVMem: Virtualizing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Million-Token Agent Workspaces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 a Consumer GPU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(arXiv 2609.04852 · B 站 FirePKU)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456432" y="2240280"/>
            <a:ext cx="2560320" cy="1828800"/>
          </a:xfrm>
          <a:prstGeom prst="rect">
            <a:avLst/>
          </a:prstGeom>
          <a:solidFill>
            <a:srgbClr val="13314D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6432" y="2240280"/>
            <a:ext cx="256032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36393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开源工程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6393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kvmem/kvmem：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双后端正式化（llama.cpp + NInfer）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RTX 50 正式运行包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完整的验收与失败记录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99632" y="2240280"/>
            <a:ext cx="2560320" cy="1828800"/>
          </a:xfrm>
          <a:prstGeom prst="rect">
            <a:avLst/>
          </a:prstGeom>
          <a:solidFill>
            <a:srgbClr val="13314D"/>
          </a:solidFill>
          <a:ln/>
        </p:spPr>
      </p:sp>
      <p:sp>
        <p:nvSpPr>
          <p:cNvPr id="16" name="Shape 14"/>
          <p:cNvSpPr/>
          <p:nvPr/>
        </p:nvSpPr>
        <p:spPr>
          <a:xfrm>
            <a:off x="6199632" y="2240280"/>
            <a:ext cx="256032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63825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生态血统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3825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沈三殊——最早把 NInfer × KVMem 结合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tancau——Ring 环实现 · 直接讨论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帅气的 zxz——5060Ti 线 · 融合计划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llama.cpp · Neroued/ninfer · iamwavecut/ninfer-all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13232" y="42245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9E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我们的线始于沈三殊的 NInfer × KVMem 组合；感谢 tancau 与帅气的 zxz 的直接交流与同行；近期 KVMem 官方亦将 NInfer 纳入正式后端——技术收敛。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THEIR INSIGHT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原作者的核心洞察：每一步，只需看见一小部分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场景把上下文推到几十万到上百万 token（100 万 token 的 KV ≈ 32 GiB，消费卡只有 16 GB）——但模型每一步真正“看见”的 KV 只是一小部分：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2377440" cy="1371600"/>
          </a:xfrm>
          <a:prstGeom prst="roundRect">
            <a:avLst>
              <a:gd name="adj" fmla="val 4000"/>
            </a:avLst>
          </a:prstGeom>
          <a:solidFill>
            <a:srgbClr val="0E4C6E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9202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Sink（固定开头）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2468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 12K token · 常驻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17520" y="1783080"/>
            <a:ext cx="1371600" cy="1371600"/>
          </a:xfrm>
          <a:prstGeom prst="roundRect">
            <a:avLst>
              <a:gd name="adj" fmla="val 4000"/>
            </a:avLst>
          </a:prstGeom>
          <a:solidFill>
            <a:srgbClr val="0FA3A8"/>
          </a:solidFill>
          <a:ln/>
        </p:spPr>
      </p:sp>
      <p:sp>
        <p:nvSpPr>
          <p:cNvPr id="10" name="Text 8"/>
          <p:cNvSpPr/>
          <p:nvPr/>
        </p:nvSpPr>
        <p:spPr>
          <a:xfrm>
            <a:off x="3154680" y="19202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Recent（最近窗口）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154680" y="24688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 1K token · 常驻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80560" y="1783080"/>
            <a:ext cx="4114800" cy="1371600"/>
          </a:xfrm>
          <a:prstGeom prst="roundRect">
            <a:avLst>
              <a:gd name="adj" fmla="val 4000"/>
            </a:avLst>
          </a:prstGeom>
          <a:solidFill>
            <a:srgbClr val="9DB4C0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19202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其余全部历史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17720" y="24688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按检索命中才换入 GPU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34290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于是：完整 KV 存放 Host RAM（可选下沉 SSD），GPU 只保留“当前用得着的”——KV 虚拟化诞生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THEIR WORK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开创性技术与公开进展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系统性实践的首创技术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 虚拟化（含量化附属 + MTP KV 一起分层）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18928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检索驱动的按需换入（不是全量搬运）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2322576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LRFU 历史加权 + GQA max 打分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275234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所有权移动（恢复不复制、不重新量化）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48640" y="318211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配额 + 版本化发布 + 读租约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3611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跨后端统一内存契约（双引擎共用）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0" y="1143000"/>
            <a:ext cx="3611880" cy="3063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0" y="1143000"/>
            <a:ext cx="3611880" cy="731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4" name="Text 12"/>
          <p:cNvSpPr/>
          <p:nvPr/>
        </p:nvSpPr>
        <p:spPr>
          <a:xfrm>
            <a:off x="5257800" y="1325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公开进展（0.18.0 / RC3）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257800" y="169164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双后端正式化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llama.cpp + NInfer；Windows RTX 50 (sm120a) 正式包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RC3 实测（5060 Ti 16GB + IQ3_S 模型）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长历史工具轮 53.24 tok/s · 输入 26 万 token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日常文本 50.08 / 代码 64.54 tok/s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整卡显存峰值 ≈ 14.12 GiB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工程纪律示范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配对统计（95% 上界）· 边界“明确拒绝而非猜测”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完整的验收与失败记录公开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 WALL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留下的那道墙：同步换页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325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当时的形态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377440" y="132588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7" name="Text 5"/>
          <p:cNvSpPr/>
          <p:nvPr/>
        </p:nvSpPr>
        <p:spPr>
          <a:xfrm>
            <a:off x="2377440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75888" y="1325880"/>
            <a:ext cx="1188720" cy="38404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3675888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等搬运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974336" y="132588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1" name="Text 9"/>
          <p:cNvSpPr/>
          <p:nvPr/>
        </p:nvSpPr>
        <p:spPr>
          <a:xfrm>
            <a:off x="4974336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72784" y="1325880"/>
            <a:ext cx="1188720" cy="38404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3" name="Text 11"/>
          <p:cNvSpPr/>
          <p:nvPr/>
        </p:nvSpPr>
        <p:spPr>
          <a:xfrm>
            <a:off x="6272784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等搬运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571232" y="132588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5" name="Text 13"/>
          <p:cNvSpPr/>
          <p:nvPr/>
        </p:nvSpPr>
        <p:spPr>
          <a:xfrm>
            <a:off x="7571232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4864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我们的目标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377440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8" name="Text 16"/>
          <p:cNvSpPr/>
          <p:nvPr/>
        </p:nvSpPr>
        <p:spPr>
          <a:xfrm>
            <a:off x="2377440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675888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20" name="Text 18"/>
          <p:cNvSpPr/>
          <p:nvPr/>
        </p:nvSpPr>
        <p:spPr>
          <a:xfrm>
            <a:off x="3675888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974336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22" name="Text 20"/>
          <p:cNvSpPr/>
          <p:nvPr/>
        </p:nvSpPr>
        <p:spPr>
          <a:xfrm>
            <a:off x="4974336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72784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24" name="Text 22"/>
          <p:cNvSpPr/>
          <p:nvPr/>
        </p:nvSpPr>
        <p:spPr>
          <a:xfrm>
            <a:off x="6272784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571232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26" name="Text 24"/>
          <p:cNvSpPr/>
          <p:nvPr/>
        </p:nvSpPr>
        <p:spPr>
          <a:xfrm>
            <a:off x="7571232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377440" y="2395728"/>
            <a:ext cx="6309360" cy="310896"/>
          </a:xfrm>
          <a:prstGeom prst="rect">
            <a:avLst/>
          </a:prstGeom>
          <a:solidFill>
            <a:srgbClr val="E8F1F5"/>
          </a:solidFill>
          <a:ln/>
        </p:spPr>
      </p:sp>
      <p:sp>
        <p:nvSpPr>
          <p:cNvPr id="28" name="Text 26"/>
          <p:cNvSpPr/>
          <p:nvPr/>
        </p:nvSpPr>
        <p:spPr>
          <a:xfrm>
            <a:off x="2514600" y="24048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搬运与计算重叠执行（第七页解剖）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30632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同步换页的推论：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“池不要小于工作集”的工程红线，本质是在</a:t>
            </a:r>
            <a:pPr indent="0" marL="0">
              <a:buNone/>
            </a:pPr>
            <a:r>
              <a:rPr lang="en-US" sz="1300" b="1" dirty="0">
                <a:solidFill>
                  <a:srgbClr val="C050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回避换页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——池盖住需求就不换。但 Agent 的真实上下文会持续增长，回避终有尽头。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48640" y="37947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我们的探索从这道墙开始：把“回避换页”变成“驾驭换页”。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①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异步页流水：让搬运和计算同时发生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70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 1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554480" y="1170432"/>
            <a:ext cx="21031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11887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推理步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840480" y="1170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 2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6320" y="1170432"/>
            <a:ext cx="21031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11887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推理步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554480" y="1673352"/>
            <a:ext cx="2103120" cy="384048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2" name="Text 10"/>
          <p:cNvSpPr/>
          <p:nvPr/>
        </p:nvSpPr>
        <p:spPr>
          <a:xfrm>
            <a:off x="1554480" y="169164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搬运（批 8 页）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840480" y="170078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下一步开始前，页已就位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28600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286000"/>
            <a:ext cx="91440" cy="95097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23774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 + 批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04672" y="268833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 token/页；8 页一批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控制单次搬运占用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28600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2286000"/>
            <a:ext cx="91440" cy="95097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20" name="Text 18"/>
          <p:cNvSpPr/>
          <p:nvPr/>
        </p:nvSpPr>
        <p:spPr>
          <a:xfrm>
            <a:off x="4919472" y="23774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提交即返回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919472" y="268833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解码步不等搬运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这是“异步”的本质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338328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3383280"/>
            <a:ext cx="91440" cy="95097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34747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在飞页计数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04672" y="378561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“已离开设备、未发布”的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中间态如实记账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63440" y="338328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63440" y="3383280"/>
            <a:ext cx="91440" cy="95097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28" name="Text 26"/>
          <p:cNvSpPr/>
          <p:nvPr/>
        </p:nvSpPr>
        <p:spPr>
          <a:xfrm>
            <a:off x="4919472" y="34747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publish / drop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4919472" y="378561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搬完校验才发布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确定无用才丢弃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ANATOMY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搬运是怎么“藏”起来的？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2606040" cy="15727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97280"/>
            <a:ext cx="2606040" cy="73152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主厨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4980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计算单元（SM）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跑解码的整张计算图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每个解码步约 27-32 ms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37560" y="1097280"/>
            <a:ext cx="2606040" cy="15727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37560" y="1097280"/>
            <a:ext cx="2606040" cy="731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2" name="Text 10"/>
          <p:cNvSpPr/>
          <p:nvPr/>
        </p:nvSpPr>
        <p:spPr>
          <a:xfrm>
            <a:off x="353872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专职跑腿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3872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拷贝引擎（DMA）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53872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显存 ↔ 内存之间搬页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每批 8 页约 1-3 ms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26480" y="1097280"/>
            <a:ext cx="2606040" cy="15727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1097280"/>
            <a:ext cx="2606040" cy="73152"/>
          </a:xfrm>
          <a:prstGeom prst="rect">
            <a:avLst/>
          </a:prstGeom>
          <a:solidFill>
            <a:srgbClr val="B07A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2764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经理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2764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Host 调度线程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2764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三道过滤器：保护范围 → 水位 → 相关性打分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微秒级——不亲手搬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2816352"/>
            <a:ext cx="8046720" cy="566928"/>
          </a:xfrm>
          <a:prstGeom prst="rect">
            <a:avLst/>
          </a:prstGeom>
          <a:solidFill>
            <a:srgbClr val="0B1F33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2862072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不是让主厨停下活去仓库取菜，而是后厨一直开火、跑腿小哥专职往返仓库与灶台——两双不同的手，同时干活。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35661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1-3 ms 藏在 27-32 ms 里 → 完全隐藏    ｜    </a:t>
            </a:r>
            <a:pPr indent="0" marL="0">
              <a:buNone/>
            </a:pPr>
            <a:r>
              <a:rPr lang="en-US" sz="140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74.4K 深度超池 → 114.4 tok/s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" y="40416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双保险：决策更准（保护/水位/打分三道过滤器）+ 失误更便宜（异步隐藏 + A2 无损）；在飞计数 + 账本保证不丢失、不重复。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②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目标函数修正：池从“容量门槛”变成“旋钮”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704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异步之后，池的收益曲线出现三段结构（200K 上下文场景）：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2468880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1618488"/>
            <a:ext cx="2322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池 &lt; 工作集（~42K）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48640" y="21214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每步都在搬运——全靠流水硬扛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063240" y="1600200"/>
            <a:ext cx="1600200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0" name="Text 8"/>
          <p:cNvSpPr/>
          <p:nvPr/>
        </p:nvSpPr>
        <p:spPr>
          <a:xfrm>
            <a:off x="3136392" y="1618488"/>
            <a:ext cx="1453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甜点区 42K-56K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063240" y="21214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常规轮次零搬运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09160" y="1600200"/>
            <a:ext cx="1600200" cy="457200"/>
          </a:xfrm>
          <a:prstGeom prst="rect">
            <a:avLst/>
          </a:prstGeom>
          <a:solidFill>
            <a:srgbClr val="7FB3A8"/>
          </a:solidFill>
          <a:ln/>
        </p:spPr>
      </p:sp>
      <p:sp>
        <p:nvSpPr>
          <p:cNvPr id="13" name="Text 11"/>
          <p:cNvSpPr/>
          <p:nvPr/>
        </p:nvSpPr>
        <p:spPr>
          <a:xfrm>
            <a:off x="4782312" y="1618488"/>
            <a:ext cx="1453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优选段 56K-96K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09160" y="21214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覆盖大多数会话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355080" y="1600200"/>
            <a:ext cx="2240280" cy="457200"/>
          </a:xfrm>
          <a:prstGeom prst="rect">
            <a:avLst/>
          </a:prstGeom>
          <a:solidFill>
            <a:srgbClr val="9DB4C0"/>
          </a:solidFill>
          <a:ln/>
        </p:spPr>
      </p:sp>
      <p:sp>
        <p:nvSpPr>
          <p:cNvPr id="16" name="Text 14"/>
          <p:cNvSpPr/>
          <p:nvPr/>
        </p:nvSpPr>
        <p:spPr>
          <a:xfrm>
            <a:off x="6428232" y="1618488"/>
            <a:ext cx="2093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96K（请求线上）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355080" y="212140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边际收益骤降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" y="292608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实测：</a:t>
            </a:r>
            <a:pPr indent="0" marL="0">
              <a:buNone/>
            </a:pPr>
            <a:r>
              <a:rPr lang="en-US" sz="12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池 64K vs 51K 仅多撑约 8 轮会话——过了工作集线后，多买的池主要是“防深堆积”，而深堆积有流水兜底。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3566160"/>
            <a:ext cx="8046720" cy="621792"/>
          </a:xfrm>
          <a:prstGeom prst="rect">
            <a:avLst/>
          </a:prstGeom>
          <a:solidFill>
            <a:srgbClr val="0B1F33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611880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16GB 显存是零和的：每 1 GiB 给池，就少 1 GiB 给 KV 精度或权重档位——而精度影响每一轮。→ 浅池 + 深流水 + 高精度。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③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正确性工程：给“跑腿”立三条规矩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060704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 = 请了跑腿小哥（见第 7 页）。规矩立不好会丢件、会搬错——所以我们给他立三条规矩，外加一张“考卷”：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17904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规矩一：正在用的书不能搬：</a:t>
            </a:r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引擎的“施工图”在启动时就画定（捕获期），运行中不许改——要改就重启，边界清清楚楚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2084832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规矩二：货没交稳，旧的不扔：</a:t>
            </a:r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新副本发布之前，旧的那一份永远不许丢——任何时候都有一份“唯一有效”的数据在手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651760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规矩三：订单取消，已出发的必须跑完：</a:t>
            </a:r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请求可以取消，但已经在路上的搬运必须排空才能收账——不收“半路失踪”的账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8046720" cy="658368"/>
          </a:xfrm>
          <a:prstGeom prst="rect">
            <a:avLst/>
          </a:prstGeom>
          <a:solidFill>
            <a:srgbClr val="E8F1F5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364992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那张“考卷”（无损门 A2）：</a:t>
            </a:r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同一道题，“池内”与“首次超池”两条路径的答卷</a:t>
            </a:r>
            <a:pPr indent="0" marL="0">
              <a:buNone/>
            </a:pPr>
            <a:r>
              <a:rPr lang="en-US" sz="11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逐字相同</a:t>
            </a:r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——异步只改变搬运时机，不改变模型输出。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48640" y="409651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50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诚实披露：</a:t>
            </a:r>
            <a:pPr indent="0" marL="0">
              <a:buNone/>
            </a:pPr>
            <a:r>
              <a:rPr lang="en-US" sz="11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慢峰时搬运会“藏不住”（单批接近步窗）——这就是流水的击穿边界，解法是深流水（见问题页）。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STATUS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目前实现的阶段（截至 2026-10-13 · v2 转正时点）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80467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48463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页级异步流水（搬运与解码并行）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已交付并转正（日常运行档）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池标定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81,920 token 实测（16GB 卡低比特 KV 档）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速度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极值 400+ tok/s；1 小时综合平均 220 tok/s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深超池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74.4K 上下文（池约 65K）：114.4 tok/s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无损性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池内 vs 超池输出逐字相同（A2 门）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验证场景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单路长上下文 Agent 会话（多路场景待覆盖）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39319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↑ 以上为 v2 转正时点（2026-10-13）的快照；其后的进展（按需复现 / 机制定位 / 深轮 AB 铁证）见第 13-14 页。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48640" y="422452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阶段定位：第一阶段（可行性与稳定性）完成——从“能跑”到“长跑不崩、输出无损”；正在进入第二阶段（性能深化）。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MILESTONES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攻关里程碑：异步页流水诞生记（单日闭环）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1783080" cy="58521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088136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凌晨 · 问题定义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468880" y="1051560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697480" y="1088136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页漂移：34 轮后 330 页滞留 Host —— decode 掉到 3 tok/s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1746504"/>
            <a:ext cx="1783080" cy="585216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783080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14:35-17:39 · 三个施工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468880" y="1746504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697480" y="1783080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取消检查点前移 → 批量搬运（8 页/批）→ 实测定案：真凶 = 同步 D2H 拷贝（双峰 10-20×）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441448"/>
            <a:ext cx="1783080" cy="58521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478024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20:36 · 异步搬运上线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468880" y="2441448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697480" y="2478024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transfer stream 异步提交 + 下一步收割（约 600 行）——当天首战：峰值 333 tok/s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136392"/>
            <a:ext cx="1783080" cy="58521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172968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夜间 · 验证闭环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468880" y="3136392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697480" y="3172968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超池解码 103-195 tok/s（此前 4-6）——提升 20-40×；连续 10+ 轮零降速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3831336"/>
            <a:ext cx="1783080" cy="585216"/>
          </a:xfrm>
          <a:prstGeom prst="rect">
            <a:avLst/>
          </a:prstGeom>
          <a:solidFill>
            <a:srgbClr val="B07A00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867912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10-13 · 转正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468880" y="3831336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697480" y="3867912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独立交叉审核（2×40 轮深压）+ 真实长会话 → 默认基线：127 轮 0×500 · 峰值 403.7 tok/s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446227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单日完成 “问题定义 → 施工 → 定案 → 上线 → 验证”；每一步都带 A/B 回退臂（NINFER_ASYNC_DEMOTE=0）。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QUEST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一个仍在攻关的问题：时段性慢态（“死亡谷”）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388620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97280"/>
            <a:ext cx="3886200" cy="73152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现象与指纹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1572768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偶发延迟尖峰：同一步耗时可从 30 ms 级 → 数百 ms 级（深端可达秒级）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指纹：GPU 满占用 / 满频，但功耗极低、显存几乎不动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分钟级自愈；输出逐字无损（与池内路径相同）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曾以“小时级窗口”极难复现——现已可按需制造（见右）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09160" y="1097280"/>
            <a:ext cx="388620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1097280"/>
            <a:ext cx="3886200" cy="731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攻关进展（最新）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37760" y="1572768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按需复现：外部显存压力（约 1.2 GiB）⇒ 施加即入谷（速度降至 1/25）、释放即恢复、可重复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机制定位：时间全在 host 侧提交调用（submit≈wall、wait=sync≈0）⇒ 驱动内部阻塞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排除清单：PDL ❌ 出局（原最大嫌疑）· 页中转 ❌ · 宿主路径 ❌ · 页档位 ❌ · 池大小 ❌ · 节流 ❌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应对：避免与引擎争抢显存（唯一确证有效）；最小复现协议已备（供上游）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3383280"/>
            <a:ext cx="8046720" cy="713232"/>
          </a:xfrm>
          <a:prstGeom prst="rect">
            <a:avLst/>
          </a:prstGeom>
          <a:solidFill>
            <a:srgbClr val="FFF4DC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3383280"/>
            <a:ext cx="109728" cy="7132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438144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机制已收敛：</a:t>
            </a:r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整轮时间全部花在 host 侧提交调用里（submit ≈ wall、wait = sync ≈ 0）⇒ 卡点在引擎自身的提交路径（驱动内部阻塞）——</a:t>
            </a:r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外部算力 / 拷贝 / 节流全部正常。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42245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里程碑：可按需复现（约 1.2 GiB 外部显存压力）；3 步、约 2 分钟的最小复现协议已备好供上游 / 驱动侧研判。仍待解：自然状态下的触发源。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MANHUNT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追捕进行时：真凶未获，但包围圈在收紧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024128"/>
            <a:ext cx="8046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追凶已连续 </a:t>
            </a:r>
            <a:pPr indent="0" marL="0">
              <a:buNone/>
            </a:pPr>
            <a:r>
              <a:rPr lang="en-US" sz="105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120 小时（5 昼夜）不间断</a:t>
            </a:r>
            <a:pPr indent="0" marL="0">
              <a:buNone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（10-11 → 10-16）：全程工程化受控压测 + 现场取证；中途顺手修复和改进了大量问题（仪表缺陷、回归、自伤 bug 等）。今天（10-16）再次进行异步页流水极深池 AB 测试——结果见下页。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1627632"/>
            <a:ext cx="388620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27632"/>
            <a:ext cx="3886200" cy="731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7556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异步的贡献：同条件对照铁证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2066544"/>
            <a:ext cx="3520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深轮重载（2.3-3.5× 超池）拆掉异步：decode 拖慢约 20%（r=0.80）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最深段（3.5× 超池）：≈ 2.0 倍差（235.6 vs 119.4 tok/s）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停机（ring STALL）：33 → 2 次（约 16×）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浅载/单发：打平（r=1.13）⇒ 口径：“看工作集深度”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9160" y="1627632"/>
            <a:ext cx="388620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1627632"/>
            <a:ext cx="3886200" cy="73152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7556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嫌疑范围：不断收紧的排除法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37760" y="2066544"/>
            <a:ext cx="3520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已出局：PDL（原最大嫌疑）· 页中转 · 宿主路径 · 页档位 · 池大小 · 驱动节流——逐项实测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已锁定：时间全在 host 侧提交调用（submit≈wall）⇒ 驱动内部阻塞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已可按需复现（外部显存压力协议）：不再“等窗口”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现存嫌疑人：驱动提交路径内部 · 自然触发源 · 叠加态假说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8640" y="3419856"/>
            <a:ext cx="8046720" cy="676656"/>
          </a:xfrm>
          <a:prstGeom prst="rect">
            <a:avLst/>
          </a:prstGeom>
          <a:solidFill>
            <a:srgbClr val="FFF4DC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3419856"/>
            <a:ext cx="109728" cy="67665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474720"/>
            <a:ext cx="7680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真凶未获，但猎捕方式已从“等它出现”变成“随时造它出来”</a:t>
            </a:r>
            <a:pPr indent="0" marL="0">
              <a:buNone/>
            </a:pPr>
            <a:r>
              <a:rPr lang="en-US" sz="11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——剩下的问题：把提交路径上的具体阻塞点钉到行号级（驱动侧定位 + 现场取证并行推进）。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42062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备注：异步收益的对照证据口径 = n=3/臂、单机、健康期；谷期影响未覆盖（留作后续）。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异步贡献的判决实验：极深池 AB 对照（2026-10-16）</a:t>
            </a:r>
            <a:endParaRPr lang="en-US" sz="2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78992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548640"/>
                <a:gridCol w="1645920"/>
                <a:gridCol w="1371600"/>
                <a:gridCol w="1371600"/>
                <a:gridCol w="128016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臂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round1（1.15× 超池）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round2（2.3×）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round3（3.5×）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深段均值(r2,r3)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OFF（同步回退）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327.6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218.9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228.1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223.5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332.0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191.5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107.5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149.5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325.8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256.7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119.4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188.1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ON（异步）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293.9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285.7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237.3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303.1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264.2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125.8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195.0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330.1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234.2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235.6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234.9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331012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decode（tok/s，a2gate 口径）；负载 = 3 轮同会话递进 + 轮间前缀缓存部分复用 + 每轮长输出（max 2000 token）；两臂仅差 NINFER_ASYNC_DEMOTE 开关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3657600"/>
            <a:ext cx="8046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主判据：</a:t>
            </a:r>
            <a:pPr indent="0" marL="0">
              <a:buNone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OFF 深段 median 188.1 vs ON 234.9 ⇒ r = 0.80 &lt; 0.85：异步净收益成立；三轮配对 ON 全胜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48640" y="3959352"/>
            <a:ext cx="8046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最深段（3.5× 超池）：</a:t>
            </a:r>
            <a:pPr indent="0" marL="0">
              <a:buNone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119.4 vs 235.6 ≈ 2.0 倍；停机（ring STALL）33 → 2 次（约 16×）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548640" y="4261104"/>
            <a:ext cx="8046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浅载对照（同日单发）：</a:t>
            </a:r>
            <a:pPr indent="0" marL="0">
              <a:buNone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 = 1.13 打平 ⇒ 口径：价值随工作集深度上升而显现——异步正是为深载设计的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48640" y="457200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诚实备注：n=3/臂、单机、健康期；同步臂未“死”（历史“v2 前多轮必死”的更强主张未复现——观测为“可用但慢”）。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ISSUES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其余问题（诚实清单）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18872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2710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流水击穿边界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" y="157276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慢峰单批搬运 11.5-33.7 ms 会接近/超过解码步窗——异步方案固有的暴露窗口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63440" y="118872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18872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1" name="Text 9"/>
          <p:cNvSpPr/>
          <p:nvPr/>
        </p:nvSpPr>
        <p:spPr>
          <a:xfrm>
            <a:off x="4919472" y="12710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深流水尚未转正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19472" y="157276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多批同时搬运在飞是摊薄击穿的方向，仍在验证中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228600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228600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23682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SSD 层：有意取舍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04672" y="267004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 KV 可常驻 Host RAM（最坏 ≈8.6 GB / 本机 128 GB）——无容量必要，热成本 +11% 不划算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663440" y="228600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28600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9" name="Text 17"/>
          <p:cNvSpPr/>
          <p:nvPr/>
        </p:nvSpPr>
        <p:spPr>
          <a:xfrm>
            <a:off x="4919472" y="23682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拷贝式搬运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19472" y="267004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仍是拷贝；原作者已实现“所有权移动”——追赶中。落地后用按需协议做拷贝版 vs 移动版对照（入谷率/谷深），并测对暴露面的作用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338328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" y="338328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23" name="Text 21"/>
          <p:cNvSpPr/>
          <p:nvPr/>
        </p:nvSpPr>
        <p:spPr>
          <a:xfrm>
            <a:off x="804672" y="346557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覆盖差异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04672" y="376732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我们深耕单路长上下文；原作者的多路并发场景我们覆盖不足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8640" y="4480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注：“时段性慢态”已在上一页单独展开。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未来的方向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24128"/>
            <a:ext cx="91440" cy="5303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1106424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11556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325880" y="106984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深流水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74720" y="1069848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多批在飞，把击穿余量拿回来——“浅池+深流水+高精度”最后一环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1645920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1645920"/>
            <a:ext cx="91440" cy="530352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1728216"/>
            <a:ext cx="365760" cy="365760"/>
          </a:xfrm>
          <a:prstGeom prst="ellipse">
            <a:avLst/>
          </a:prstGeom>
          <a:solidFill>
            <a:srgbClr val="0E4C6E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173736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325880" y="169164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所有权移动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474720" y="1691640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向原作者语义看齐：搬运不复制、恢复零快照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2267712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2267712"/>
            <a:ext cx="91440" cy="530352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9" name="Shape 17"/>
          <p:cNvSpPr/>
          <p:nvPr/>
        </p:nvSpPr>
        <p:spPr>
          <a:xfrm>
            <a:off x="777240" y="2350008"/>
            <a:ext cx="365760" cy="365760"/>
          </a:xfrm>
          <a:prstGeom prst="ellipse">
            <a:avLst/>
          </a:prstGeom>
          <a:solidFill>
            <a:srgbClr val="0E4C6E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235915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325880" y="231343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Host 层深化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474720" y="2313432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扩大 Host 配额 + 优化 RAM↔显存搬运；SSD 按需再评估（非跟随项）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2889504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48640" y="2889504"/>
            <a:ext cx="91440" cy="530352"/>
          </a:xfrm>
          <a:prstGeom prst="rect">
            <a:avLst/>
          </a:prstGeom>
          <a:solidFill>
            <a:srgbClr val="B07A00"/>
          </a:solidFill>
          <a:ln/>
        </p:spPr>
      </p:sp>
      <p:sp>
        <p:nvSpPr>
          <p:cNvPr id="25" name="Shape 23"/>
          <p:cNvSpPr/>
          <p:nvPr/>
        </p:nvSpPr>
        <p:spPr>
          <a:xfrm>
            <a:off x="777240" y="2971800"/>
            <a:ext cx="365760" cy="365760"/>
          </a:xfrm>
          <a:prstGeom prst="ellipse">
            <a:avLst/>
          </a:prstGeom>
          <a:solidFill>
            <a:srgbClr val="B07A00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29809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325880" y="2935224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慢态收口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474720" y="2935224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驱动提交阻塞的上游定位（3 步最小复现已备）；自然触发源追查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48640" y="3511296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48640" y="3511296"/>
            <a:ext cx="91440" cy="5303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1" name="Shape 29"/>
          <p:cNvSpPr/>
          <p:nvPr/>
        </p:nvSpPr>
        <p:spPr>
          <a:xfrm>
            <a:off x="777240" y="3593592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" y="3602736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325880" y="355701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误搬率观测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474720" y="3557016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统计“搬出后又快速搬回”的比率——让决策质量从猜变成量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48640" y="4133088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48640" y="4133088"/>
            <a:ext cx="91440" cy="5303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7" name="Shape 35"/>
          <p:cNvSpPr/>
          <p:nvPr/>
        </p:nvSpPr>
        <p:spPr>
          <a:xfrm>
            <a:off x="777240" y="4215384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422452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325880" y="417880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向上游回馈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3474720" y="4178808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修复与实测数据贡献回社区（含与 KVMem 官方后端的收敛对接）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40080"/>
            <a:ext cx="128016" cy="64008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943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SUMMARY &amp; THANKS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三句话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1600200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093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155448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原作者把“装不下”变成“装得下”——KV 虚拟化让消费卡承载百万 token 工作区；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22960" y="2377440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38658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233172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我们在其基础上把“换页”从同步等待变成异步页流水——搬运与计算重叠，超池不等于减速；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22960" y="3154680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16382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310896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第一阶段已交付、慢态攻关在进行——目标：从“持续装得下”到“持续跑得快”。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22960" y="3977640"/>
            <a:ext cx="7498080" cy="566928"/>
          </a:xfrm>
          <a:prstGeom prst="rect">
            <a:avLst/>
          </a:prstGeom>
          <a:solidFill>
            <a:srgbClr val="13314D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023360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再次感谢：KVMem 作者团队（B 站 FirePKU）· 沈三殊 · tancau（Ring 环）· 帅气的 zxz（5060Ti 线），以及 llama.cpp / Neroued/ninfer / iamwavecut/ninfer-all 与社区所有贡献者。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" y="4681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97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Ninfer-KVMem-Async · 2026-10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站在 KVMem 的肩膀上：异步页流水的探索与实践</dc:title>
  <dc:subject>PptxGenJS Presentation</dc:subject>
  <dc:creator>paicat1</dc:creator>
  <cp:lastModifiedBy>paicat1</cp:lastModifiedBy>
  <cp:revision>1</cp:revision>
  <dcterms:created xsi:type="dcterms:W3CDTF">2026-10-16T08:54:24Z</dcterms:created>
  <dcterms:modified xsi:type="dcterms:W3CDTF">2026-10-16T08:54:24Z</dcterms:modified>
</cp:coreProperties>
</file>