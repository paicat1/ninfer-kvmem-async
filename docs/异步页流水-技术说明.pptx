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74" r:id="rId24"/>
    <p:sldId id="275" r:id="rId25"/>
    <p:sldId id="276" r:id="rId26"/>
    <p:sldId id="277" r:id="rId2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tableStyles" Target="tableStyles.xml"/><Relationship Id="rId22" Type="http://schemas.openxmlformats.org/officeDocument/2006/relationships/viewProps" Target="viewProps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0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0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0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0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0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0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0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0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0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0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0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0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0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0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0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0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0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0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7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.xml"/><Relationship Id="rId3" Type="http://schemas.openxmlformats.org/officeDocument/2006/relationships/hyperlink" Target="https://arxiv.org/abs/2609.04852" TargetMode="Externa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1.xml"/><Relationship Id="rId3" Type="http://schemas.openxmlformats.org/officeDocument/2006/relationships/hyperlink" Target="https://arxiv.org/abs/2609.04852" TargetMode="External"/><Relationship Id="rId4" Type="http://schemas.openxmlformats.org/officeDocument/2006/relationships/hyperlink" Target="https://github.com/kvmem/kvmem" TargetMode="External"/><Relationship Id="rId5" Type="http://schemas.openxmlformats.org/officeDocument/2006/relationships/hyperlink" Target="https://github.com/1314521gjy/ninfer-fusion-kvmem" TargetMode="External"/><Relationship Id="rId6" Type="http://schemas.openxmlformats.org/officeDocument/2006/relationships/hyperlink" Target="https://github.com/tancau/ninfer-kvmem-ring" TargetMode="External"/><Relationship Id="rId7" Type="http://schemas.openxmlformats.org/officeDocument/2006/relationships/hyperlink" Target="https://github.com/XuanzhengZhou/qwen3.8-27b-ternary-5060ti" TargetMode="External"/><Relationship Id="rId8" Type="http://schemas.openxmlformats.org/officeDocument/2006/relationships/hyperlink" Target="https://github.com/ggml-org/llama.cpp" TargetMode="External"/><Relationship Id="rId9" Type="http://schemas.openxmlformats.org/officeDocument/2006/relationships/hyperlink" Target="https://github.com/Neroued/ninfer" TargetMode="External"/><Relationship Id="rId10" Type="http://schemas.openxmlformats.org/officeDocument/2006/relationships/hyperlink" Target="https://github.com/iamwavecut/ninfer-all" TargetMode="Externa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8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B1F33"/>
              </a:gs>
              <a:gs pos="100000">
                <a:srgbClr val="16405F"/>
              </a:gs>
            </a:gsLst>
            <a:lin scaled="0" ang="18900000"/>
          </a:gra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11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1200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</a:t>
            </a:r>
            <a:r>
              <a:rPr lang="en-US" sz="4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</a:t>
            </a: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1120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装得下</a:t>
            </a: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“到“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跑得动</a:t>
            </a: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120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r>
              <a:rPr lang="en-US" sz="110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112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890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90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258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036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36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404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182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182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  <p:sp>
        <p:nvSpPr>
          <p:cNvPr id="20" name="TextBox 19"/>
          <p:cNvSpPr txBox="1"/>
          <p:nvPr/>
        </p:nvSpPr>
        <p:spPr>
          <a:xfrm>
            <a:off x="24384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76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 name="Slide 2">
    <p:bg>
      <p:bgPr>
        <a:solidFill>
          <a:srgbClr val="0B1F33"/>
        </a:solidFill>
      </p:bgPr>
    </p:bg>
    <p:spTree>
      <p:nvGrpSpPr>
        <p:cNvPr id="2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0"/>
          <p:cNvSpPr/>
          <p:nvPr/>
        </p:nvSpPr>
        <p:spPr>
          <a:xfrm>
            <a:off x="457200" y="411480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07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208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209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210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211" name="Shape 5"/>
          <p:cNvSpPr/>
          <p:nvPr/>
        </p:nvSpPr>
        <p:spPr>
          <a:xfrm>
            <a:off x="7132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12" name="Shape 6"/>
          <p:cNvSpPr/>
          <p:nvPr/>
        </p:nvSpPr>
        <p:spPr>
          <a:xfrm>
            <a:off x="7132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13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214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(arXiv 2609.04852 · B 站 FirePKU)</a:t>
            </a:r>
            <a:endParaRPr lang="en-US" sz="950" dirty="0"/>
          </a:p>
        </p:txBody>
      </p:sp>
      <p:sp>
        <p:nvSpPr>
          <p:cNvPr id="215" name="Shape 9"/>
          <p:cNvSpPr/>
          <p:nvPr/>
        </p:nvSpPr>
        <p:spPr>
          <a:xfrm>
            <a:off x="34564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16" name="Shape 10"/>
          <p:cNvSpPr/>
          <p:nvPr/>
        </p:nvSpPr>
        <p:spPr>
          <a:xfrm>
            <a:off x="34564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17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218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2="http://schemas.openxmlformats.org/officeDocument/2006/relationships" ns2:id="rId4"/>
              </a:rPr>
              <a:t>kvmem/kvmem：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成体系的验收与回归记录</a:t>
            </a:r>
            <a:endParaRPr lang="en-US" sz="950" dirty="0"/>
          </a:p>
        </p:txBody>
      </p:sp>
      <p:sp>
        <p:nvSpPr>
          <p:cNvPr id="219" name="Shape 13"/>
          <p:cNvSpPr/>
          <p:nvPr/>
        </p:nvSpPr>
        <p:spPr>
          <a:xfrm>
            <a:off x="61996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20" name="Shape 14"/>
          <p:cNvSpPr/>
          <p:nvPr/>
        </p:nvSpPr>
        <p:spPr>
          <a:xfrm>
            <a:off x="61996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21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222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4="http://schemas.openxmlformats.org/officeDocument/2006/relationships" ns4:id="rId5"/>
              </a:rPr>
              <a:t>沈三殊——最早把 NInfer × KVMem 结合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6="http://schemas.openxmlformats.org/officeDocument/2006/relationships" ns6:id="rId6"/>
              </a:rPr>
              <a:t>tancau——Ring 环实现 · 直接讨论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8="http://schemas.openxmlformats.org/officeDocument/2006/relationships" ns8:id="rId7"/>
              </a:rPr>
              <a:t>帅气的 zxz——5060Ti 线 · 融合计划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0="http://schemas.openxmlformats.org/officeDocument/2006/relationships" ns10:id="rId8"/>
              </a:rPr>
              <a:t>llama.cpp</a:t>
            </a: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2="http://schemas.openxmlformats.org/officeDocument/2006/relationships" ns12:id="rId9"/>
              </a:rPr>
              <a:t>Neroued/ninfer</a:t>
            </a: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4="http://schemas.openxmlformats.org/officeDocument/2006/relationships" ns14:id="rId10"/>
              </a:rPr>
              <a:t>iamwavecut/ninfer-all</a:t>
            </a:r>
            <a:endParaRPr lang="en-US" sz="950" dirty="0"/>
          </a:p>
        </p:txBody>
      </p:sp>
      <p:sp>
        <p:nvSpPr>
          <p:cNvPr id="223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24" name="Text 1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02</a:t>
            </a:r>
            <a:r>
              <a:rPr sz="900">
                <a:solidFill>
                  <a:srgbClr val="3FC6D6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25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26" name="Rectangle 2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 name="Slide 3">
    <p:bg>
      <p:bgPr>
        <a:solidFill>
          <a:srgbClr val="0B1F33"/>
        </a:solidFill>
      </p:bgPr>
    </p:bg>
    <p:spTree>
      <p:nvGrpSpPr>
        <p:cNvPr id="2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2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230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231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28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32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233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234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28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35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236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237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2800"/>
            </a:avLst>
          </a:prstGeom>
          <a:solidFill>
            <a:srgbClr val="5A7789"/>
          </a:solidFill>
          <a:ln/>
        </p:spPr>
        <p:txBody>
          <a:bodyPr/>
          <a:p/>
        </p:txBody>
      </p:sp>
      <p:sp>
        <p:nvSpPr>
          <p:cNvPr id="238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239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240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241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03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42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43" name="Rectangle 24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 name="Slide 4">
    <p:bg>
      <p:bgPr>
        <a:solidFill>
          <a:srgbClr val="0B1F33"/>
        </a:solidFill>
      </p:bgPr>
    </p:bg>
    <p:spTree>
      <p:nvGrpSpPr>
        <p:cNvPr id="2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4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24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247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248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249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250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251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252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253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254" name="Shape 10"/>
          <p:cNvSpPr/>
          <p:nvPr/>
        </p:nvSpPr>
        <p:spPr>
          <a:xfrm>
            <a:off x="5029200" y="1143000"/>
            <a:ext cx="3611880" cy="3063240"/>
          </a:xfrm>
          <a:prstGeom prst="roundRect">
            <a:avLst>
              <a:gd name="adj" fmla="val 125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5" name="Shape 11"/>
          <p:cNvSpPr/>
          <p:nvPr/>
        </p:nvSpPr>
        <p:spPr>
          <a:xfrm>
            <a:off x="5029200" y="1143000"/>
            <a:ext cx="361188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56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257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258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04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9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0" name="Rectangle 25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 name="Slide 5">
    <p:bg>
      <p:bgPr>
        <a:solidFill>
          <a:srgbClr val="0B1F33"/>
        </a:solidFill>
      </p:bgPr>
    </p:bg>
    <p:spTree>
      <p:nvGrpSpPr>
        <p:cNvPr id="2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6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26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264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265" name="Shape 4"/>
          <p:cNvSpPr/>
          <p:nvPr/>
        </p:nvSpPr>
        <p:spPr>
          <a:xfrm>
            <a:off x="2377440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66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67" name="Shape 6"/>
          <p:cNvSpPr/>
          <p:nvPr/>
        </p:nvSpPr>
        <p:spPr>
          <a:xfrm>
            <a:off x="3675888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268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69" name="Shape 8"/>
          <p:cNvSpPr/>
          <p:nvPr/>
        </p:nvSpPr>
        <p:spPr>
          <a:xfrm>
            <a:off x="4974336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0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1" name="Shape 10"/>
          <p:cNvSpPr/>
          <p:nvPr/>
        </p:nvSpPr>
        <p:spPr>
          <a:xfrm>
            <a:off x="6272784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272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73" name="Shape 12"/>
          <p:cNvSpPr/>
          <p:nvPr/>
        </p:nvSpPr>
        <p:spPr>
          <a:xfrm>
            <a:off x="7571232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4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5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276" name="Shape 15"/>
          <p:cNvSpPr/>
          <p:nvPr/>
        </p:nvSpPr>
        <p:spPr>
          <a:xfrm>
            <a:off x="2377440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7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8" name="Shape 17"/>
          <p:cNvSpPr/>
          <p:nvPr/>
        </p:nvSpPr>
        <p:spPr>
          <a:xfrm>
            <a:off x="3675888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9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0" name="Shape 19"/>
          <p:cNvSpPr/>
          <p:nvPr/>
        </p:nvSpPr>
        <p:spPr>
          <a:xfrm>
            <a:off x="4974336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1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2" name="Shape 21"/>
          <p:cNvSpPr/>
          <p:nvPr/>
        </p:nvSpPr>
        <p:spPr>
          <a:xfrm>
            <a:off x="6272784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3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4" name="Shape 23"/>
          <p:cNvSpPr/>
          <p:nvPr/>
        </p:nvSpPr>
        <p:spPr>
          <a:xfrm>
            <a:off x="7571232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5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6" name="Shape 25"/>
          <p:cNvSpPr/>
          <p:nvPr/>
        </p:nvSpPr>
        <p:spPr>
          <a:xfrm>
            <a:off x="2377440" y="2395728"/>
            <a:ext cx="6309360" cy="310896"/>
          </a:xfrm>
          <a:prstGeom prst="roundRect">
            <a:avLst>
              <a:gd name="adj" fmla="val 125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287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88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r>
              <a:rPr lang="en-US" sz="13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289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290" name="Text 2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05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91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92" name="Rectangle 29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 name="Slide 6">
    <p:bg>
      <p:bgPr>
        <a:solidFill>
          <a:srgbClr val="0B1F33"/>
        </a:solidFill>
      </p:bgPr>
    </p:bg>
    <p:spTree>
      <p:nvGrpSpPr>
        <p:cNvPr id="2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9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29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异步页流水（Async Page Pipeline）：让搬运和计算同时发生</a:t>
            </a:r>
            <a:endParaRPr lang="en-US" sz="2400" dirty="0"/>
          </a:p>
        </p:txBody>
      </p:sp>
      <p:sp>
        <p:nvSpPr>
          <p:cNvPr id="296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297" name="Shape 4"/>
          <p:cNvSpPr/>
          <p:nvPr/>
        </p:nvSpPr>
        <p:spPr>
          <a:xfrm>
            <a:off x="155448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98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299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300" name="Shape 7"/>
          <p:cNvSpPr/>
          <p:nvPr/>
        </p:nvSpPr>
        <p:spPr>
          <a:xfrm>
            <a:off x="484632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01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302" name="Shape 9"/>
          <p:cNvSpPr/>
          <p:nvPr/>
        </p:nvSpPr>
        <p:spPr>
          <a:xfrm>
            <a:off x="1554480" y="167335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03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304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305" name="Shape 12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06" name="Shape 13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07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308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309" name="Shape 16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0" name="Shape 17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1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312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313" name="Shape 20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4" name="Shape 21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5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316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317" name="Shape 24"/>
          <p:cNvSpPr/>
          <p:nvPr/>
        </p:nvSpPr>
        <p:spPr>
          <a:xfrm>
            <a:off x="46634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8" name="Shape 25"/>
          <p:cNvSpPr/>
          <p:nvPr/>
        </p:nvSpPr>
        <p:spPr>
          <a:xfrm>
            <a:off x="46634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9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320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21" name="Text 2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06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22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23" name="Rectangle 32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 name="Slide 7">
    <p:bg>
      <p:bgPr>
        <a:solidFill>
          <a:srgbClr val="0B1F33"/>
        </a:solidFill>
      </p:bgPr>
    </p:bg>
    <p:spTree>
      <p:nvGrpSpPr>
        <p:cNvPr id="3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2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32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327" name="Shape 3"/>
          <p:cNvSpPr/>
          <p:nvPr/>
        </p:nvSpPr>
        <p:spPr>
          <a:xfrm>
            <a:off x="54864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28" name="Shape 4"/>
          <p:cNvSpPr/>
          <p:nvPr/>
        </p:nvSpPr>
        <p:spPr>
          <a:xfrm>
            <a:off x="54864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29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330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331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332" name="Shape 8"/>
          <p:cNvSpPr/>
          <p:nvPr/>
        </p:nvSpPr>
        <p:spPr>
          <a:xfrm>
            <a:off x="333756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3" name="Shape 9"/>
          <p:cNvSpPr/>
          <p:nvPr/>
        </p:nvSpPr>
        <p:spPr>
          <a:xfrm>
            <a:off x="333756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34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335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336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337" name="Shape 13"/>
          <p:cNvSpPr/>
          <p:nvPr/>
        </p:nvSpPr>
        <p:spPr>
          <a:xfrm>
            <a:off x="612648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8" name="Shape 14"/>
          <p:cNvSpPr/>
          <p:nvPr/>
        </p:nvSpPr>
        <p:spPr>
          <a:xfrm>
            <a:off x="612648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p/>
        </p:txBody>
      </p:sp>
      <p:sp>
        <p:nvSpPr>
          <p:cNvPr id="339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340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341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342" name="Shape 18"/>
          <p:cNvSpPr/>
          <p:nvPr/>
        </p:nvSpPr>
        <p:spPr>
          <a:xfrm>
            <a:off x="548640" y="2816352"/>
            <a:ext cx="8046720" cy="566928"/>
          </a:xfrm>
          <a:prstGeom prst="roundRect">
            <a:avLst>
              <a:gd name="adj" fmla="val 6700"/>
            </a:avLst>
          </a:prstGeom>
          <a:solidFill>
            <a:srgbClr val="23465C"/>
          </a:solidFill>
          <a:ln/>
        </p:spPr>
        <p:txBody>
          <a:bodyPr/>
          <a:p/>
        </p:txBody>
      </p:sp>
      <p:sp>
        <p:nvSpPr>
          <p:cNvPr id="343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344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1-3 ms 藏在 27-32 ms 里 → 完全隐藏    ｜    </a:t>
            </a: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345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346" name="Text 22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07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47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48" name="Rectangle 347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FC6D6"/>
                </a:solidFill>
                <a:latin typeface="Microsoft YaHei"/>
              </a:rPr>
              <a:t>WHERE PAGES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提前搬运的页放在哪？——池页数恒定，搬运只换内容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设备池 = 1,024 个页槽（65,536 tok ÷ 64），启动时一次分配、永不增减——搬运不是“加空间”，是“换槽里的内容”（同 OS 物理页帧）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restore（搬回）的落点 = 设备池的 free 槽；demote（搬出）的落点 = Host RAM 配额槽（写前取配额：host 没空槽就不发起）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空间守恒律：restore 进来的每页 = demote 出去的一页的槽；每步新增 N 页 = 每步腾出 N 槽——稳态流水平衡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唯一的瞬时额外 = 在飞批次的双份副本 ≈ 26 MiB（publish 前旧副本不丢——账本保证任何时刻至少一份有效）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池满 = 换页体系的设计工况：池满不回退，池浅才等价（浅载无搬运需求，两条路自然一样快）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133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真边界只有两条：Host 配额耗尽（=原作者 SSD 层场景，128 GB 下远不可达）与瞬时涌入超流水深度（=深流水要覆盖的工况）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FC6D6"/>
                </a:solidFill>
                <a:latin typeface="Microsoft YaHei"/>
              </a:rPr>
              <a:t>THEORY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</a:rPr>
              <a:t>数学基础：异步页流水的收益不等式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守恒律：工作集 &gt; 池 ⇒ 每步新增页必须换出等量页——搬运义务的总量由工作集/池比决定，与开关无关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支付位置：同步把义务 100% 放在关键路径（解码等 DMA）；异步把义务放进影子时间 ⇒ T异步 ≤ T同步 恒成立，相等仅当义务为零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三参数公式：收益% =（义务率 × 单位成本）/ 步窗 =（0.09 页/步 × 1.6 MiB）/ 30 ms ≈ 0.05%（稳态换页义务微不足道）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收益主要来源 = 召回爆发：轮首 turn closure 集中召回数十 MiB——工作集越超池、轮次越长，爆发越大收益越大——这解释全部实测（浅载 r≈1 / 深轮 r=0.80）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实测对照（10-19 三档浅载）：D2 187.1 &gt; D0 183.6 &gt; D1 182.6——方向与不等式一致；D1 反常（半流水开销）已立挂账复查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133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不等式由守恒律与硬件并行性（DMA/SM）保证——收益幅度由义务率与步窗决定，由对照实验测定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FC6D6"/>
                </a:solidFill>
                <a:latin typeface="Microsoft YaHei"/>
              </a:rPr>
              <a:t>DEPTH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流水深度的理论上限：最多几批同时在飞？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需求侧：稳态义务 0.09 页/步 ⇒ 1 批（8 页）覆盖约 11 步；深度需求的真正来源 = 轮首召回爆发（爆发页数 ÷ 8 = 有意义批数）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供给侧硬上限：设备 free 槽 ≤1,024 · Host 配额数千页 · 双份缓冲每批 ≈26 MiB——理论上几十批可行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理论甜蜜点 2-4 批（尚未实测，深载分档待测）：超过峰值义务深度的档位是闲置——排队批次不会让 DMA 更快，只是把同一笔义务摊得更平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DEPTH=1 是最差配置（实测 D1 182.6 &lt; D0 183.6）：付半流水管理开销、无摊薄收益——要么 0（纯同步）要么 ≥2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关键对照：深载长跑（深超池堆积 + 轮首爆发密集）ON/OFF 对照——理论预测收益落在“爆发规模 / 步窗”区间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133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深度不是越大越好：最优 DEPTH = ⌈峰值义务页数 ÷ 8⌉，通常 ≤ 4——超过即闲置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 name="Slide 8">
    <p:bg>
      <p:bgPr>
        <a:solidFill>
          <a:srgbClr val="0B1F33"/>
        </a:solidFill>
      </p:bgPr>
    </p:bg>
    <p:spTree>
      <p:nvGrpSpPr>
        <p:cNvPr id="3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50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351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352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353" name="Shape 4"/>
          <p:cNvSpPr/>
          <p:nvPr/>
        </p:nvSpPr>
        <p:spPr>
          <a:xfrm>
            <a:off x="548640" y="1600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D9A82C"/>
          </a:solidFill>
          <a:ln/>
        </p:spPr>
        <p:txBody>
          <a:bodyPr/>
          <a:p/>
        </p:txBody>
      </p:sp>
      <p:sp>
        <p:nvSpPr>
          <p:cNvPr id="354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355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356" name="Shape 7"/>
          <p:cNvSpPr/>
          <p:nvPr/>
        </p:nvSpPr>
        <p:spPr>
          <a:xfrm>
            <a:off x="306324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57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358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359" name="Shape 10"/>
          <p:cNvSpPr/>
          <p:nvPr/>
        </p:nvSpPr>
        <p:spPr>
          <a:xfrm>
            <a:off x="470916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>
              <a:alpha val="100000"/>
            </a:srgbClr>
          </a:solidFill>
          <a:ln/>
        </p:spPr>
        <p:txBody>
          <a:bodyPr/>
          <a:p/>
        </p:txBody>
      </p:sp>
      <p:sp>
        <p:nvSpPr>
          <p:cNvPr id="360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361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362" name="Shape 13"/>
          <p:cNvSpPr/>
          <p:nvPr/>
        </p:nvSpPr>
        <p:spPr>
          <a:xfrm>
            <a:off x="6355080" y="160020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5A7789"/>
          </a:solidFill>
          <a:ln/>
        </p:spPr>
        <p:txBody>
          <a:bodyPr/>
          <a:p/>
        </p:txBody>
      </p:sp>
      <p:sp>
        <p:nvSpPr>
          <p:cNvPr id="363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364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365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366" name="Shape 17"/>
          <p:cNvSpPr/>
          <p:nvPr/>
        </p:nvSpPr>
        <p:spPr>
          <a:xfrm>
            <a:off x="548640" y="3566160"/>
            <a:ext cx="8046720" cy="621792"/>
          </a:xfrm>
          <a:prstGeom prst="roundRect">
            <a:avLst>
              <a:gd name="adj" fmla="val 6100"/>
            </a:avLst>
          </a:prstGeom>
          <a:solidFill>
            <a:srgbClr val="23465C"/>
          </a:solidFill>
          <a:ln/>
        </p:spPr>
        <p:txBody>
          <a:bodyPr/>
          <a:p/>
        </p:txBody>
      </p:sp>
      <p:sp>
        <p:nvSpPr>
          <p:cNvPr id="367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368" name="Text 1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08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69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70" name="Rectangle 36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 name="Slide 9">
    <p:bg>
      <p:bgPr>
        <a:solidFill>
          <a:srgbClr val="0B1F33"/>
        </a:solidFill>
      </p:bgPr>
    </p:bg>
    <p:spTree>
      <p:nvGrpSpPr>
        <p:cNvPr id="3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7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37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374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375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376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377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378" name="Shape 7"/>
          <p:cNvSpPr/>
          <p:nvPr/>
        </p:nvSpPr>
        <p:spPr>
          <a:xfrm>
            <a:off x="548640" y="3291840"/>
            <a:ext cx="8046720" cy="658368"/>
          </a:xfrm>
          <a:prstGeom prst="roundRect">
            <a:avLst>
              <a:gd name="adj" fmla="val 58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379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380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381" name="Text 10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09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82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83" name="Rectangle 38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0">
    <p:bg>
      <p:bgPr>
        <a:solidFill>
          <a:srgbClr val="0B1F33"/>
        </a:solidFill>
      </p:bgPr>
    </p:bg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 · 2026-10-11~14</a:t>
            </a:r>
            <a:endParaRPr lang="en-US" sz="1100" dirty="0"/>
          </a:p>
        </p:txBody>
      </p:sp>
      <p:sp>
        <p:nvSpPr>
          <p:cNvPr id="20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已实现的阶段：V2 上线初期的成果快照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val="1"/>
                    </a:ext>
                  </a:extLst>
                </a:gridCol>
                <a:gridCol w="4846320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2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V2 上线初期的成果（10-11 上线当天：首战峰值 333、超池 103-195 tok/s；随后数日陆续补全上表数字）——**不是最新状态**；最新进展（死亡谷攻关 / 深轮 AB 铁证）见第 13-14 页。</a:t>
            </a:r>
            <a:endParaRPr lang="en-US" sz="1000" dirty="0"/>
          </a:p>
        </p:txBody>
      </p:sp>
      <p:sp>
        <p:nvSpPr>
          <p:cNvPr id="23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24" name="Text 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10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" name="Rectangle 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 name="Slide 11">
    <p:bg>
      <p:bgPr>
        <a:solidFill>
          <a:srgbClr val="0B1F33"/>
        </a:solidFill>
      </p:bgPr>
    </p:bg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30" name="Shape 3"/>
          <p:cNvSpPr/>
          <p:nvPr/>
        </p:nvSpPr>
        <p:spPr>
          <a:xfrm>
            <a:off x="548640" y="1051560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31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32" name="Shape 5"/>
          <p:cNvSpPr/>
          <p:nvPr/>
        </p:nvSpPr>
        <p:spPr>
          <a:xfrm>
            <a:off x="2468880" y="1051560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34" name="Shape 7"/>
          <p:cNvSpPr/>
          <p:nvPr/>
        </p:nvSpPr>
        <p:spPr>
          <a:xfrm>
            <a:off x="548640" y="1746504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5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36" name="Shape 9"/>
          <p:cNvSpPr/>
          <p:nvPr/>
        </p:nvSpPr>
        <p:spPr>
          <a:xfrm>
            <a:off x="2468880" y="1746504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7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38" name="Shape 11"/>
          <p:cNvSpPr/>
          <p:nvPr/>
        </p:nvSpPr>
        <p:spPr>
          <a:xfrm>
            <a:off x="548640" y="2441448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9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40" name="Shape 13"/>
          <p:cNvSpPr/>
          <p:nvPr/>
        </p:nvSpPr>
        <p:spPr>
          <a:xfrm>
            <a:off x="2468880" y="2441448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1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42" name="Shape 15"/>
          <p:cNvSpPr/>
          <p:nvPr/>
        </p:nvSpPr>
        <p:spPr>
          <a:xfrm>
            <a:off x="548640" y="3136392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43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44" name="Shape 17"/>
          <p:cNvSpPr/>
          <p:nvPr/>
        </p:nvSpPr>
        <p:spPr>
          <a:xfrm>
            <a:off x="2468880" y="3136392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5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46" name="Shape 19"/>
          <p:cNvSpPr/>
          <p:nvPr/>
        </p:nvSpPr>
        <p:spPr>
          <a:xfrm>
            <a:off x="548640" y="3831336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C98A1B"/>
          </a:solidFill>
          <a:ln/>
        </p:spPr>
        <p:txBody>
          <a:bodyPr/>
          <a:p/>
        </p:txBody>
      </p:sp>
      <p:sp>
        <p:nvSpPr>
          <p:cNvPr id="47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48" name="Shape 21"/>
          <p:cNvSpPr/>
          <p:nvPr/>
        </p:nvSpPr>
        <p:spPr>
          <a:xfrm>
            <a:off x="2468880" y="3831336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9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50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51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11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52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53" name="Rectangle 5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 name="Slide 12">
    <p:bg>
      <p:bgPr>
        <a:solidFill>
          <a:srgbClr val="0B1F33"/>
        </a:solidFill>
      </p:bgPr>
    </p:bg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5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5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7" name="Shape 3"/>
          <p:cNvSpPr/>
          <p:nvPr/>
        </p:nvSpPr>
        <p:spPr>
          <a:xfrm>
            <a:off x="54864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8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59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60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61" name="Shape 7"/>
          <p:cNvSpPr/>
          <p:nvPr/>
        </p:nvSpPr>
        <p:spPr>
          <a:xfrm>
            <a:off x="470916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2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63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64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谷档（1/25）稳定可造、释放即恢复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深档（≈1/100）受时窗支配：窗内 4/4 命中（含重启首持）；窗外 8/8 谷档——“重启即复现”被证伪，时窗开合未知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00" dirty="0"/>
          </a:p>
        </p:txBody>
      </p:sp>
      <p:sp>
        <p:nvSpPr>
          <p:cNvPr id="65" name="Shape 11"/>
          <p:cNvSpPr/>
          <p:nvPr/>
        </p:nvSpPr>
        <p:spPr>
          <a:xfrm>
            <a:off x="548640" y="338328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66" name="Shape 12"/>
          <p:cNvSpPr/>
          <p:nvPr/>
        </p:nvSpPr>
        <p:spPr>
          <a:xfrm>
            <a:off x="548640" y="338328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67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68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里程碑：谷档可按需复现（约 1.2 GiB 外部显存压力）；深档受机器态时窗支配（窗内 4/4、窗外 8/8，开合条件解析中）；3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69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12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70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71" name="Rectangle 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 name="Slide 13">
    <p:bg>
      <p:bgPr>
        <a:solidFill>
          <a:srgbClr val="0B1F33"/>
        </a:solidFill>
      </p:bgPr>
    </p:bg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追捕进行时：真凶未获，但包围圈在收紧</a:t>
            </a:r>
            <a:endParaRPr lang="en-US" sz="2400" dirty="0"/>
          </a:p>
        </p:txBody>
      </p:sp>
      <p:sp>
        <p:nvSpPr>
          <p:cNvPr id="75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追凶已连续 </a:t>
            </a:r>
            <a:r>
              <a:rPr lang="en-US" sz="105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小时（5 昼夜）不间断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（10-11 → 10-16）：全程工程化受控压测 + 现场取证；中途顺手修复和改进了大量问题（仪表缺陷、回归、自伤 bug 等）。今天（10-16）再次进行异步页流水极深池 AB 测试——结果见下页。</a:t>
            </a:r>
            <a:endParaRPr lang="en-US" sz="1050" dirty="0"/>
          </a:p>
        </p:txBody>
      </p:sp>
      <p:sp>
        <p:nvSpPr>
          <p:cNvPr id="76" name="Shape 4"/>
          <p:cNvSpPr/>
          <p:nvPr/>
        </p:nvSpPr>
        <p:spPr>
          <a:xfrm>
            <a:off x="54864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7" name="Shape 5"/>
          <p:cNvSpPr/>
          <p:nvPr/>
        </p:nvSpPr>
        <p:spPr>
          <a:xfrm>
            <a:off x="54864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78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79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超池）关闭异步（OFF）：decode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80" name="Shape 8"/>
          <p:cNvSpPr/>
          <p:nvPr/>
        </p:nvSpPr>
        <p:spPr>
          <a:xfrm>
            <a:off x="470916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1" name="Shape 9"/>
          <p:cNvSpPr/>
          <p:nvPr/>
        </p:nvSpPr>
        <p:spPr>
          <a:xfrm>
            <a:off x="470916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82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83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84" name="Shape 12"/>
          <p:cNvSpPr/>
          <p:nvPr/>
        </p:nvSpPr>
        <p:spPr>
          <a:xfrm>
            <a:off x="548640" y="3419856"/>
            <a:ext cx="8046720" cy="676656"/>
          </a:xfrm>
          <a:prstGeom prst="roundRect">
            <a:avLst>
              <a:gd name="adj" fmla="val 57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85" name="Shape 13"/>
          <p:cNvSpPr/>
          <p:nvPr/>
        </p:nvSpPr>
        <p:spPr>
          <a:xfrm>
            <a:off x="548640" y="3419856"/>
            <a:ext cx="109728" cy="676656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86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87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88" name="Text 16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13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89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90" name="Rectangle 8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4">
    <p:bg>
      <p:bgPr>
        <a:solidFill>
          <a:srgbClr val="0B1F33"/>
        </a:solidFill>
      </p:bgPr>
    </p:bg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9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9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异步贡献的对照实验：极深池 AB 对照（2026-10-16）</a:t>
            </a:r>
            <a:endParaRPr lang="en-US" sz="24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/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val="1"/>
                    </a:ext>
                  </a:extLst>
                </a:gridCol>
                <a:gridCol w="548640">
                  <a:extLst>
                    <a:ext uri="{9D8B030D-6E8A-4147-A177-3AD203B41FA5}">
                      <a16:colId val="2"/>
                    </a:ext>
                  </a:extLst>
                </a:gridCol>
                <a:gridCol w="1645920">
                  <a:extLst>
                    <a:ext uri="{9D8B030D-6E8A-4147-A177-3AD203B41FA5}">
                      <a16:colId val="3"/>
                    </a:ext>
                  </a:extLst>
                </a:gridCol>
                <a:gridCol w="1371600">
                  <a:extLst>
                    <a:ext uri="{9D8B030D-6E8A-4147-A177-3AD203B41FA5}">
                      <a16:colId val="4"/>
                    </a:ext>
                  </a:extLst>
                </a:gridCol>
                <a:gridCol w="1371600">
                  <a:extLst>
                    <a:ext uri="{9D8B030D-6E8A-4147-A177-3AD203B41FA5}">
                      <a16:colId val="5"/>
                    </a:ext>
                  </a:extLst>
                </a:gridCol>
                <a:gridCol w="1280160">
                  <a:extLst>
                    <a:ext uri="{9D8B030D-6E8A-4147-A177-3AD203B41FA5}">
                      <a16:colId val="6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95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实验数据：上下文 ~75.3K → ~152K → ~229K token（池 65,536 ⇒ 超池 1.15× / 2.3× / 3.5×）；每轮长输出 max 2000 token；轮间前缀缓存部分复用（49.3% / 66.4%）；两臂仅差 NINFER_ASYNC_DEMOTE 开关</a:t>
            </a:r>
            <a:endParaRPr lang="en-US" sz="900" dirty="0"/>
          </a:p>
        </p:txBody>
      </p:sp>
      <p:sp>
        <p:nvSpPr>
          <p:cNvPr id="96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97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98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99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诚实备注：n=3/臂、单机、健康期；同步臂未“死”——历史“v2 前多轮必死”的更强主张未复现（观测为“可用但慢”）；**且本次未现死亡谷，可能因前序多轮修复已碰巧缓解了该状态**（未在对照中复现，待后续验证）。</a:t>
            </a:r>
            <a:endParaRPr lang="en-US" sz="900" dirty="0"/>
          </a:p>
        </p:txBody>
      </p:sp>
      <p:sp>
        <p:nvSpPr>
          <p:cNvPr id="100" name="Text 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14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01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02" name="Rectangle 10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 name="Slide 15">
    <p:bg>
      <p:bgPr>
        <a:solidFill>
          <a:srgbClr val="0B1F33"/>
        </a:solidFill>
      </p:bgPr>
    </p:bg>
    <p:spTree>
      <p:nvGrpSpPr>
        <p:cNvPr id="1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0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10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106" name="Shape 3"/>
          <p:cNvSpPr/>
          <p:nvPr/>
        </p:nvSpPr>
        <p:spPr>
          <a:xfrm>
            <a:off x="5486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7" name="Shape 4"/>
          <p:cNvSpPr/>
          <p:nvPr/>
        </p:nvSpPr>
        <p:spPr>
          <a:xfrm>
            <a:off x="5486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08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109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110" name="Shape 7"/>
          <p:cNvSpPr/>
          <p:nvPr/>
        </p:nvSpPr>
        <p:spPr>
          <a:xfrm>
            <a:off x="46634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1" name="Shape 8"/>
          <p:cNvSpPr/>
          <p:nvPr/>
        </p:nvSpPr>
        <p:spPr>
          <a:xfrm>
            <a:off x="46634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12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13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14" name="Shape 11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5" name="Shape 12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16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17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18" name="Shape 15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9" name="Shape 16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20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121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122" name="Shape 19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3" name="Shape 20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24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125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126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127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15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28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29" name="Rectangle 12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 name="Slide 16">
    <p:bg>
      <p:bgPr>
        <a:solidFill>
          <a:srgbClr val="0B1F33"/>
        </a:solidFill>
      </p:bgPr>
    </p:bg>
    <p:spTree>
      <p:nvGrpSpPr>
        <p:cNvPr id="1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1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132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133" name="Shape 3"/>
          <p:cNvSpPr/>
          <p:nvPr/>
        </p:nvSpPr>
        <p:spPr>
          <a:xfrm>
            <a:off x="548640" y="102412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4" name="Shape 4"/>
          <p:cNvSpPr/>
          <p:nvPr/>
        </p:nvSpPr>
        <p:spPr>
          <a:xfrm>
            <a:off x="548640" y="102412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5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6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137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38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39" name="Shape 9"/>
          <p:cNvSpPr/>
          <p:nvPr/>
        </p:nvSpPr>
        <p:spPr>
          <a:xfrm>
            <a:off x="548640" y="1645920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0" name="Shape 10"/>
          <p:cNvSpPr/>
          <p:nvPr/>
        </p:nvSpPr>
        <p:spPr>
          <a:xfrm>
            <a:off x="548640" y="1645920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1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2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43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44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45" name="Shape 15"/>
          <p:cNvSpPr/>
          <p:nvPr/>
        </p:nvSpPr>
        <p:spPr>
          <a:xfrm>
            <a:off x="548640" y="2267712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6" name="Shape 16"/>
          <p:cNvSpPr/>
          <p:nvPr/>
        </p:nvSpPr>
        <p:spPr>
          <a:xfrm>
            <a:off x="548640" y="2267712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7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8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149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150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151" name="Shape 21"/>
          <p:cNvSpPr/>
          <p:nvPr/>
        </p:nvSpPr>
        <p:spPr>
          <a:xfrm>
            <a:off x="548640" y="2889504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2" name="Shape 22"/>
          <p:cNvSpPr/>
          <p:nvPr/>
        </p:nvSpPr>
        <p:spPr>
          <a:xfrm>
            <a:off x="548640" y="2889504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p/>
        </p:txBody>
      </p:sp>
      <p:sp>
        <p:nvSpPr>
          <p:cNvPr id="153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C98A1B"/>
          </a:solidFill>
          <a:ln/>
        </p:spPr>
        <p:txBody>
          <a:bodyPr/>
          <a:p/>
        </p:txBody>
      </p:sp>
      <p:sp>
        <p:nvSpPr>
          <p:cNvPr id="154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155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156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157" name="Shape 27"/>
          <p:cNvSpPr/>
          <p:nvPr/>
        </p:nvSpPr>
        <p:spPr>
          <a:xfrm>
            <a:off x="548640" y="3511296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8" name="Shape 28"/>
          <p:cNvSpPr/>
          <p:nvPr/>
        </p:nvSpPr>
        <p:spPr>
          <a:xfrm>
            <a:off x="548640" y="3511296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59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60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161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162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163" name="Shape 33"/>
          <p:cNvSpPr/>
          <p:nvPr/>
        </p:nvSpPr>
        <p:spPr>
          <a:xfrm>
            <a:off x="548640" y="413308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4" name="Shape 34"/>
          <p:cNvSpPr/>
          <p:nvPr/>
        </p:nvSpPr>
        <p:spPr>
          <a:xfrm>
            <a:off x="548640" y="413308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65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66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167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168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169" name="Text 3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16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70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71" name="Rectangle 1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 name="Slide 17">
    <p:bg>
      <p:bgPr>
        <a:solidFill>
          <a:srgbClr val="0B1F33"/>
        </a:solidFill>
      </p:bgPr>
    </p:bg>
    <p:spTree>
      <p:nvGrpSpPr>
        <p:cNvPr id="1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OPEN SOURCE</a:t>
            </a:r>
            <a:endParaRPr lang="en-US" sz="1100" dirty="0"/>
          </a:p>
        </p:txBody>
      </p:sp>
      <p:sp>
        <p:nvSpPr>
          <p:cNvPr id="1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为什么要开源这份工作</a:t>
            </a:r>
            <a:endParaRPr lang="en-US" sz="2400" dirty="0"/>
          </a:p>
        </p:txBody>
      </p:sp>
      <p:sp>
        <p:nvSpPr>
          <p:cNvPr id="175" name="Shape 3"/>
          <p:cNvSpPr/>
          <p:nvPr/>
        </p:nvSpPr>
        <p:spPr>
          <a:xfrm>
            <a:off x="54864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6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7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缘起：到火候了就开门</a:t>
            </a:r>
            <a:endParaRPr lang="en-US" sz="1300" dirty="0"/>
          </a:p>
        </p:txBody>
      </p:sp>
      <p:sp>
        <p:nvSpPr>
          <p:cNvPr id="178" name="Text 6"/>
          <p:cNvSpPr/>
          <p:nvPr/>
        </p:nvSpPr>
        <p:spPr>
          <a:xfrm>
            <a:off x="77724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技术已达“限定场景生产可用”：单路长上下文 Agent 会话（显存独占）实跑验证通过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但最大未解课题（时段性慢态）已超出单线攻关的带宽——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= 借社区 / 上游 / 驱动侧协同攻关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我们已备好”换帮助”的钥匙：约 2 分钟的最小复现协议（可随时造出该状态）</a:t>
            </a:r>
            <a:endParaRPr lang="en-US" sz="950" dirty="0"/>
          </a:p>
        </p:txBody>
      </p:sp>
      <p:sp>
        <p:nvSpPr>
          <p:cNvPr id="179" name="Shape 7"/>
          <p:cNvSpPr/>
          <p:nvPr/>
        </p:nvSpPr>
        <p:spPr>
          <a:xfrm>
            <a:off x="470916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0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8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定位与承诺（口径先行）</a:t>
            </a:r>
            <a:endParaRPr lang="en-US" sz="1300" dirty="0"/>
          </a:p>
        </p:txBody>
      </p:sp>
      <p:sp>
        <p:nvSpPr>
          <p:cNvPr id="182" name="Text 10"/>
          <p:cNvSpPr/>
          <p:nvPr/>
        </p:nvSpPr>
        <p:spPr>
          <a:xfrm>
            <a:off x="493776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定位：“研究性工程 + 限定场景生产可用”；多路并发未覆盖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① 进谷可控：指纹可检测 / 分钟级自愈 / 回避手段已确证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② 输出无损：池内 vs 超池逐字相同（A2 门）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不承诺：永不进谷（触发源未解）；通用生产级</a:t>
            </a:r>
            <a:endParaRPr lang="en-US" sz="950" dirty="0"/>
          </a:p>
        </p:txBody>
      </p:sp>
      <p:sp>
        <p:nvSpPr>
          <p:cNvPr id="183" name="Shape 11"/>
          <p:cNvSpPr/>
          <p:nvPr/>
        </p:nvSpPr>
        <p:spPr>
          <a:xfrm>
            <a:off x="548640" y="365760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184" name="Shape 12"/>
          <p:cNvSpPr/>
          <p:nvPr/>
        </p:nvSpPr>
        <p:spPr>
          <a:xfrm>
            <a:off x="548640" y="365760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85" name="Text 13"/>
          <p:cNvSpPr/>
          <p:nvPr/>
        </p:nvSpPr>
        <p:spPr>
          <a:xfrm>
            <a:off x="777240" y="371246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我们希望换到的：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不是“夸赞”，而是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同路人的线索与判决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——谁在驱动侧见过提交阻塞、谁复现过同样的慢态、谁能一起把行号级的根因钉死。</a:t>
            </a:r>
            <a:endParaRPr lang="en-US" sz="1100" dirty="0"/>
          </a:p>
        </p:txBody>
      </p:sp>
      <p:sp>
        <p:nvSpPr>
          <p:cNvPr id="186" name="Text 14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说明：本页口径来自发布前检查清单（docs/发布前事项-…-20261016.md）§0 与缘起段。</a:t>
            </a:r>
            <a:endParaRPr lang="en-US" sz="900" dirty="0"/>
          </a:p>
        </p:txBody>
      </p:sp>
      <p:sp>
        <p:nvSpPr>
          <p:cNvPr id="187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17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8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89" name="Rectangle 18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 name="Slide 18">
    <p:bg>
      <p:bgPr>
        <a:solidFill>
          <a:srgbClr val="0B1F33"/>
        </a:solidFill>
      </p:bgPr>
    </p:bg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457200" y="640080"/>
            <a:ext cx="128016" cy="6400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1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192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193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4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196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7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98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99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00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01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202" name="Shape 12"/>
          <p:cNvSpPr/>
          <p:nvPr/>
        </p:nvSpPr>
        <p:spPr>
          <a:xfrm>
            <a:off x="822960" y="3977640"/>
            <a:ext cx="7498080" cy="566928"/>
          </a:xfrm>
          <a:prstGeom prst="roundRect">
            <a:avLst>
              <a:gd name="adj" fmla="val 67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203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204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FC6D6"/>
                </a:solidFill>
                <a:latin typeface="Microsoft YaHei"/>
              </a:rPr>
              <a:t>THREE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三层加速栈：单步与长程的分工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L1 硬件层（显卡带宽/算力）：单步解码的物理天花板——权重每 token 全读一遍（IQ3_S ≈ 11.3 GiB）；只能换卡或降比特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L2 算法层（投机解码 / MTP 接受率）：每 forward 多出 token（64% 接受 ≈ 1.64×）——决定单步的有效产出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L3 系统层（KVMem + 异步页流水）：不加速单步——解决"工作集装不下"与"换页不拖慢长程"，把长程保全系数拉回 ≈1.0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长程有效速度 ≈ L1 × L2 × L3 保全系数——没有 L3，L1×L2 的数字只在第一轮成立（历史极端案例：换页侵蚀至 5.6 tok/s）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A9BECC"/>
                </a:solidFill>
                <a:latin typeface="Microsoft YaHei"/>
              </a:rPr>
              <a:t>▪ 耦合：L2 越快 → 页产生率越高 → 深超池下 L3 越重要——三者是同一流水线的上下游，不是竞争关系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133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单步要快靠 L1/L2；长程要快靠 L3——异步页流水保证的是后者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xmlns:thm15="http://schemas.microsoft.com/office/thememl/2012/main" xmlns:mc="http://schemas.openxmlformats.org/markup-compatibility/2006" name="Office 主题​​" mc:Ignorable="thm15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2026-10-17T01:46:31Z</dcterms:created>
  <dcterms:modified xsi:type="dcterms:W3CDTF">2026-10-17T01:46:31Z</dcterms:modified>
</cp:coreProperties>
</file>