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tableStyles" Target="tableStyles.xml"/><Relationship Id="rId22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0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0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0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0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0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0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0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0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0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0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0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0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0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0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0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0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0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0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7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.xml"/><Relationship Id="rId3" Type="http://schemas.openxmlformats.org/officeDocument/2006/relationships/hyperlink" Target="https://arxiv.org/abs/2609.04852" TargetMode="Externa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1.xml"/><Relationship Id="rId3" Type="http://schemas.openxmlformats.org/officeDocument/2006/relationships/hyperlink" Target="https://arxiv.org/abs/2609.04852" TargetMode="External"/><Relationship Id="rId4" Type="http://schemas.openxmlformats.org/officeDocument/2006/relationships/hyperlink" Target="https://github.com/kvmem/kvmem" TargetMode="External"/><Relationship Id="rId5" Type="http://schemas.openxmlformats.org/officeDocument/2006/relationships/hyperlink" Target="https://github.com/1314521gjy/ninfer-fusion-kvmem" TargetMode="External"/><Relationship Id="rId6" Type="http://schemas.openxmlformats.org/officeDocument/2006/relationships/hyperlink" Target="https://github.com/tancau/ninfer-kvmem-ring" TargetMode="External"/><Relationship Id="rId7" Type="http://schemas.openxmlformats.org/officeDocument/2006/relationships/hyperlink" Target="https://github.com/XuanzhengZhou/qwen3.8-27b-ternary-5060ti" TargetMode="External"/><Relationship Id="rId8" Type="http://schemas.openxmlformats.org/officeDocument/2006/relationships/hyperlink" Target="https://github.com/ggml-org/llama.cpp" TargetMode="External"/><Relationship Id="rId9" Type="http://schemas.openxmlformats.org/officeDocument/2006/relationships/hyperlink" Target="https://github.com/Neroued/ninfer" TargetMode="External"/><Relationship Id="rId10" Type="http://schemas.openxmlformats.org/officeDocument/2006/relationships/hyperlink" Target="https://github.com/iamwavecut/ninfer-all" TargetMode="Externa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7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8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B1F33"/>
              </a:gs>
              <a:gs pos="100000">
                <a:srgbClr val="16405F"/>
              </a:gs>
            </a:gsLst>
            <a:lin scaled="0" ang="18900000"/>
          </a:gradFill>
          <a:ln/>
        </p:spPr>
        <p:txBody>
          <a:bodyPr/>
          <a:p/>
        </p:txBody>
      </p:sp>
      <p:sp>
        <p:nvSpPr>
          <p:cNvPr id="19" name="Oval 18"/>
          <p:cNvSpPr/>
          <p:nvPr/>
        </p:nvSpPr>
        <p:spPr>
          <a:xfrm>
            <a:off x="8128000" y="2794000"/>
            <a:ext cx="4064000" cy="4064000"/>
          </a:xfrm>
          <a:prstGeom prst="ellipse">
            <a:avLst/>
          </a:prstGeom>
          <a:noFill/>
          <a:ln w="12700">
            <a:solidFill>
              <a:srgbClr val="2A6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28000" y="-2286000"/>
            <a:ext cx="3048000" cy="3048000"/>
          </a:xfrm>
          <a:prstGeom prst="ellipse">
            <a:avLst/>
          </a:prstGeom>
          <a:noFill/>
          <a:ln w="12700">
            <a:solidFill>
              <a:srgbClr val="2A6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04000" y="-2667000"/>
            <a:ext cx="4826000" cy="4826000"/>
          </a:xfrm>
          <a:prstGeom prst="ellipse">
            <a:avLst/>
          </a:prstGeom>
          <a:noFill/>
          <a:ln w="12700">
            <a:solidFill>
              <a:srgbClr val="2A6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11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1200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</a:t>
            </a:r>
            <a:r>
              <a:rPr lang="en-US" sz="42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</a:t>
            </a: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1120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BFD3D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</a:t>
            </a:r>
            <a:r>
              <a:rPr lang="en-US" sz="17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装得下</a:t>
            </a:r>
            <a:r>
              <a:rPr lang="en-US" sz="1700" dirty="0">
                <a:solidFill>
                  <a:srgbClr val="BFD3D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“到“</a:t>
            </a:r>
            <a:r>
              <a:rPr lang="en-US" sz="17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跑得动</a:t>
            </a:r>
            <a:r>
              <a:rPr lang="en-US" sz="1700" dirty="0">
                <a:solidFill>
                  <a:srgbClr val="BFD3D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120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r>
              <a:rPr lang="en-US" sz="11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r>
              <a:rPr lang="en-US" sz="1100" dirty="0" u="sng">
                <a:solidFill>
                  <a:srgbClr val="3FC6D6"/>
                </a:solidFill>
                <a:latin typeface="Microsoft YaHei"/>
                <a:ea typeface="Microsoft YaHei"/>
                <a:hlinkClick xmlns:ns0="http://schemas.openxmlformats.org/officeDocument/2006/relationships" ns0:id="rId3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112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890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90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258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036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036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404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182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182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  <p:sp>
        <p:nvSpPr>
          <p:cNvPr id="20" name="TextBox 19"/>
          <p:cNvSpPr txBox="1"/>
          <p:nvPr/>
        </p:nvSpPr>
        <p:spPr>
          <a:xfrm>
            <a:off x="2438400" y="3771900"/>
            <a:ext cx="381000" cy="177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9E0B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71900"/>
            <a:ext cx="381000" cy="177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9E0B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7600" y="3771900"/>
            <a:ext cx="381000" cy="177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9E0B"/>
                </a:solidFill>
                <a:latin typeface="Microsoft YaHei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 name="Slide 2">
    <p:bg>
      <p:bgPr>
        <a:solidFill>
          <a:srgbClr val="0B1F33"/>
        </a:solidFill>
      </p:bgPr>
    </p:bg>
    <p:spTree>
      <p:nvGrpSpPr>
        <p:cNvPr id="2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0"/>
          <p:cNvSpPr/>
          <p:nvPr/>
        </p:nvSpPr>
        <p:spPr>
          <a:xfrm>
            <a:off x="457200" y="411480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07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208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209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210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211" name="Shape 5"/>
          <p:cNvSpPr/>
          <p:nvPr/>
        </p:nvSpPr>
        <p:spPr>
          <a:xfrm>
            <a:off x="7132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/>
        </p:spPr>
        <p:txBody>
          <a:bodyPr/>
          <a:p/>
        </p:txBody>
      </p:sp>
      <p:sp>
        <p:nvSpPr>
          <p:cNvPr id="212" name="Shape 6"/>
          <p:cNvSpPr/>
          <p:nvPr/>
        </p:nvSpPr>
        <p:spPr>
          <a:xfrm>
            <a:off x="7132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13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214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0="http://schemas.openxmlformats.org/officeDocument/2006/relationships" ns0:id="rId3"/>
              </a:rPr>
              <a:t>(arXiv 2609.04852 · B 站 FirePKU)</a:t>
            </a:r>
            <a:endParaRPr lang="en-US" sz="950" dirty="0"/>
          </a:p>
        </p:txBody>
      </p:sp>
      <p:sp>
        <p:nvSpPr>
          <p:cNvPr id="215" name="Shape 9"/>
          <p:cNvSpPr/>
          <p:nvPr/>
        </p:nvSpPr>
        <p:spPr>
          <a:xfrm>
            <a:off x="34564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/>
        </p:spPr>
        <p:txBody>
          <a:bodyPr/>
          <a:p/>
        </p:txBody>
      </p:sp>
      <p:sp>
        <p:nvSpPr>
          <p:cNvPr id="216" name="Shape 10"/>
          <p:cNvSpPr/>
          <p:nvPr/>
        </p:nvSpPr>
        <p:spPr>
          <a:xfrm>
            <a:off x="34564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17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218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2="http://schemas.openxmlformats.org/officeDocument/2006/relationships" ns2:id="rId4"/>
              </a:rPr>
              <a:t>kvmem/kvmem：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成体系的验收与回归记录</a:t>
            </a:r>
            <a:endParaRPr lang="en-US" sz="950" dirty="0"/>
          </a:p>
        </p:txBody>
      </p:sp>
      <p:sp>
        <p:nvSpPr>
          <p:cNvPr id="219" name="Shape 13"/>
          <p:cNvSpPr/>
          <p:nvPr/>
        </p:nvSpPr>
        <p:spPr>
          <a:xfrm>
            <a:off x="61996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/>
        </p:spPr>
        <p:txBody>
          <a:bodyPr/>
          <a:p/>
        </p:txBody>
      </p:sp>
      <p:sp>
        <p:nvSpPr>
          <p:cNvPr id="220" name="Shape 14"/>
          <p:cNvSpPr/>
          <p:nvPr/>
        </p:nvSpPr>
        <p:spPr>
          <a:xfrm>
            <a:off x="61996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21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222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4="http://schemas.openxmlformats.org/officeDocument/2006/relationships" ns4:id="rId5"/>
              </a:rPr>
              <a:t>沈三殊——最早把 NInfer × KVMem 结合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6="http://schemas.openxmlformats.org/officeDocument/2006/relationships" ns6:id="rId6"/>
              </a:rPr>
              <a:t>tancau——Ring 环实现 · 直接讨论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8="http://schemas.openxmlformats.org/officeDocument/2006/relationships" ns8:id="rId7"/>
              </a:rPr>
              <a:t>帅气的 zxz——5060Ti 线 · 融合计划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0="http://schemas.openxmlformats.org/officeDocument/2006/relationships" ns10:id="rId8"/>
              </a:rPr>
              <a:t>llama.cpp</a:t>
            </a: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2="http://schemas.openxmlformats.org/officeDocument/2006/relationships" ns12:id="rId9"/>
              </a:rPr>
              <a:t>Neroued/ninfer</a:t>
            </a: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4="http://schemas.openxmlformats.org/officeDocument/2006/relationships" ns14:id="rId10"/>
              </a:rPr>
              <a:t>iamwavecut/ninfer-all</a:t>
            </a:r>
            <a:endParaRPr lang="en-US" sz="950" dirty="0"/>
          </a:p>
        </p:txBody>
      </p:sp>
      <p:sp>
        <p:nvSpPr>
          <p:cNvPr id="223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24" name="Text 1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02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25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26" name="Rectangle 2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 name="Slide 3">
    <p:bg>
      <p:bgPr>
        <a:solidFill>
          <a:srgbClr val="F6F9FB"/>
        </a:solidFill>
      </p:bgPr>
    </p:bg>
    <p:spTree>
      <p:nvGrpSpPr>
        <p:cNvPr id="2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228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229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230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231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28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232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233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234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28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235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236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237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2800"/>
            </a:avLst>
          </a:prstGeom>
          <a:solidFill>
            <a:srgbClr val="9DB4C0"/>
          </a:solidFill>
          <a:ln/>
        </p:spPr>
        <p:txBody>
          <a:bodyPr/>
          <a:p/>
        </p:txBody>
      </p:sp>
      <p:sp>
        <p:nvSpPr>
          <p:cNvPr id="238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239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240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241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0FA3A8"/>
                </a:solidFill>
                <a:latin typeface="Microsoft YaHei"/>
                <a:ea typeface="Microsoft YaHei"/>
              </a:rPr>
              <a:t>03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42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43" name="Rectangle 24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D8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 name="Slide 4">
    <p:bg>
      <p:bgPr>
        <a:solidFill>
          <a:srgbClr val="F6F9FB"/>
        </a:solidFill>
      </p:bgPr>
    </p:bg>
    <p:spTree>
      <p:nvGrpSpPr>
        <p:cNvPr id="2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24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24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247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248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249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250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251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252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253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254" name="Shape 10"/>
          <p:cNvSpPr/>
          <p:nvPr/>
        </p:nvSpPr>
        <p:spPr>
          <a:xfrm>
            <a:off x="5029200" y="1143000"/>
            <a:ext cx="3611880" cy="30632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5" name="Shape 11"/>
          <p:cNvSpPr/>
          <p:nvPr/>
        </p:nvSpPr>
        <p:spPr>
          <a:xfrm>
            <a:off x="5029200" y="1143000"/>
            <a:ext cx="3611880" cy="73152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256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257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258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0FA3A8"/>
                </a:solidFill>
                <a:latin typeface="Microsoft YaHei"/>
                <a:ea typeface="Microsoft YaHei"/>
              </a:rPr>
              <a:t>04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59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60" name="Rectangle 25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D8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 name="Slide 5">
    <p:bg>
      <p:bgPr>
        <a:solidFill>
          <a:srgbClr val="F6F9FB"/>
        </a:solidFill>
      </p:bgPr>
    </p:bg>
    <p:spTree>
      <p:nvGrpSpPr>
        <p:cNvPr id="2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26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26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264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265" name="Shape 4"/>
          <p:cNvSpPr/>
          <p:nvPr/>
        </p:nvSpPr>
        <p:spPr>
          <a:xfrm>
            <a:off x="2377440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266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67" name="Shape 6"/>
          <p:cNvSpPr/>
          <p:nvPr/>
        </p:nvSpPr>
        <p:spPr>
          <a:xfrm>
            <a:off x="3675888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  <p:txBody>
          <a:bodyPr/>
          <a:p/>
        </p:txBody>
      </p:sp>
      <p:sp>
        <p:nvSpPr>
          <p:cNvPr id="268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269" name="Shape 8"/>
          <p:cNvSpPr/>
          <p:nvPr/>
        </p:nvSpPr>
        <p:spPr>
          <a:xfrm>
            <a:off x="4974336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270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1" name="Shape 10"/>
          <p:cNvSpPr/>
          <p:nvPr/>
        </p:nvSpPr>
        <p:spPr>
          <a:xfrm>
            <a:off x="6272784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  <p:txBody>
          <a:bodyPr/>
          <a:p/>
        </p:txBody>
      </p:sp>
      <p:sp>
        <p:nvSpPr>
          <p:cNvPr id="272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273" name="Shape 12"/>
          <p:cNvSpPr/>
          <p:nvPr/>
        </p:nvSpPr>
        <p:spPr>
          <a:xfrm>
            <a:off x="7571232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274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5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276" name="Shape 15"/>
          <p:cNvSpPr/>
          <p:nvPr/>
        </p:nvSpPr>
        <p:spPr>
          <a:xfrm>
            <a:off x="2377440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277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8" name="Shape 17"/>
          <p:cNvSpPr/>
          <p:nvPr/>
        </p:nvSpPr>
        <p:spPr>
          <a:xfrm>
            <a:off x="3675888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279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0" name="Shape 19"/>
          <p:cNvSpPr/>
          <p:nvPr/>
        </p:nvSpPr>
        <p:spPr>
          <a:xfrm>
            <a:off x="4974336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281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2" name="Shape 21"/>
          <p:cNvSpPr/>
          <p:nvPr/>
        </p:nvSpPr>
        <p:spPr>
          <a:xfrm>
            <a:off x="6272784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283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4" name="Shape 23"/>
          <p:cNvSpPr/>
          <p:nvPr/>
        </p:nvSpPr>
        <p:spPr>
          <a:xfrm>
            <a:off x="7571232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285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6" name="Shape 25"/>
          <p:cNvSpPr/>
          <p:nvPr/>
        </p:nvSpPr>
        <p:spPr>
          <a:xfrm>
            <a:off x="2377440" y="2395728"/>
            <a:ext cx="6309360" cy="310896"/>
          </a:xfrm>
          <a:prstGeom prst="roundRect">
            <a:avLst>
              <a:gd name="adj" fmla="val 12500"/>
            </a:avLst>
          </a:prstGeom>
          <a:solidFill>
            <a:srgbClr val="E8F1F5"/>
          </a:solidFill>
          <a:ln/>
        </p:spPr>
        <p:txBody>
          <a:bodyPr/>
          <a:p/>
        </p:txBody>
      </p:sp>
      <p:sp>
        <p:nvSpPr>
          <p:cNvPr id="287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88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r>
              <a:rPr lang="en-US" sz="13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289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290" name="Text 2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0FA3A8"/>
                </a:solidFill>
                <a:latin typeface="Microsoft YaHei"/>
                <a:ea typeface="Microsoft YaHei"/>
              </a:rPr>
              <a:t>05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91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92" name="Rectangle 29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D8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 name="Slide 6">
    <p:bg>
      <p:bgPr>
        <a:solidFill>
          <a:srgbClr val="F6F9FB"/>
        </a:solidFill>
      </p:bgPr>
    </p:bg>
    <p:spTree>
      <p:nvGrpSpPr>
        <p:cNvPr id="2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294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295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异步页流水（Async Page Pipeline）：让搬运和计算同时发生</a:t>
            </a:r>
            <a:endParaRPr lang="en-US" sz="2400" dirty="0"/>
          </a:p>
        </p:txBody>
      </p:sp>
      <p:sp>
        <p:nvSpPr>
          <p:cNvPr id="296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297" name="Shape 4"/>
          <p:cNvSpPr/>
          <p:nvPr/>
        </p:nvSpPr>
        <p:spPr>
          <a:xfrm>
            <a:off x="155448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298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299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300" name="Shape 7"/>
          <p:cNvSpPr/>
          <p:nvPr/>
        </p:nvSpPr>
        <p:spPr>
          <a:xfrm>
            <a:off x="484632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301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302" name="Shape 9"/>
          <p:cNvSpPr/>
          <p:nvPr/>
        </p:nvSpPr>
        <p:spPr>
          <a:xfrm>
            <a:off x="1554480" y="167335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303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304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305" name="Shape 12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06" name="Shape 13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307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308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309" name="Shape 16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0" name="Shape 17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311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312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313" name="Shape 20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4" name="Shape 21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315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316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317" name="Shape 24"/>
          <p:cNvSpPr/>
          <p:nvPr/>
        </p:nvSpPr>
        <p:spPr>
          <a:xfrm>
            <a:off x="46634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8" name="Shape 25"/>
          <p:cNvSpPr/>
          <p:nvPr/>
        </p:nvSpPr>
        <p:spPr>
          <a:xfrm>
            <a:off x="46634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319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320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21" name="Text 2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0FA3A8"/>
                </a:solidFill>
                <a:latin typeface="Microsoft YaHei"/>
                <a:ea typeface="Microsoft YaHei"/>
              </a:rPr>
              <a:t>06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22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23" name="Rectangle 32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D8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 name="Slide 7">
    <p:bg>
      <p:bgPr>
        <a:solidFill>
          <a:srgbClr val="F6F9FB"/>
        </a:solidFill>
      </p:bgPr>
    </p:bg>
    <p:spTree>
      <p:nvGrpSpPr>
        <p:cNvPr id="3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32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32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327" name="Shape 3"/>
          <p:cNvSpPr/>
          <p:nvPr/>
        </p:nvSpPr>
        <p:spPr>
          <a:xfrm>
            <a:off x="54864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28" name="Shape 4"/>
          <p:cNvSpPr/>
          <p:nvPr/>
        </p:nvSpPr>
        <p:spPr>
          <a:xfrm>
            <a:off x="54864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329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330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331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332" name="Shape 8"/>
          <p:cNvSpPr/>
          <p:nvPr/>
        </p:nvSpPr>
        <p:spPr>
          <a:xfrm>
            <a:off x="333756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3" name="Shape 9"/>
          <p:cNvSpPr/>
          <p:nvPr/>
        </p:nvSpPr>
        <p:spPr>
          <a:xfrm>
            <a:off x="333756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334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335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336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337" name="Shape 13"/>
          <p:cNvSpPr/>
          <p:nvPr/>
        </p:nvSpPr>
        <p:spPr>
          <a:xfrm>
            <a:off x="612648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8" name="Shape 14"/>
          <p:cNvSpPr/>
          <p:nvPr/>
        </p:nvSpPr>
        <p:spPr>
          <a:xfrm>
            <a:off x="612648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F59E0B">
              <a:alpha val="100000"/>
            </a:srgbClr>
          </a:solidFill>
          <a:ln/>
        </p:spPr>
        <p:txBody>
          <a:bodyPr/>
          <a:p/>
        </p:txBody>
      </p:sp>
      <p:sp>
        <p:nvSpPr>
          <p:cNvPr id="339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340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341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342" name="Shape 18"/>
          <p:cNvSpPr/>
          <p:nvPr/>
        </p:nvSpPr>
        <p:spPr>
          <a:xfrm>
            <a:off x="548640" y="2816352"/>
            <a:ext cx="8046720" cy="566928"/>
          </a:xfrm>
          <a:prstGeom prst="roundRect">
            <a:avLst>
              <a:gd name="adj" fmla="val 6700"/>
            </a:avLst>
          </a:prstGeom>
          <a:solidFill>
            <a:srgbClr val="0B1F33"/>
          </a:solidFill>
          <a:ln/>
        </p:spPr>
        <p:txBody>
          <a:bodyPr/>
          <a:p/>
        </p:txBody>
      </p:sp>
      <p:sp>
        <p:nvSpPr>
          <p:cNvPr id="343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344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1-3 ms 藏在 27-32 ms 里 → 完全隐藏    ｜    </a:t>
            </a: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345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346" name="Text 22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0FA3A8"/>
                </a:solidFill>
                <a:latin typeface="Microsoft YaHei"/>
                <a:ea typeface="Microsoft YaHei"/>
              </a:rPr>
              <a:t>07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47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48" name="Rectangle 347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D8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 name="Slide 8">
    <p:bg>
      <p:bgPr>
        <a:solidFill>
          <a:srgbClr val="F6F9FB"/>
        </a:solidFill>
      </p:bgPr>
    </p:bg>
    <p:spTree>
      <p:nvGrpSpPr>
        <p:cNvPr id="3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350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351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352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353" name="Shape 4"/>
          <p:cNvSpPr/>
          <p:nvPr/>
        </p:nvSpPr>
        <p:spPr>
          <a:xfrm>
            <a:off x="548640" y="1600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54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355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356" name="Shape 7"/>
          <p:cNvSpPr/>
          <p:nvPr/>
        </p:nvSpPr>
        <p:spPr>
          <a:xfrm>
            <a:off x="306324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357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358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359" name="Shape 10"/>
          <p:cNvSpPr/>
          <p:nvPr/>
        </p:nvSpPr>
        <p:spPr>
          <a:xfrm>
            <a:off x="470916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FA3A8">
              <a:alpha val="100000"/>
            </a:srgbClr>
          </a:solidFill>
          <a:ln/>
        </p:spPr>
        <p:txBody>
          <a:bodyPr/>
          <a:p/>
        </p:txBody>
      </p:sp>
      <p:sp>
        <p:nvSpPr>
          <p:cNvPr id="360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361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362" name="Shape 13"/>
          <p:cNvSpPr/>
          <p:nvPr/>
        </p:nvSpPr>
        <p:spPr>
          <a:xfrm>
            <a:off x="6355080" y="160020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9DB4C0"/>
          </a:solidFill>
          <a:ln/>
        </p:spPr>
        <p:txBody>
          <a:bodyPr/>
          <a:p/>
        </p:txBody>
      </p:sp>
      <p:sp>
        <p:nvSpPr>
          <p:cNvPr id="363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364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365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366" name="Shape 17"/>
          <p:cNvSpPr/>
          <p:nvPr/>
        </p:nvSpPr>
        <p:spPr>
          <a:xfrm>
            <a:off x="548640" y="3566160"/>
            <a:ext cx="8046720" cy="621792"/>
          </a:xfrm>
          <a:prstGeom prst="roundRect">
            <a:avLst>
              <a:gd name="adj" fmla="val 6100"/>
            </a:avLst>
          </a:prstGeom>
          <a:solidFill>
            <a:srgbClr val="0B1F33"/>
          </a:solidFill>
          <a:ln/>
        </p:spPr>
        <p:txBody>
          <a:bodyPr/>
          <a:p/>
        </p:txBody>
      </p:sp>
      <p:sp>
        <p:nvSpPr>
          <p:cNvPr id="367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368" name="Text 1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0FA3A8"/>
                </a:solidFill>
                <a:latin typeface="Microsoft YaHei"/>
                <a:ea typeface="Microsoft YaHei"/>
              </a:rPr>
              <a:t>08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69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70" name="Rectangle 36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D8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 name="Slide 9">
    <p:bg>
      <p:bgPr>
        <a:solidFill>
          <a:srgbClr val="F6F9FB"/>
        </a:solidFill>
      </p:bgPr>
    </p:bg>
    <p:spTree>
      <p:nvGrpSpPr>
        <p:cNvPr id="3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37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37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正确性工程：给“跑腿”立三条规矩</a:t>
            </a:r>
            <a:endParaRPr lang="en-US" sz="2400" dirty="0"/>
          </a:p>
        </p:txBody>
      </p:sp>
      <p:sp>
        <p:nvSpPr>
          <p:cNvPr id="374" name="Text 3"/>
          <p:cNvSpPr/>
          <p:nvPr/>
        </p:nvSpPr>
        <p:spPr>
          <a:xfrm>
            <a:off x="548640" y="10607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 = 请了跑腿小哥（见第 7 页）。规矩立不好会丢件、会搬错——所以我们给他立三条规矩，外加一张“考卷”：</a:t>
            </a:r>
            <a:endParaRPr lang="en-US" sz="1200" dirty="0"/>
          </a:p>
        </p:txBody>
      </p:sp>
      <p:sp>
        <p:nvSpPr>
          <p:cNvPr id="375" name="Text 4"/>
          <p:cNvSpPr/>
          <p:nvPr/>
        </p:nvSpPr>
        <p:spPr>
          <a:xfrm>
            <a:off x="548640" y="151790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规矩一：正在用的书不能搬：</a:t>
            </a: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引擎的“施工图”在启动时就画定（捕获期），运行中不许改——要改就重启，边界清清楚楚</a:t>
            </a:r>
            <a:endParaRPr lang="en-US" sz="1150" dirty="0"/>
          </a:p>
        </p:txBody>
      </p:sp>
      <p:sp>
        <p:nvSpPr>
          <p:cNvPr id="376" name="Text 5"/>
          <p:cNvSpPr/>
          <p:nvPr/>
        </p:nvSpPr>
        <p:spPr>
          <a:xfrm>
            <a:off x="548640" y="20848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规矩二：货没交稳，旧的不扔：</a:t>
            </a: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新副本发布之前，旧的那一份永远不许丢——任何时候都有一份“唯一有效”的数据在手</a:t>
            </a:r>
            <a:endParaRPr lang="en-US" sz="1150" dirty="0"/>
          </a:p>
        </p:txBody>
      </p:sp>
      <p:sp>
        <p:nvSpPr>
          <p:cNvPr id="377" name="Text 6"/>
          <p:cNvSpPr/>
          <p:nvPr/>
        </p:nvSpPr>
        <p:spPr>
          <a:xfrm>
            <a:off x="548640" y="26517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规矩三：订单取消，已出发的必须跑完：</a:t>
            </a: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请求可以取消，但已经在路上的搬运必须排空才能收账——不收“半路失踪”的账</a:t>
            </a:r>
            <a:endParaRPr lang="en-US" sz="1150" dirty="0"/>
          </a:p>
        </p:txBody>
      </p:sp>
      <p:sp>
        <p:nvSpPr>
          <p:cNvPr id="378" name="Shape 7"/>
          <p:cNvSpPr/>
          <p:nvPr/>
        </p:nvSpPr>
        <p:spPr>
          <a:xfrm>
            <a:off x="548640" y="3291840"/>
            <a:ext cx="8046720" cy="658368"/>
          </a:xfrm>
          <a:prstGeom prst="roundRect">
            <a:avLst>
              <a:gd name="adj" fmla="val 5800"/>
            </a:avLst>
          </a:prstGeom>
          <a:solidFill>
            <a:srgbClr val="E8F1F5"/>
          </a:solidFill>
          <a:ln/>
        </p:spPr>
        <p:txBody>
          <a:bodyPr/>
          <a:p/>
        </p:txBody>
      </p:sp>
      <p:sp>
        <p:nvSpPr>
          <p:cNvPr id="379" name="Text 8"/>
          <p:cNvSpPr/>
          <p:nvPr/>
        </p:nvSpPr>
        <p:spPr>
          <a:xfrm>
            <a:off x="777240" y="336499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那张“考卷”（无损门 A2）：</a:t>
            </a: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同一道题，“池内”与“首次超池”两条路径的答卷</a:t>
            </a:r>
            <a:r>
              <a:rPr lang="en-US" sz="11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逐字相同</a:t>
            </a: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——异步只改变搬运时机，不改变模型输出。</a:t>
            </a:r>
            <a:endParaRPr lang="en-US" sz="1150" dirty="0"/>
          </a:p>
        </p:txBody>
      </p:sp>
      <p:sp>
        <p:nvSpPr>
          <p:cNvPr id="380" name="Text 9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r>
              <a:rPr lang="en-US" sz="11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慢峰时搬运会“藏不住”（单批接近步窗）——这就是流水的击穿边界，解法是深流水（见问题页）。</a:t>
            </a:r>
            <a:endParaRPr lang="en-US" sz="1100" dirty="0"/>
          </a:p>
        </p:txBody>
      </p:sp>
      <p:sp>
        <p:nvSpPr>
          <p:cNvPr id="381" name="Text 10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0FA3A8"/>
                </a:solidFill>
                <a:latin typeface="Microsoft YaHei"/>
                <a:ea typeface="Microsoft YaHei"/>
              </a:rPr>
              <a:t>09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82" name="Text 11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83" name="Rectangle 38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D8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0">
    <p:bg>
      <p:bgPr>
        <a:solidFill>
          <a:srgbClr val="F6F9FB"/>
        </a:solidFill>
      </p:bgPr>
    </p:bg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19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 · 2026-10-11~14</a:t>
            </a:r>
            <a:endParaRPr lang="en-US" sz="1100" dirty="0"/>
          </a:p>
        </p:txBody>
      </p:sp>
      <p:sp>
        <p:nvSpPr>
          <p:cNvPr id="20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已实现的阶段：V2 上线初期的成果快照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val="1"/>
                    </a:ext>
                  </a:extLst>
                </a:gridCol>
                <a:gridCol w="4846320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2" name="Text 3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V2 上线初期的成果（10-11 上线当天：首战峰值 333、超池 103-195 tok/s；随后数日陆续补全上表数字）——**不是最新状态**；最新进展（死亡谷攻关 / 深轮 AB 铁证）见第 13-14 页。</a:t>
            </a:r>
            <a:endParaRPr lang="en-US" sz="1000" dirty="0"/>
          </a:p>
        </p:txBody>
      </p:sp>
      <p:sp>
        <p:nvSpPr>
          <p:cNvPr id="23" name="Text 4"/>
          <p:cNvSpPr/>
          <p:nvPr/>
        </p:nvSpPr>
        <p:spPr>
          <a:xfrm>
            <a:off x="548640" y="422452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24" name="Text 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0FA3A8"/>
                </a:solidFill>
                <a:latin typeface="Microsoft YaHei"/>
                <a:ea typeface="Microsoft YaHei"/>
              </a:rPr>
              <a:t>10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5" name="Text 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6" name="Rectangle 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D8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 name="Slide 11">
    <p:bg>
      <p:bgPr>
        <a:solidFill>
          <a:srgbClr val="F6F9FB"/>
        </a:solidFill>
      </p:bgPr>
    </p:bg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28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29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30" name="Shape 3"/>
          <p:cNvSpPr/>
          <p:nvPr/>
        </p:nvSpPr>
        <p:spPr>
          <a:xfrm>
            <a:off x="548640" y="1051560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C0504D"/>
          </a:solidFill>
          <a:ln/>
        </p:spPr>
        <p:txBody>
          <a:bodyPr/>
          <a:p/>
        </p:txBody>
      </p:sp>
      <p:sp>
        <p:nvSpPr>
          <p:cNvPr id="31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32" name="Shape 5"/>
          <p:cNvSpPr/>
          <p:nvPr/>
        </p:nvSpPr>
        <p:spPr>
          <a:xfrm>
            <a:off x="2468880" y="1051560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34" name="Shape 7"/>
          <p:cNvSpPr/>
          <p:nvPr/>
        </p:nvSpPr>
        <p:spPr>
          <a:xfrm>
            <a:off x="548640" y="1746504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35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36" name="Shape 9"/>
          <p:cNvSpPr/>
          <p:nvPr/>
        </p:nvSpPr>
        <p:spPr>
          <a:xfrm>
            <a:off x="2468880" y="1746504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7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38" name="Shape 11"/>
          <p:cNvSpPr/>
          <p:nvPr/>
        </p:nvSpPr>
        <p:spPr>
          <a:xfrm>
            <a:off x="548640" y="2441448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39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40" name="Shape 13"/>
          <p:cNvSpPr/>
          <p:nvPr/>
        </p:nvSpPr>
        <p:spPr>
          <a:xfrm>
            <a:off x="2468880" y="2441448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1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42" name="Shape 15"/>
          <p:cNvSpPr/>
          <p:nvPr/>
        </p:nvSpPr>
        <p:spPr>
          <a:xfrm>
            <a:off x="548640" y="3136392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43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44" name="Shape 17"/>
          <p:cNvSpPr/>
          <p:nvPr/>
        </p:nvSpPr>
        <p:spPr>
          <a:xfrm>
            <a:off x="2468880" y="3136392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5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46" name="Shape 19"/>
          <p:cNvSpPr/>
          <p:nvPr/>
        </p:nvSpPr>
        <p:spPr>
          <a:xfrm>
            <a:off x="548640" y="3831336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B07A00"/>
          </a:solidFill>
          <a:ln/>
        </p:spPr>
        <p:txBody>
          <a:bodyPr/>
          <a:p/>
        </p:txBody>
      </p:sp>
      <p:sp>
        <p:nvSpPr>
          <p:cNvPr id="47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48" name="Shape 21"/>
          <p:cNvSpPr/>
          <p:nvPr/>
        </p:nvSpPr>
        <p:spPr>
          <a:xfrm>
            <a:off x="2468880" y="3831336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9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50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51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0FA3A8"/>
                </a:solidFill>
                <a:latin typeface="Microsoft YaHei"/>
                <a:ea typeface="Microsoft YaHei"/>
              </a:rPr>
              <a:t>11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52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53" name="Rectangle 5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D8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 name="Slide 12">
    <p:bg>
      <p:bgPr>
        <a:solidFill>
          <a:srgbClr val="F6F9FB"/>
        </a:solidFill>
      </p:bgPr>
    </p:bg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5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5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7" name="Shape 3"/>
          <p:cNvSpPr/>
          <p:nvPr/>
        </p:nvSpPr>
        <p:spPr>
          <a:xfrm>
            <a:off x="548640" y="1097280"/>
            <a:ext cx="3886200" cy="2148840"/>
          </a:xfrm>
          <a:prstGeom prst="roundRect">
            <a:avLst>
              <a:gd name="adj" fmla="val 18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8" name="Shape 4"/>
          <p:cNvSpPr/>
          <p:nvPr/>
        </p:nvSpPr>
        <p:spPr>
          <a:xfrm>
            <a:off x="54864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  <p:txBody>
          <a:bodyPr/>
          <a:p/>
        </p:txBody>
      </p:sp>
      <p:sp>
        <p:nvSpPr>
          <p:cNvPr id="59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60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级（深端可达秒级）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 / 满频，但功耗极低、显存几乎不动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曾以“小时级窗口”极难复现——现已可按需制造（见右）</a:t>
            </a:r>
            <a:endParaRPr lang="en-US" sz="950" dirty="0"/>
          </a:p>
        </p:txBody>
      </p:sp>
      <p:sp>
        <p:nvSpPr>
          <p:cNvPr id="61" name="Shape 7"/>
          <p:cNvSpPr/>
          <p:nvPr/>
        </p:nvSpPr>
        <p:spPr>
          <a:xfrm>
            <a:off x="4709160" y="1097280"/>
            <a:ext cx="3886200" cy="2148840"/>
          </a:xfrm>
          <a:prstGeom prst="roundRect">
            <a:avLst>
              <a:gd name="adj" fmla="val 18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2" name="Shape 8"/>
          <p:cNvSpPr/>
          <p:nvPr/>
        </p:nvSpPr>
        <p:spPr>
          <a:xfrm>
            <a:off x="470916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63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攻关进展（最新）</a:t>
            </a:r>
            <a:endParaRPr lang="en-US" sz="1300" dirty="0"/>
          </a:p>
        </p:txBody>
      </p:sp>
      <p:sp>
        <p:nvSpPr>
          <p:cNvPr id="64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谷档（1/25）稳定可造、释放即恢复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深档（≈1/100）受时窗支配：窗内 4/4 命中（含重启首持）；窗外 8/8 谷档——“重启即复现”被证伪，时窗开合未知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00" dirty="0"/>
          </a:p>
        </p:txBody>
      </p:sp>
      <p:sp>
        <p:nvSpPr>
          <p:cNvPr id="65" name="Shape 11"/>
          <p:cNvSpPr/>
          <p:nvPr/>
        </p:nvSpPr>
        <p:spPr>
          <a:xfrm>
            <a:off x="548640" y="3383280"/>
            <a:ext cx="8046720" cy="713232"/>
          </a:xfrm>
          <a:prstGeom prst="roundRect">
            <a:avLst>
              <a:gd name="adj" fmla="val 5400"/>
            </a:avLst>
          </a:prstGeom>
          <a:solidFill>
            <a:srgbClr val="FFF4DC"/>
          </a:solidFill>
          <a:ln/>
        </p:spPr>
        <p:txBody>
          <a:bodyPr/>
          <a:p/>
        </p:txBody>
      </p:sp>
      <p:sp>
        <p:nvSpPr>
          <p:cNvPr id="66" name="Shape 12"/>
          <p:cNvSpPr/>
          <p:nvPr/>
        </p:nvSpPr>
        <p:spPr>
          <a:xfrm>
            <a:off x="548640" y="3383280"/>
            <a:ext cx="109728" cy="7132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67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</a:t>
            </a: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外部算力 / 拷贝 / 节流全部正常。</a:t>
            </a:r>
            <a:endParaRPr lang="en-US" sz="1000" dirty="0"/>
          </a:p>
        </p:txBody>
      </p:sp>
      <p:sp>
        <p:nvSpPr>
          <p:cNvPr id="68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里程碑：谷档可按需复现（约 1.2 GiB 外部显存压力）；深档受机器态时窗支配（窗内 4/4、窗外 8/8，开合条件解析中）；3 步、约 2 分钟的最小复现协议已备好供上游 / 驱动侧研判。仍待解：自然状态下的触发源。</a:t>
            </a:r>
            <a:endParaRPr lang="en-US" sz="1050" dirty="0"/>
          </a:p>
        </p:txBody>
      </p:sp>
      <p:sp>
        <p:nvSpPr>
          <p:cNvPr id="69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0FA3A8"/>
                </a:solidFill>
                <a:latin typeface="Microsoft YaHei"/>
                <a:ea typeface="Microsoft YaHei"/>
              </a:rPr>
              <a:t>12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70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71" name="Rectangle 70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D8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 name="Slide 13">
    <p:bg>
      <p:bgPr>
        <a:solidFill>
          <a:srgbClr val="F6F9FB"/>
        </a:solidFill>
      </p:bgPr>
    </p:bg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7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</a:t>
            </a:r>
            <a:endParaRPr lang="en-US" sz="1100" dirty="0"/>
          </a:p>
        </p:txBody>
      </p:sp>
      <p:sp>
        <p:nvSpPr>
          <p:cNvPr id="7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追捕进行时：真凶未获，但包围圈在收紧</a:t>
            </a:r>
            <a:endParaRPr lang="en-US" sz="2400" dirty="0"/>
          </a:p>
        </p:txBody>
      </p:sp>
      <p:sp>
        <p:nvSpPr>
          <p:cNvPr id="75" name="Text 3"/>
          <p:cNvSpPr/>
          <p:nvPr/>
        </p:nvSpPr>
        <p:spPr>
          <a:xfrm>
            <a:off x="548640" y="102412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追凶已连续 </a:t>
            </a:r>
            <a:r>
              <a:rPr lang="en-US" sz="105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小时（5 昼夜）不间断</a:t>
            </a: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（10-11 → 10-16）：全程工程化受控压测 + 现场取证；中途顺手修复和改进了大量问题（仪表缺陷、回归、自伤 bug 等）。今天（10-16）再次进行异步页流水极深池 AB 测试——结果见下页。</a:t>
            </a:r>
            <a:endParaRPr lang="en-US" sz="1050" dirty="0"/>
          </a:p>
        </p:txBody>
      </p:sp>
      <p:sp>
        <p:nvSpPr>
          <p:cNvPr id="76" name="Shape 4"/>
          <p:cNvSpPr/>
          <p:nvPr/>
        </p:nvSpPr>
        <p:spPr>
          <a:xfrm>
            <a:off x="54864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7" name="Shape 5"/>
          <p:cNvSpPr/>
          <p:nvPr/>
        </p:nvSpPr>
        <p:spPr>
          <a:xfrm>
            <a:off x="54864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78" name="Text 6"/>
          <p:cNvSpPr/>
          <p:nvPr/>
        </p:nvSpPr>
        <p:spPr>
          <a:xfrm>
            <a:off x="77724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异步的贡献：同条件对照铁证</a:t>
            </a:r>
            <a:endParaRPr lang="en-US" sz="1300" dirty="0"/>
          </a:p>
        </p:txBody>
      </p:sp>
      <p:sp>
        <p:nvSpPr>
          <p:cNvPr id="79" name="Text 7"/>
          <p:cNvSpPr/>
          <p:nvPr/>
        </p:nvSpPr>
        <p:spPr>
          <a:xfrm>
            <a:off x="77724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深轮重载（2.3-3.5× 超池）拆掉异步：decode 拖慢约 20%（r=0.80）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超池）：≈ 2.0 倍差（235.6 vs 119.4 tok/s）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停机（ring STALL）：33 → 2 次（约 16×）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浅载/单发：打平（r=1.13）⇒ 口径：“看工作集深度”</a:t>
            </a:r>
            <a:endParaRPr lang="en-US" sz="900" dirty="0"/>
          </a:p>
        </p:txBody>
      </p:sp>
      <p:sp>
        <p:nvSpPr>
          <p:cNvPr id="80" name="Shape 8"/>
          <p:cNvSpPr/>
          <p:nvPr/>
        </p:nvSpPr>
        <p:spPr>
          <a:xfrm>
            <a:off x="470916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1" name="Shape 9"/>
          <p:cNvSpPr/>
          <p:nvPr/>
        </p:nvSpPr>
        <p:spPr>
          <a:xfrm>
            <a:off x="470916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82" name="Text 10"/>
          <p:cNvSpPr/>
          <p:nvPr/>
        </p:nvSpPr>
        <p:spPr>
          <a:xfrm>
            <a:off x="493776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嫌疑范围：不断收紧的排除法</a:t>
            </a:r>
            <a:endParaRPr lang="en-US" sz="1300" dirty="0"/>
          </a:p>
        </p:txBody>
      </p:sp>
      <p:sp>
        <p:nvSpPr>
          <p:cNvPr id="83" name="Text 11"/>
          <p:cNvSpPr/>
          <p:nvPr/>
        </p:nvSpPr>
        <p:spPr>
          <a:xfrm>
            <a:off x="493776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已出局：PDL（原最大嫌疑）· 页中转 · 宿主路径 · 页档位 · 池大小 · 驱动节流——逐项实测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已锁定：时间全在 host 侧提交调用（submit≈wall）⇒ 驱动内部阻塞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已可按需复现（外部显存压力协议）：不再“等窗口”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现存嫌疑人：驱动提交路径内部 · 自然触发源 · 叠加态假说</a:t>
            </a:r>
            <a:endParaRPr lang="en-US" sz="900" dirty="0"/>
          </a:p>
        </p:txBody>
      </p:sp>
      <p:sp>
        <p:nvSpPr>
          <p:cNvPr id="84" name="Shape 12"/>
          <p:cNvSpPr/>
          <p:nvPr/>
        </p:nvSpPr>
        <p:spPr>
          <a:xfrm>
            <a:off x="548640" y="3419856"/>
            <a:ext cx="8046720" cy="676656"/>
          </a:xfrm>
          <a:prstGeom prst="roundRect">
            <a:avLst>
              <a:gd name="adj" fmla="val 5700"/>
            </a:avLst>
          </a:prstGeom>
          <a:solidFill>
            <a:srgbClr val="FFF4DC"/>
          </a:solidFill>
          <a:ln/>
        </p:spPr>
        <p:txBody>
          <a:bodyPr/>
          <a:p/>
        </p:txBody>
      </p:sp>
      <p:sp>
        <p:nvSpPr>
          <p:cNvPr id="85" name="Shape 13"/>
          <p:cNvSpPr/>
          <p:nvPr/>
        </p:nvSpPr>
        <p:spPr>
          <a:xfrm>
            <a:off x="548640" y="3419856"/>
            <a:ext cx="109728" cy="67665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86" name="Text 14"/>
          <p:cNvSpPr/>
          <p:nvPr/>
        </p:nvSpPr>
        <p:spPr>
          <a:xfrm>
            <a:off x="777240" y="3474720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真凶未获，但猎捕方式已从“等它出现”变成“随时造它出来”</a:t>
            </a: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——剩下的问题：把提交路径上的具体阻塞点钉到行号级（驱动侧定位 + 现场取证并行推进）。</a:t>
            </a:r>
            <a:endParaRPr lang="en-US" sz="1100" dirty="0"/>
          </a:p>
        </p:txBody>
      </p:sp>
      <p:sp>
        <p:nvSpPr>
          <p:cNvPr id="87" name="Text 15"/>
          <p:cNvSpPr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备注：异步收益的对照证据口径 = n=3/臂、单机、健康期；谷期影响未覆盖（留作后续）。</a:t>
            </a:r>
            <a:endParaRPr lang="en-US" sz="1050" dirty="0"/>
          </a:p>
        </p:txBody>
      </p:sp>
      <p:sp>
        <p:nvSpPr>
          <p:cNvPr id="88" name="Text 16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0FA3A8"/>
                </a:solidFill>
                <a:latin typeface="Microsoft YaHei"/>
                <a:ea typeface="Microsoft YaHei"/>
              </a:rPr>
              <a:t>13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89" name="Text 17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90" name="Rectangle 8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D8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4">
    <p:bg>
      <p:bgPr>
        <a:solidFill>
          <a:srgbClr val="F6F9FB"/>
        </a:solidFill>
      </p:bgPr>
    </p:bg>
    <p:spTree>
      <p:nvGrpSpPr>
        <p:cNvPr id="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9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9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异步贡献的判决实验：极深池 AB 对照（2026-10-16）</a:t>
            </a:r>
            <a:endParaRPr lang="en-US" sz="24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/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val="1"/>
                    </a:ext>
                  </a:extLst>
                </a:gridCol>
                <a:gridCol w="548640">
                  <a:extLst>
                    <a:ext uri="{9D8B030D-6E8A-4147-A177-3AD203B41FA5}">
                      <a16:colId val="2"/>
                    </a:ext>
                  </a:extLst>
                </a:gridCol>
                <a:gridCol w="1645920">
                  <a:extLst>
                    <a:ext uri="{9D8B030D-6E8A-4147-A177-3AD203B41FA5}">
                      <a16:colId val="3"/>
                    </a:ext>
                  </a:extLst>
                </a:gridCol>
                <a:gridCol w="1371600">
                  <a:extLst>
                    <a:ext uri="{9D8B030D-6E8A-4147-A177-3AD203B41FA5}">
                      <a16:colId val="4"/>
                    </a:ext>
                  </a:extLst>
                </a:gridCol>
                <a:gridCol w="1371600">
                  <a:extLst>
                    <a:ext uri="{9D8B030D-6E8A-4147-A177-3AD203B41FA5}">
                      <a16:colId val="5"/>
                    </a:ext>
                  </a:extLst>
                </a:gridCol>
                <a:gridCol w="1280160">
                  <a:extLst>
                    <a:ext uri="{9D8B030D-6E8A-4147-A177-3AD203B41FA5}">
                      <a16:colId val="6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round1（1.15× 超池）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round2（2.3×）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round3（3.5×）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深段均值(r2,r3)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OFF（同步回退）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327.6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218.9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223.5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332.0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107.5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149.5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ON（异步）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285.7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237.3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195.0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235.6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95" name="Text 3"/>
          <p:cNvSpPr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实验数据：上下文 ~75.3K → ~152K → ~229K token（池 65,536 ⇒ 超池 1.15× / 2.3× / 3.5×）；每轮长输出 max 2000 token；轮间前缀缓存部分复用（49.3% / 66.4%）；两臂仅差 NINFER_ASYNC_DEMOTE 开关</a:t>
            </a:r>
            <a:endParaRPr lang="en-US" sz="900" dirty="0"/>
          </a:p>
        </p:txBody>
      </p:sp>
      <p:sp>
        <p:nvSpPr>
          <p:cNvPr id="96" name="Text 4"/>
          <p:cNvSpPr/>
          <p:nvPr/>
        </p:nvSpPr>
        <p:spPr>
          <a:xfrm>
            <a:off x="548640" y="3657600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主判据：</a:t>
            </a: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 深段 median 188.1 vs ON 234.9 ⇒ r = 0.80 &lt; 0.85：异步净收益成立；三轮配对 ON 全胜</a:t>
            </a:r>
            <a:endParaRPr lang="en-US" sz="1050" dirty="0"/>
          </a:p>
        </p:txBody>
      </p:sp>
      <p:sp>
        <p:nvSpPr>
          <p:cNvPr id="97" name="Text 5"/>
          <p:cNvSpPr/>
          <p:nvPr/>
        </p:nvSpPr>
        <p:spPr>
          <a:xfrm>
            <a:off x="548640" y="3959352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</a:t>
            </a: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119.4 vs 235.6 ≈ 2.0 倍；停机（ring STALL）33 → 2 次（约 16×）</a:t>
            </a:r>
            <a:endParaRPr lang="en-US" sz="1050" dirty="0"/>
          </a:p>
        </p:txBody>
      </p:sp>
      <p:sp>
        <p:nvSpPr>
          <p:cNvPr id="98" name="Text 6"/>
          <p:cNvSpPr/>
          <p:nvPr/>
        </p:nvSpPr>
        <p:spPr>
          <a:xfrm>
            <a:off x="548640" y="4261104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浅载对照（同日单发）：</a:t>
            </a: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1.13 打平 ⇒ 口径：价值随工作集深度上升而显现——异步正是为深载设计的</a:t>
            </a:r>
            <a:endParaRPr lang="en-US" sz="1050" dirty="0"/>
          </a:p>
        </p:txBody>
      </p:sp>
      <p:sp>
        <p:nvSpPr>
          <p:cNvPr id="99" name="Text 7"/>
          <p:cNvSpPr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诚实备注：n=3/臂、单机、健康期；同步臂未“死”——历史“v2 前多轮必死”的更强主张未复现（观测为“可用但慢”）；**且本次未现死亡谷，可能因前序多轮修复已碰巧缓解了该状态**（未在对照中复现，待后续验证）。</a:t>
            </a:r>
            <a:endParaRPr lang="en-US" sz="900" dirty="0"/>
          </a:p>
        </p:txBody>
      </p:sp>
      <p:sp>
        <p:nvSpPr>
          <p:cNvPr id="100" name="Text 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0FA3A8"/>
                </a:solidFill>
                <a:latin typeface="Microsoft YaHei"/>
                <a:ea typeface="Microsoft YaHei"/>
              </a:rPr>
              <a:t>14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01" name="Text 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02" name="Rectangle 10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D8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 name="Slide 15">
    <p:bg>
      <p:bgPr>
        <a:solidFill>
          <a:srgbClr val="F6F9FB"/>
        </a:solidFill>
      </p:bgPr>
    </p:bg>
    <p:spTree>
      <p:nvGrpSpPr>
        <p:cNvPr id="1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104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105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106" name="Shape 3"/>
          <p:cNvSpPr/>
          <p:nvPr/>
        </p:nvSpPr>
        <p:spPr>
          <a:xfrm>
            <a:off x="5486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7" name="Shape 4"/>
          <p:cNvSpPr/>
          <p:nvPr/>
        </p:nvSpPr>
        <p:spPr>
          <a:xfrm>
            <a:off x="5486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  <p:txBody>
          <a:bodyPr/>
          <a:p/>
        </p:txBody>
      </p:sp>
      <p:sp>
        <p:nvSpPr>
          <p:cNvPr id="108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109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110" name="Shape 7"/>
          <p:cNvSpPr/>
          <p:nvPr/>
        </p:nvSpPr>
        <p:spPr>
          <a:xfrm>
            <a:off x="46634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1" name="Shape 8"/>
          <p:cNvSpPr/>
          <p:nvPr/>
        </p:nvSpPr>
        <p:spPr>
          <a:xfrm>
            <a:off x="46634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  <p:txBody>
          <a:bodyPr/>
          <a:p/>
        </p:txBody>
      </p:sp>
      <p:sp>
        <p:nvSpPr>
          <p:cNvPr id="112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13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14" name="Shape 11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5" name="Shape 12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  <p:txBody>
          <a:bodyPr/>
          <a:p/>
        </p:txBody>
      </p:sp>
      <p:sp>
        <p:nvSpPr>
          <p:cNvPr id="116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17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18" name="Shape 15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9" name="Shape 16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  <p:txBody>
          <a:bodyPr/>
          <a:p/>
        </p:txBody>
      </p:sp>
      <p:sp>
        <p:nvSpPr>
          <p:cNvPr id="120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121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仍是拷贝；原作者已实现“所有权移动”——追赶中。落地后用按需协议做拷贝版 vs 移动版对照（入谷率/谷深），并测对暴露面的作用</a:t>
            </a:r>
            <a:endParaRPr lang="en-US" sz="950" dirty="0"/>
          </a:p>
        </p:txBody>
      </p:sp>
      <p:sp>
        <p:nvSpPr>
          <p:cNvPr id="122" name="Shape 19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3" name="Shape 20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  <p:txBody>
          <a:bodyPr/>
          <a:p/>
        </p:txBody>
      </p:sp>
      <p:sp>
        <p:nvSpPr>
          <p:cNvPr id="124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125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126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127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0FA3A8"/>
                </a:solidFill>
                <a:latin typeface="Microsoft YaHei"/>
                <a:ea typeface="Microsoft YaHei"/>
              </a:rPr>
              <a:t>15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28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29" name="Rectangle 12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D8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 name="Slide 16">
    <p:bg>
      <p:bgPr>
        <a:solidFill>
          <a:srgbClr val="F6F9FB"/>
        </a:solidFill>
      </p:bgPr>
    </p:bg>
    <p:spTree>
      <p:nvGrpSpPr>
        <p:cNvPr id="1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131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132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133" name="Shape 3"/>
          <p:cNvSpPr/>
          <p:nvPr/>
        </p:nvSpPr>
        <p:spPr>
          <a:xfrm>
            <a:off x="548640" y="102412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4" name="Shape 4"/>
          <p:cNvSpPr/>
          <p:nvPr/>
        </p:nvSpPr>
        <p:spPr>
          <a:xfrm>
            <a:off x="548640" y="102412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135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136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137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38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39" name="Shape 9"/>
          <p:cNvSpPr/>
          <p:nvPr/>
        </p:nvSpPr>
        <p:spPr>
          <a:xfrm>
            <a:off x="548640" y="1645920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0" name="Shape 10"/>
          <p:cNvSpPr/>
          <p:nvPr/>
        </p:nvSpPr>
        <p:spPr>
          <a:xfrm>
            <a:off x="548640" y="1645920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141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142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43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44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45" name="Shape 15"/>
          <p:cNvSpPr/>
          <p:nvPr/>
        </p:nvSpPr>
        <p:spPr>
          <a:xfrm>
            <a:off x="548640" y="2267712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6" name="Shape 16"/>
          <p:cNvSpPr/>
          <p:nvPr/>
        </p:nvSpPr>
        <p:spPr>
          <a:xfrm>
            <a:off x="548640" y="2267712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147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148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149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150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151" name="Shape 21"/>
          <p:cNvSpPr/>
          <p:nvPr/>
        </p:nvSpPr>
        <p:spPr>
          <a:xfrm>
            <a:off x="548640" y="2889504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2" name="Shape 22"/>
          <p:cNvSpPr/>
          <p:nvPr/>
        </p:nvSpPr>
        <p:spPr>
          <a:xfrm>
            <a:off x="548640" y="2889504"/>
            <a:ext cx="91440" cy="530352"/>
          </a:xfrm>
          <a:prstGeom prst="roundRect">
            <a:avLst>
              <a:gd name="adj" fmla="val 50000"/>
            </a:avLst>
          </a:prstGeom>
          <a:solidFill>
            <a:srgbClr val="F59E0B">
              <a:alpha val="100000"/>
            </a:srgbClr>
          </a:solidFill>
          <a:ln/>
        </p:spPr>
        <p:txBody>
          <a:bodyPr/>
          <a:p/>
        </p:txBody>
      </p:sp>
      <p:sp>
        <p:nvSpPr>
          <p:cNvPr id="153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B07A00"/>
          </a:solidFill>
          <a:ln/>
        </p:spPr>
        <p:txBody>
          <a:bodyPr/>
          <a:p/>
        </p:txBody>
      </p:sp>
      <p:sp>
        <p:nvSpPr>
          <p:cNvPr id="154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155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156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驱动提交阻塞的上游定位（3 步最小复现已备）；自然触发源追查</a:t>
            </a:r>
            <a:endParaRPr lang="en-US" sz="950" dirty="0"/>
          </a:p>
        </p:txBody>
      </p:sp>
      <p:sp>
        <p:nvSpPr>
          <p:cNvPr id="157" name="Shape 27"/>
          <p:cNvSpPr/>
          <p:nvPr/>
        </p:nvSpPr>
        <p:spPr>
          <a:xfrm>
            <a:off x="548640" y="3511296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8" name="Shape 28"/>
          <p:cNvSpPr/>
          <p:nvPr/>
        </p:nvSpPr>
        <p:spPr>
          <a:xfrm>
            <a:off x="548640" y="3511296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159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160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161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162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163" name="Shape 33"/>
          <p:cNvSpPr/>
          <p:nvPr/>
        </p:nvSpPr>
        <p:spPr>
          <a:xfrm>
            <a:off x="548640" y="413308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4" name="Shape 34"/>
          <p:cNvSpPr/>
          <p:nvPr/>
        </p:nvSpPr>
        <p:spPr>
          <a:xfrm>
            <a:off x="548640" y="413308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65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66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167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168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169" name="Text 3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0FA3A8"/>
                </a:solidFill>
                <a:latin typeface="Microsoft YaHei"/>
                <a:ea typeface="Microsoft YaHei"/>
              </a:rPr>
              <a:t>16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70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71" name="Rectangle 170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D8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 name="Slide 17">
    <p:bg>
      <p:bgPr>
        <a:solidFill>
          <a:srgbClr val="F6F9FB"/>
        </a:solidFill>
      </p:bgPr>
    </p:bg>
    <p:spTree>
      <p:nvGrpSpPr>
        <p:cNvPr id="1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17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 OPEN SOURCE</a:t>
            </a:r>
            <a:endParaRPr lang="en-US" sz="1100" dirty="0"/>
          </a:p>
        </p:txBody>
      </p:sp>
      <p:sp>
        <p:nvSpPr>
          <p:cNvPr id="17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为什么要开源这份工作</a:t>
            </a:r>
            <a:endParaRPr lang="en-US" sz="2400" dirty="0"/>
          </a:p>
        </p:txBody>
      </p:sp>
      <p:sp>
        <p:nvSpPr>
          <p:cNvPr id="175" name="Shape 3"/>
          <p:cNvSpPr/>
          <p:nvPr/>
        </p:nvSpPr>
        <p:spPr>
          <a:xfrm>
            <a:off x="54864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6" name="Shape 4"/>
          <p:cNvSpPr/>
          <p:nvPr/>
        </p:nvSpPr>
        <p:spPr>
          <a:xfrm>
            <a:off x="54864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17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缘起：到火候了就开门</a:t>
            </a:r>
            <a:endParaRPr lang="en-US" sz="1300" dirty="0"/>
          </a:p>
        </p:txBody>
      </p:sp>
      <p:sp>
        <p:nvSpPr>
          <p:cNvPr id="178" name="Text 6"/>
          <p:cNvSpPr/>
          <p:nvPr/>
        </p:nvSpPr>
        <p:spPr>
          <a:xfrm>
            <a:off x="77724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技术已达“限定场景生产可用”：单路长上下文 Agent 会话（显存独占）实跑验证通过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但最大未解课题（时段性慢态）已超出单线攻关的带宽——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= 借社区 / 上游 / 驱动侧协同攻关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我们已备好”换帮助”的钥匙：约 2 分钟的最小复现协议（可随时造出该状态）</a:t>
            </a:r>
            <a:endParaRPr lang="en-US" sz="950" dirty="0"/>
          </a:p>
        </p:txBody>
      </p:sp>
      <p:sp>
        <p:nvSpPr>
          <p:cNvPr id="179" name="Shape 7"/>
          <p:cNvSpPr/>
          <p:nvPr/>
        </p:nvSpPr>
        <p:spPr>
          <a:xfrm>
            <a:off x="470916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8E3EA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0" name="Shape 8"/>
          <p:cNvSpPr/>
          <p:nvPr/>
        </p:nvSpPr>
        <p:spPr>
          <a:xfrm>
            <a:off x="470916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4C6E"/>
          </a:solidFill>
          <a:ln/>
        </p:spPr>
        <p:txBody>
          <a:bodyPr/>
          <a:p/>
        </p:txBody>
      </p:sp>
      <p:sp>
        <p:nvSpPr>
          <p:cNvPr id="18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定位与承诺（口径先行）</a:t>
            </a:r>
            <a:endParaRPr lang="en-US" sz="1300" dirty="0"/>
          </a:p>
        </p:txBody>
      </p:sp>
      <p:sp>
        <p:nvSpPr>
          <p:cNvPr id="182" name="Text 10"/>
          <p:cNvSpPr/>
          <p:nvPr/>
        </p:nvSpPr>
        <p:spPr>
          <a:xfrm>
            <a:off x="493776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定位：“研究性工程 + 限定场景生产可用”；多路并发未覆盖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① 进谷可控：指纹可检测 / 分钟级自愈 / 回避手段已确证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② 输出无损：池内 vs 超池逐字相同（A2 门）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不承诺：永不进谷（触发源未解）；通用生产级</a:t>
            </a:r>
            <a:endParaRPr lang="en-US" sz="950" dirty="0"/>
          </a:p>
        </p:txBody>
      </p:sp>
      <p:sp>
        <p:nvSpPr>
          <p:cNvPr id="183" name="Shape 11"/>
          <p:cNvSpPr/>
          <p:nvPr/>
        </p:nvSpPr>
        <p:spPr>
          <a:xfrm>
            <a:off x="548640" y="3657600"/>
            <a:ext cx="8046720" cy="713232"/>
          </a:xfrm>
          <a:prstGeom prst="roundRect">
            <a:avLst>
              <a:gd name="adj" fmla="val 5400"/>
            </a:avLst>
          </a:prstGeom>
          <a:solidFill>
            <a:srgbClr val="FFF4DC"/>
          </a:solidFill>
          <a:ln/>
        </p:spPr>
        <p:txBody>
          <a:bodyPr/>
          <a:p/>
        </p:txBody>
      </p:sp>
      <p:sp>
        <p:nvSpPr>
          <p:cNvPr id="184" name="Shape 12"/>
          <p:cNvSpPr/>
          <p:nvPr/>
        </p:nvSpPr>
        <p:spPr>
          <a:xfrm>
            <a:off x="548640" y="3657600"/>
            <a:ext cx="109728" cy="7132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85" name="Text 13"/>
          <p:cNvSpPr/>
          <p:nvPr/>
        </p:nvSpPr>
        <p:spPr>
          <a:xfrm>
            <a:off x="777240" y="371246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我们希望换到的：</a:t>
            </a: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不是“夸赞”，而是</a:t>
            </a:r>
            <a:r>
              <a:rPr lang="en-US" sz="11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同路人的线索与判决</a:t>
            </a: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——谁在驱动侧见过提交阻塞、谁复现过同样的慢态、谁能一起把行号级的根因钉死。</a:t>
            </a:r>
            <a:endParaRPr lang="en-US" sz="1100" dirty="0"/>
          </a:p>
        </p:txBody>
      </p:sp>
      <p:sp>
        <p:nvSpPr>
          <p:cNvPr id="186" name="Text 14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说明：本页口径来自发布前检查清单（docs/发布前事项-…-20261016.md）§0 与缘起段。</a:t>
            </a:r>
            <a:endParaRPr lang="en-US" sz="900" dirty="0"/>
          </a:p>
        </p:txBody>
      </p:sp>
      <p:sp>
        <p:nvSpPr>
          <p:cNvPr id="187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0FA3A8"/>
                </a:solidFill>
                <a:latin typeface="Microsoft YaHei"/>
                <a:ea typeface="Microsoft YaHei"/>
              </a:rPr>
              <a:t>17</a:t>
            </a:r>
            <a:r>
              <a:rPr sz="900">
                <a:solidFill>
                  <a:srgbClr val="9FB8C8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8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89" name="Rectangle 18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D8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 name="Slide 18">
    <p:bg>
      <p:bgPr>
        <a:solidFill>
          <a:srgbClr val="0B1F33"/>
        </a:solidFill>
      </p:bgPr>
    </p:bg>
    <p:spTree>
      <p:nvGrpSpPr>
        <p:cNvPr id="1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457200" y="640080"/>
            <a:ext cx="128016" cy="640080"/>
          </a:xfrm>
          <a:prstGeom prst="roundRect">
            <a:avLst>
              <a:gd name="adj" fmla="val 50000"/>
            </a:avLst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191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192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193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194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196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197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98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99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  <p:txBody>
          <a:bodyPr/>
          <a:p/>
        </p:txBody>
      </p:sp>
      <p:sp>
        <p:nvSpPr>
          <p:cNvPr id="200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01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202" name="Shape 12"/>
          <p:cNvSpPr/>
          <p:nvPr/>
        </p:nvSpPr>
        <p:spPr>
          <a:xfrm>
            <a:off x="822960" y="3977640"/>
            <a:ext cx="7498080" cy="566928"/>
          </a:xfrm>
          <a:prstGeom prst="roundRect">
            <a:avLst>
              <a:gd name="adj" fmla="val 6700"/>
            </a:avLst>
          </a:prstGeom>
          <a:solidFill>
            <a:srgbClr val="13314D"/>
          </a:solidFill>
          <a:ln/>
        </p:spPr>
        <p:txBody>
          <a:bodyPr/>
          <a:p/>
        </p:txBody>
      </p:sp>
      <p:sp>
        <p:nvSpPr>
          <p:cNvPr id="203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204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xmlns:thm15="http://schemas.microsoft.com/office/thememl/2012/main" xmlns:mc="http://schemas.openxmlformats.org/markup-compatibility/2006" name="Office 主题​​" mc:Ignorable="thm15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2026-10-17T01:46:31Z</dcterms:created>
  <dcterms:modified xsi:type="dcterms:W3CDTF">2026-10-17T01:46:31Z</dcterms:modified>
</cp:coreProperties>
</file>