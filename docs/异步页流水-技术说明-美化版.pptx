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0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0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0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0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0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0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0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0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0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0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0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0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0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0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0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0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0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0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.xml"/><Relationship Id="rId3" Type="http://schemas.openxmlformats.org/officeDocument/2006/relationships/hyperlink" Target="https://arxiv.org/abs/2609.04852" TargetMode="Externa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1.xml"/><Relationship Id="rId3" Type="http://schemas.openxmlformats.org/officeDocument/2006/relationships/hyperlink" Target="https://arxiv.org/abs/2609.04852" TargetMode="External"/><Relationship Id="rId4" Type="http://schemas.openxmlformats.org/officeDocument/2006/relationships/hyperlink" Target="https://github.com/kvmem/kvmem" TargetMode="External"/><Relationship Id="rId5" Type="http://schemas.openxmlformats.org/officeDocument/2006/relationships/hyperlink" Target="https://github.com/1314521gjy/ninfer-fusion-kvmem" TargetMode="External"/><Relationship Id="rId6" Type="http://schemas.openxmlformats.org/officeDocument/2006/relationships/hyperlink" Target="https://github.com/tancau/ninfer-kvmem-ring" TargetMode="External"/><Relationship Id="rId7" Type="http://schemas.openxmlformats.org/officeDocument/2006/relationships/hyperlink" Target="https://github.com/XuanzhengZhou/qwen3.8-27b-ternary-5060ti" TargetMode="External"/><Relationship Id="rId8" Type="http://schemas.openxmlformats.org/officeDocument/2006/relationships/hyperlink" Target="https://github.com/ggml-org/llama.cpp" TargetMode="External"/><Relationship Id="rId9" Type="http://schemas.openxmlformats.org/officeDocument/2006/relationships/hyperlink" Target="https://github.com/Neroued/ninfer" TargetMode="External"/><Relationship Id="rId10" Type="http://schemas.openxmlformats.org/officeDocument/2006/relationships/hyperlink" Target="https://github.com/iamwavecut/ninfer-all" TargetMode="Externa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7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8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scaled="0" ang="18900000"/>
          </a:gra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11200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</a:t>
            </a:r>
            <a:r>
              <a:rPr lang="en-US" sz="4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</a:t>
            </a: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装得下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“到“</a:t>
            </a:r>
            <a:r>
              <a:rPr lang="en-US" sz="17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</a:t>
            </a:r>
            <a:r>
              <a:rPr lang="en-US" sz="1700" dirty="0">
                <a:solidFill>
                  <a:srgbClr val="93A7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r>
              <a:rPr lang="en-US" sz="110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b="1" sz="900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 name="Slide 2">
    <p:bg>
      <p:bgPr>
        <a:solidFill>
          <a:srgbClr val="0B1F33"/>
        </a:solidFill>
      </p:bgPr>
    </p:bg>
    <p:spTree>
      <p:nvGrpSpPr>
        <p:cNvPr id="2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07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208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209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210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211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2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3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214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0="http://schemas.openxmlformats.org/officeDocument/2006/relationships" ns0:id="rId3"/>
              </a:rPr>
              <a:t>(arXiv 2609.04852 · B 站 FirePKU)</a:t>
            </a:r>
            <a:endParaRPr lang="en-US" sz="950" dirty="0"/>
          </a:p>
        </p:txBody>
      </p:sp>
      <p:sp>
        <p:nvSpPr>
          <p:cNvPr id="215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16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17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218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2="http://schemas.openxmlformats.org/officeDocument/2006/relationships" ns2:id="rId4"/>
              </a:rPr>
              <a:t>kvmem/kvmem：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 dirty="0"/>
          </a:p>
        </p:txBody>
      </p:sp>
      <p:sp>
        <p:nvSpPr>
          <p:cNvPr id="219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p/>
        </p:txBody>
      </p:sp>
      <p:sp>
        <p:nvSpPr>
          <p:cNvPr id="220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221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222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4="http://schemas.openxmlformats.org/officeDocument/2006/relationships" ns4:id="rId5"/>
              </a:rPr>
              <a:t>沈三殊——最早把 NInfer × KVMem 结合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6="http://schemas.openxmlformats.org/officeDocument/2006/relationships" ns6:id="rId6"/>
              </a:rPr>
              <a:t>tancau——Ring 环实现 · 直接讨论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8="http://schemas.openxmlformats.org/officeDocument/2006/relationships" ns8:id="rId7"/>
              </a:rPr>
              <a:t>帅气的 zxz——5060Ti 线 · 融合计划</a:t>
            </a:r>
            <a:endParaRPr lang="en-US" sz="950" dirty="0"/>
          </a:p>
          <a:p>
            <a:pPr marL="0" indent="0">
              <a:buNone/>
            </a:pP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0="http://schemas.openxmlformats.org/officeDocument/2006/relationships" ns10:id="rId8"/>
              </a:rPr>
              <a:t>llama.cpp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2="http://schemas.openxmlformats.org/officeDocument/2006/relationships" ns12:id="rId9"/>
              </a:rPr>
              <a:t>Neroued/ninfer</a:t>
            </a: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dirty="0" u="sng">
                <a:solidFill>
                  <a:srgbClr val="3FC6D6"/>
                </a:solidFill>
                <a:latin typeface="Microsoft YaHei"/>
                <a:ea typeface="Microsoft YaHei"/>
                <a:hlinkClick xmlns:ns14="http://schemas.openxmlformats.org/officeDocument/2006/relationships" ns14:id="rId10"/>
              </a:rPr>
              <a:t>iamwavecut/ninfer-all</a:t>
            </a:r>
            <a:endParaRPr lang="en-US" sz="950" dirty="0"/>
          </a:p>
        </p:txBody>
      </p:sp>
      <p:sp>
        <p:nvSpPr>
          <p:cNvPr id="223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24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02</a:t>
            </a:r>
            <a:r>
              <a:rPr sz="900">
                <a:solidFill>
                  <a:srgbClr val="3FC6D6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25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26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</p:bgPr>
    </p:bg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2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230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231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32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233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234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35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236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237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238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239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240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241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42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43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</p:bgPr>
    </p:bg>
    <p:spTree>
      <p:nvGrpSpPr>
        <p:cNvPr id="2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4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24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247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248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249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250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251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252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253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254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5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56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257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258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9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0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</p:bgPr>
    </p:bg>
    <p:spTree>
      <p:nvGrpSpPr>
        <p:cNvPr id="2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2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264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265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66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67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68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69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0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1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272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273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4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5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276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7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8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79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0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1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2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3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4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85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86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87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88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289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290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91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92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</p:bgPr>
    </p:bg>
    <p:spTree>
      <p:nvGrpSpPr>
        <p:cNvPr id="2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9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29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296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297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298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299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300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01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302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3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304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305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06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07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308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309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0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1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312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313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4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5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316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317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18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19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320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21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22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23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2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32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327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28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29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330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331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332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3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34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335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336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337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8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339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340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341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342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43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344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345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346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47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48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</p:bgPr>
    </p:bg>
    <p:spTree>
      <p:nvGrpSpPr>
        <p:cNvPr id="3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35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352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353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p/>
        </p:txBody>
      </p:sp>
      <p:sp>
        <p:nvSpPr>
          <p:cNvPr id="354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355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356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57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358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359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p/>
        </p:txBody>
      </p:sp>
      <p:sp>
        <p:nvSpPr>
          <p:cNvPr id="360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361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362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p/>
        </p:txBody>
      </p:sp>
      <p:sp>
        <p:nvSpPr>
          <p:cNvPr id="363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364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365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366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p/>
        </p:txBody>
      </p:sp>
      <p:sp>
        <p:nvSpPr>
          <p:cNvPr id="367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368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08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69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70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</p:bgPr>
    </p:bg>
    <p:spTree>
      <p:nvGrpSpPr>
        <p:cNvPr id="3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3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374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375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376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377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378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379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380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381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09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382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383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</p:bgPr>
    </p:bg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tok/s；随后数日陆续补全上表数字）——**不是最新状态**；最新进展（死亡谷攻关 / 深轮 AB 铁证）见第 13-14 页。</a:t>
            </a:r>
            <a:endParaRPr lang="en-US" sz="1000" dirty="0"/>
          </a:p>
        </p:txBody>
      </p:sp>
      <p:sp>
        <p:nvSpPr>
          <p:cNvPr id="2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2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10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2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</p:bgPr>
    </p:bg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2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30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31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32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3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34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35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36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37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38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39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40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1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42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43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44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5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46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47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48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49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50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5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11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5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53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</p:bgPr>
    </p:bg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5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5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7" name="Shape 3"/>
          <p:cNvSpPr/>
          <p:nvPr/>
        </p:nvSpPr>
        <p:spPr>
          <a:xfrm>
            <a:off x="54864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8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59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60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61" name="Shape 7"/>
          <p:cNvSpPr/>
          <p:nvPr/>
        </p:nvSpPr>
        <p:spPr>
          <a:xfrm>
            <a:off x="4709160" y="1097280"/>
            <a:ext cx="3886200" cy="2148840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2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63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64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65" name="Shape 11"/>
          <p:cNvSpPr/>
          <p:nvPr/>
        </p:nvSpPr>
        <p:spPr>
          <a:xfrm>
            <a:off x="548640" y="338328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66" name="Shape 12"/>
          <p:cNvSpPr/>
          <p:nvPr/>
        </p:nvSpPr>
        <p:spPr>
          <a:xfrm>
            <a:off x="548640" y="338328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67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68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里程碑：谷档可按需复现（约 1.2 GiB 外部显存压力）；深档受机器态时窗支配（窗内 4/4、窗外 8/8，开合条件解析中）；3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69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12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70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71" name="Rectangle 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</p:bgPr>
    </p:bg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追捕进行时：真凶未获，但包围圈在收紧</a:t>
            </a:r>
            <a:endParaRPr lang="en-US" sz="2400" dirty="0"/>
          </a:p>
        </p:txBody>
      </p:sp>
      <p:sp>
        <p:nvSpPr>
          <p:cNvPr id="75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追凶已连续 </a:t>
            </a:r>
            <a:r>
              <a:rPr lang="en-US" sz="105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小时（5 昼夜）不间断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（10-11 → 10-16）：全程工程化受控压测 + 现场取证；中途顺手修复和改进了大量问题（仪表缺陷、回归、自伤 bug 等）。今天（10-16）再次进行异步页流水极深池 AB 测试——结果见下页。</a:t>
            </a:r>
            <a:endParaRPr lang="en-US" sz="1050" dirty="0"/>
          </a:p>
        </p:txBody>
      </p:sp>
      <p:sp>
        <p:nvSpPr>
          <p:cNvPr id="76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7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78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79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超池）拆掉异步：decode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80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1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82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83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84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85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86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87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88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13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89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90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</p:bgPr>
    </p:bg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9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异步贡献的判决实验：极深池 AB 对照（2026-10-16）</a:t>
            </a:r>
            <a:endParaRPr lang="en-US" sz="24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/>
        </p:nvGraphicFramePr>
        <p:xfrm>
          <a:off x="548640" y="1078992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5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96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97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98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99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前多轮必死”的更强主张未复现（观测为“可用但慢”）；**且本次未现死亡谷，可能因前序多轮修复已碰巧缓解了该状态**（未在对照中复现，待后续验证）。</a:t>
            </a:r>
            <a:endParaRPr lang="en-US" sz="900" dirty="0"/>
          </a:p>
        </p:txBody>
      </p:sp>
      <p:sp>
        <p:nvSpPr>
          <p:cNvPr id="100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14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01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02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</p:bgPr>
    </p:bg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04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105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106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7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08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109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110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1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2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13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14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5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16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17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18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9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0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121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122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3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p/>
        </p:txBody>
      </p:sp>
      <p:sp>
        <p:nvSpPr>
          <p:cNvPr id="124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125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126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127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15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28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29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</p:bgPr>
    </p:bg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13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133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4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5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36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137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38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39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0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1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2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43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44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45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6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7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48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149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150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151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2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p/>
        </p:txBody>
      </p:sp>
      <p:sp>
        <p:nvSpPr>
          <p:cNvPr id="153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p/>
        </p:txBody>
      </p:sp>
      <p:sp>
        <p:nvSpPr>
          <p:cNvPr id="154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155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156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157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8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59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60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161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162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163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4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5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66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167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168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169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16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70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71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</p:bgPr>
    </p:bg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17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175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6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7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缘起：到火候了就开门</a:t>
            </a:r>
            <a:endParaRPr lang="en-US" sz="1300" dirty="0"/>
          </a:p>
        </p:txBody>
      </p:sp>
      <p:sp>
        <p:nvSpPr>
          <p:cNvPr id="178" name="Text 6"/>
          <p:cNvSpPr/>
          <p:nvPr/>
        </p:nvSpPr>
        <p:spPr>
          <a:xfrm>
            <a:off x="77724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技术已达“限定场景生产可用”：单路长上下文 Agent 会话（显存独占）实跑验证通过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但最大未解课题（时段性慢态）已超出单线攻关的带宽——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= 借社区 / 上游 / 驱动侧协同攻关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我们已备好”换帮助”的钥匙：约 2 分钟的最小复现协议（可随时造出该状态）</a:t>
            </a:r>
            <a:endParaRPr lang="en-US" sz="950" dirty="0"/>
          </a:p>
        </p:txBody>
      </p:sp>
      <p:sp>
        <p:nvSpPr>
          <p:cNvPr id="179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sx="100000" sy="100000" kx="0" ky="0" algn="bl" rotWithShape="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0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p/>
        </p:txBody>
      </p:sp>
      <p:sp>
        <p:nvSpPr>
          <p:cNvPr id="18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定位与承诺（口径先行）</a:t>
            </a:r>
            <a:endParaRPr lang="en-US" sz="1300" dirty="0"/>
          </a:p>
        </p:txBody>
      </p:sp>
      <p:sp>
        <p:nvSpPr>
          <p:cNvPr id="182" name="Text 10"/>
          <p:cNvSpPr/>
          <p:nvPr/>
        </p:nvSpPr>
        <p:spPr>
          <a:xfrm>
            <a:off x="4937760" y="1591056"/>
            <a:ext cx="35204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定位：“研究性工程 + 限定场景生产可用”；多路并发未覆盖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① 进谷可控：指纹可检测 / 分钟级自愈 / 回避手段已确证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承诺 ② 输出无损：池内 vs 超池逐字相同（A2 门）</a:t>
            </a:r>
            <a:endParaRPr lang="en-US" sz="950" dirty="0"/>
          </a:p>
          <a:p>
            <a:pPr marL="342900" indent="-342900">
              <a:spcAft>
                <a:spcPts val="600"/>
              </a:spcAft>
              <a:buSzPct val="100000"/>
              <a:buChar char="▪"/>
            </a:pPr>
            <a:r>
              <a:rPr lang="en-US" sz="950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不承诺：永不进谷（触发源未解）；通用生产级</a:t>
            </a:r>
            <a:endParaRPr lang="en-US" sz="950" dirty="0"/>
          </a:p>
        </p:txBody>
      </p:sp>
      <p:sp>
        <p:nvSpPr>
          <p:cNvPr id="183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p/>
        </p:txBody>
      </p:sp>
      <p:sp>
        <p:nvSpPr>
          <p:cNvPr id="184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p/>
        </p:txBody>
      </p:sp>
      <p:sp>
        <p:nvSpPr>
          <p:cNvPr id="185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我们希望换到的：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不是“夸赞”，而是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同路人的线索与判决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——谁在驱动侧见过提交阻塞、谁复现过同样的慢态、谁能一起把行号级的根因钉死。</a:t>
            </a:r>
            <a:endParaRPr lang="en-US" sz="1100" dirty="0"/>
          </a:p>
        </p:txBody>
      </p:sp>
      <p:sp>
        <p:nvSpPr>
          <p:cNvPr id="186" name="Text 14"/>
          <p:cNvSpPr/>
          <p:nvPr/>
        </p:nvSpPr>
        <p:spPr>
          <a:xfrm>
            <a:off x="548640" y="44988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说明：本页口径来自发布前检查清单（docs/发布前事项-…-20261016.md）§0 与缘起段。</a:t>
            </a:r>
            <a:endParaRPr lang="en-US" sz="900" dirty="0"/>
          </a:p>
        </p:txBody>
      </p:sp>
      <p:sp>
        <p:nvSpPr>
          <p:cNvPr id="187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b="1" sz="1000">
                <a:solidFill>
                  <a:srgbClr val="3FC6D6"/>
                </a:solidFill>
                <a:latin typeface="Microsoft YaHei"/>
                <a:ea typeface="Microsoft YaHei"/>
              </a:rPr>
              <a:t>17</a:t>
            </a:r>
            <a:r>
              <a:rPr sz="900">
                <a:solidFill>
                  <a:srgbClr val="8FA6B5"/>
                </a:solidFill>
                <a:latin typeface="Microsoft YaHei"/>
                <a:ea typeface="Microsoft YaHei"/>
              </a:rPr>
              <a:t> / 18</a:t>
            </a:r>
            <a:endParaRPr lang="en-US" sz="1000" dirty="0"/>
          </a:p>
        </p:txBody>
      </p:sp>
      <p:sp>
        <p:nvSpPr>
          <p:cNvPr id="18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  <p:sp>
        <p:nvSpPr>
          <p:cNvPr id="189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</p:bgPr>
    </p:bg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1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192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193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4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196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197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98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99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p/>
        </p:txBody>
      </p:sp>
      <p:sp>
        <p:nvSpPr>
          <p:cNvPr id="200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01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202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p/>
        </p:txBody>
      </p:sp>
      <p:sp>
        <p:nvSpPr>
          <p:cNvPr id="203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204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xmlns:thm15="http://schemas.microsoft.com/office/thememl/2012/main" xmlns:mc="http://schemas.openxmlformats.org/markup-compatibility/2006" name="Office 主题​​" mc:Ignorable="thm15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2026-10-17T01:46:31Z</dcterms:created>
  <dcterms:modified xsi:type="dcterms:W3CDTF">2026-10-17T01:46:31Z</dcterms:modified>
</cp:coreProperties>
</file>