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9" r:id="rId4"/>
    <p:sldId id="280" r:id="rId5"/>
    <p:sldId id="258" r:id="rId6"/>
    <p:sldId id="259" r:id="rId7"/>
    <p:sldId id="260" r:id="rId8"/>
    <p:sldId id="261" r:id="rId9"/>
    <p:sldId id="262" r:id="rId10"/>
    <p:sldId id="282" r:id="rId11"/>
    <p:sldId id="274" r:id="rId12"/>
    <p:sldId id="275" r:id="rId13"/>
    <p:sldId id="276" r:id="rId14"/>
    <p:sldId id="277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81" r:id="rId23"/>
    <p:sldId id="278" r:id="rId24"/>
    <p:sldId id="270" r:id="rId25"/>
    <p:sldId id="271" r:id="rId26"/>
    <p:sldId id="272" r:id="rId27"/>
    <p:sldId id="27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72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11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14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4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12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40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20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53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35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87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00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28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29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44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63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27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85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43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97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abs/2609.04852" TargetMode="External"/><Relationship Id="rId4" Type="http://schemas.openxmlformats.org/officeDocument/2006/relationships/hyperlink" Target="https://github.com/kvmem/kvmem" TargetMode="External"/><Relationship Id="rId5" Type="http://schemas.openxmlformats.org/officeDocument/2006/relationships/hyperlink" Target="https://github.com/1314521gjy/ninfer-fusion-kvmem" TargetMode="External"/><Relationship Id="rId6" Type="http://schemas.openxmlformats.org/officeDocument/2006/relationships/hyperlink" Target="https://github.com/tancau/ninfer-kvmem-ring" TargetMode="External"/><Relationship Id="rId7" Type="http://schemas.openxmlformats.org/officeDocument/2006/relationships/hyperlink" Target="https://github.com/XuanzhengZhou/qwen3.8-27b-ternary-5060ti" TargetMode="External"/><Relationship Id="rId8" Type="http://schemas.openxmlformats.org/officeDocument/2006/relationships/hyperlink" Target="https://github.com/ggml-org/llama.cpp" TargetMode="External"/><Relationship Id="rId9" Type="http://schemas.openxmlformats.org/officeDocument/2006/relationships/hyperlink" Target="https://github.com/Neroued/ninfer" TargetMode="External"/><Relationship Id="rId10" Type="http://schemas.openxmlformats.org/officeDocument/2006/relationships/hyperlink" Target="https://github.com/iamwavecut/ninfer-al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1F33"/>
              </a:gs>
              <a:gs pos="100000">
                <a:srgbClr val="16405F"/>
              </a:gs>
            </a:gsLst>
            <a:lin ang="189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78338" y="1143254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1120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公开技术说明 · 2026-10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21360" y="103327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0" dirty="0" err="1">
                <a:solidFill>
                  <a:srgbClr val="3FC6D6"/>
                </a:solidFill>
                <a:latin typeface="Microsoft YaHei"/>
              </a:rPr>
              <a:t>站在</a:t>
            </a:r>
            <a:r>
              <a:rPr sz="2600" b="0" dirty="0">
                <a:solidFill>
                  <a:srgbClr val="3FC6D6"/>
                </a:solidFill>
                <a:latin typeface="Microsoft YaHei"/>
              </a:rPr>
              <a:t> NINFER 和 KVMEM </a:t>
            </a:r>
            <a:r>
              <a:rPr sz="2600" b="0" dirty="0" err="1">
                <a:solidFill>
                  <a:srgbClr val="3FC6D6"/>
                </a:solidFill>
                <a:latin typeface="Microsoft YaHei"/>
              </a:rPr>
              <a:t>的肩膀上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120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 dirty="0" err="1" smtClean="0">
                <a:solidFill>
                  <a:srgbClr val="FFFFFF"/>
                </a:solidFill>
                <a:latin typeface="Microsoft YaHei"/>
              </a:rPr>
              <a:t>异步页流水</a:t>
            </a:r>
            <a:r>
              <a:rPr sz="3000" b="1" dirty="0" smtClean="0">
                <a:solidFill>
                  <a:srgbClr val="FFFFFF"/>
                </a:solidFill>
                <a:latin typeface="Microsoft YaHei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Microsoft YaHei"/>
              </a:rPr>
              <a:t>Async</a:t>
            </a:r>
            <a:r>
              <a:rPr sz="3000" b="1" dirty="0">
                <a:solidFill>
                  <a:srgbClr val="FFFFFF"/>
                </a:solidFill>
                <a:latin typeface="Microsoft YaHei"/>
              </a:rPr>
              <a:t> Page Pipeline</a:t>
            </a:r>
            <a:r>
              <a:rPr sz="3000" b="1" dirty="0" smtClean="0">
                <a:solidFill>
                  <a:srgbClr val="FFFFFF"/>
                </a:solidFill>
                <a:latin typeface="Microsoft YaHei"/>
              </a:rPr>
              <a:t>：</a:t>
            </a:r>
            <a:endParaRPr lang="en-US" sz="3000" b="1" dirty="0" smtClean="0">
              <a:solidFill>
                <a:srgbClr val="FFFFFF"/>
              </a:solidFill>
              <a:latin typeface="Microsoft YaHei"/>
            </a:endParaRPr>
          </a:p>
          <a:p>
            <a:pPr marL="0" indent="0">
              <a:buNone/>
            </a:pPr>
            <a:r>
              <a:rPr sz="3000" b="1" dirty="0" err="1" smtClean="0">
                <a:solidFill>
                  <a:srgbClr val="FFFFFF"/>
                </a:solidFill>
                <a:latin typeface="Microsoft YaHei"/>
              </a:rPr>
              <a:t>从</a:t>
            </a:r>
            <a:r>
              <a:rPr sz="3000" b="1" dirty="0" err="1">
                <a:solidFill>
                  <a:srgbClr val="FFFFFF"/>
                </a:solidFill>
                <a:latin typeface="Microsoft YaHei"/>
              </a:rPr>
              <a:t>“装得下”到“跑得动”的探索与实践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20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12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890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虚拟化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90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先行者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58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036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异步页流水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36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404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182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持续跑得动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182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50" dirty="0"/>
          </a:p>
        </p:txBody>
      </p:sp>
      <p:sp>
        <p:nvSpPr>
          <p:cNvPr id="20" name="TextBox 19"/>
          <p:cNvSpPr txBox="1"/>
          <p:nvPr/>
        </p:nvSpPr>
        <p:spPr>
          <a:xfrm>
            <a:off x="2438400" y="3771900"/>
            <a:ext cx="381000" cy="177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771900"/>
            <a:ext cx="381000" cy="177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600" y="3771900"/>
            <a:ext cx="381000" cy="177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457200" y="41148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7" name="Text 1"/>
          <p:cNvSpPr/>
          <p:nvPr/>
        </p:nvSpPr>
        <p:spPr>
          <a:xfrm>
            <a:off x="713232" y="3291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FIRST</a:t>
            </a:r>
            <a:endParaRPr lang="en-US" sz="1100" dirty="0"/>
          </a:p>
        </p:txBody>
      </p:sp>
      <p:sp>
        <p:nvSpPr>
          <p:cNvPr id="208" name="Text 2"/>
          <p:cNvSpPr/>
          <p:nvPr/>
        </p:nvSpPr>
        <p:spPr>
          <a:xfrm>
            <a:off x="713232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首先，致敬原作者的开创性工作</a:t>
            </a:r>
            <a:endParaRPr lang="en-US" sz="2400" dirty="0"/>
          </a:p>
        </p:txBody>
      </p:sp>
      <p:sp>
        <p:nvSpPr>
          <p:cNvPr id="209" name="Text 3"/>
          <p:cNvSpPr/>
          <p:nvPr/>
        </p:nvSpPr>
        <p:spPr>
          <a:xfrm>
            <a:off x="713232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他们在没有先例可循的情况下回答了一个被认为做不到的问题：</a:t>
            </a:r>
            <a:endParaRPr lang="en-US" sz="1350" dirty="0"/>
          </a:p>
        </p:txBody>
      </p:sp>
      <p:sp>
        <p:nvSpPr>
          <p:cNvPr id="210" name="Text 4"/>
          <p:cNvSpPr/>
          <p:nvPr/>
        </p:nvSpPr>
        <p:spPr>
          <a:xfrm>
            <a:off x="713232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“消费级 16GB 显卡，能不能承载百万 token 级的 Agent 工作区？”</a:t>
            </a:r>
            <a:endParaRPr lang="en-US" sz="1600" dirty="0"/>
          </a:p>
        </p:txBody>
      </p:sp>
      <p:sp>
        <p:nvSpPr>
          <p:cNvPr id="211" name="Shape 5"/>
          <p:cNvSpPr/>
          <p:nvPr/>
        </p:nvSpPr>
        <p:spPr>
          <a:xfrm>
            <a:off x="7132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Shape 6"/>
          <p:cNvSpPr/>
          <p:nvPr/>
        </p:nvSpPr>
        <p:spPr>
          <a:xfrm>
            <a:off x="7132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3" name="Text 7"/>
          <p:cNvSpPr/>
          <p:nvPr/>
        </p:nvSpPr>
        <p:spPr>
          <a:xfrm>
            <a:off x="8961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论文与创新</a:t>
            </a:r>
            <a:endParaRPr lang="en-US" sz="1350" dirty="0"/>
          </a:p>
        </p:txBody>
      </p:sp>
      <p:sp>
        <p:nvSpPr>
          <p:cNvPr id="214" name="Text 8"/>
          <p:cNvSpPr/>
          <p:nvPr/>
        </p:nvSpPr>
        <p:spPr>
          <a:xfrm>
            <a:off x="8961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KVMem: Virtualizing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Million-Token Agent Workspaces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a Consumer GPU</a:t>
            </a:r>
            <a:endParaRPr lang="en-US" sz="950" dirty="0"/>
          </a:p>
          <a:p>
            <a:pPr marL="0" indent="0">
              <a:buNone/>
            </a:pPr>
            <a:r>
              <a:rPr lang="en-US" sz="950" u="sng" dirty="0">
                <a:solidFill>
                  <a:srgbClr val="3FC6D6"/>
                </a:solidFill>
                <a:latin typeface="Microsoft YaHei"/>
                <a:ea typeface="Microsoft YaHei"/>
                <a:hlinkClick r:id="rId3"/>
              </a:rPr>
              <a:t>(arXiv 2609.04852 · B 站 FirePKU)</a:t>
            </a:r>
            <a:endParaRPr lang="en-US" sz="950" dirty="0"/>
          </a:p>
        </p:txBody>
      </p:sp>
      <p:sp>
        <p:nvSpPr>
          <p:cNvPr id="215" name="Shape 9"/>
          <p:cNvSpPr/>
          <p:nvPr/>
        </p:nvSpPr>
        <p:spPr>
          <a:xfrm>
            <a:off x="34564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Shape 10"/>
          <p:cNvSpPr/>
          <p:nvPr/>
        </p:nvSpPr>
        <p:spPr>
          <a:xfrm>
            <a:off x="34564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7" name="Text 11"/>
          <p:cNvSpPr/>
          <p:nvPr/>
        </p:nvSpPr>
        <p:spPr>
          <a:xfrm>
            <a:off x="36393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开源工程</a:t>
            </a:r>
            <a:endParaRPr lang="en-US" sz="1350" dirty="0"/>
          </a:p>
        </p:txBody>
      </p:sp>
      <p:sp>
        <p:nvSpPr>
          <p:cNvPr id="218" name="Text 12"/>
          <p:cNvSpPr/>
          <p:nvPr/>
        </p:nvSpPr>
        <p:spPr>
          <a:xfrm>
            <a:off x="36393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3FC6D6"/>
                </a:solidFill>
                <a:latin typeface="Microsoft YaHei"/>
                <a:ea typeface="Microsoft YaHei"/>
                <a:hlinkClick r:id="rId4"/>
              </a:rPr>
              <a:t>kvmem/kvmem：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双后端正式化（llama.cpp + NInfer）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RTX 50 正式运行包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成体系的验收与回归记录</a:t>
            </a:r>
            <a:endParaRPr lang="en-US" sz="950" dirty="0"/>
          </a:p>
        </p:txBody>
      </p:sp>
      <p:sp>
        <p:nvSpPr>
          <p:cNvPr id="219" name="Shape 13"/>
          <p:cNvSpPr/>
          <p:nvPr/>
        </p:nvSpPr>
        <p:spPr>
          <a:xfrm>
            <a:off x="61996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Shape 14"/>
          <p:cNvSpPr/>
          <p:nvPr/>
        </p:nvSpPr>
        <p:spPr>
          <a:xfrm>
            <a:off x="61996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1" name="Text 15"/>
          <p:cNvSpPr/>
          <p:nvPr/>
        </p:nvSpPr>
        <p:spPr>
          <a:xfrm>
            <a:off x="63825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生态血统</a:t>
            </a:r>
            <a:endParaRPr lang="en-US" sz="1350" dirty="0"/>
          </a:p>
        </p:txBody>
      </p:sp>
      <p:sp>
        <p:nvSpPr>
          <p:cNvPr id="222" name="Text 16"/>
          <p:cNvSpPr/>
          <p:nvPr/>
        </p:nvSpPr>
        <p:spPr>
          <a:xfrm>
            <a:off x="63825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3FC6D6"/>
                </a:solidFill>
                <a:latin typeface="Microsoft YaHei"/>
                <a:ea typeface="Microsoft YaHei"/>
                <a:hlinkClick r:id="rId5"/>
              </a:rPr>
              <a:t>沈三殊——最早把 NInfer × KVMem 结合</a:t>
            </a:r>
            <a:endParaRPr lang="en-US" sz="950" dirty="0"/>
          </a:p>
          <a:p>
            <a:pPr marL="0" indent="0">
              <a:buNone/>
            </a:pPr>
            <a:r>
              <a:rPr lang="en-US" sz="950" u="sng" dirty="0">
                <a:solidFill>
                  <a:srgbClr val="3FC6D6"/>
                </a:solidFill>
                <a:latin typeface="Microsoft YaHei"/>
                <a:ea typeface="Microsoft YaHei"/>
                <a:hlinkClick r:id="rId6"/>
              </a:rPr>
              <a:t>tancau——Ring 环实现 · 直接讨论</a:t>
            </a:r>
            <a:endParaRPr lang="en-US" sz="950" dirty="0"/>
          </a:p>
          <a:p>
            <a:pPr marL="0" indent="0">
              <a:buNone/>
            </a:pPr>
            <a:r>
              <a:rPr lang="en-US" sz="950" u="sng" dirty="0">
                <a:solidFill>
                  <a:srgbClr val="3FC6D6"/>
                </a:solidFill>
                <a:latin typeface="Microsoft YaHei"/>
                <a:ea typeface="Microsoft YaHei"/>
                <a:hlinkClick r:id="rId7"/>
              </a:rPr>
              <a:t>帅气的 zxz——5060Ti 线 · 融合计划</a:t>
            </a:r>
            <a:endParaRPr lang="en-US" sz="950" dirty="0"/>
          </a:p>
          <a:p>
            <a:pPr marL="0" indent="0">
              <a:buNone/>
            </a:pPr>
            <a:r>
              <a:rPr lang="en-US" sz="950" u="sng" dirty="0">
                <a:solidFill>
                  <a:srgbClr val="3FC6D6"/>
                </a:solidFill>
                <a:latin typeface="Microsoft YaHei"/>
                <a:ea typeface="Microsoft YaHei"/>
                <a:hlinkClick r:id="rId8"/>
              </a:rPr>
              <a:t>llama.cpp</a:t>
            </a: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950" u="sng" dirty="0">
                <a:solidFill>
                  <a:srgbClr val="3FC6D6"/>
                </a:solidFill>
                <a:latin typeface="Microsoft YaHei"/>
                <a:ea typeface="Microsoft YaHei"/>
                <a:hlinkClick r:id="rId9"/>
              </a:rPr>
              <a:t>Neroued/ninfer</a:t>
            </a: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950" u="sng" dirty="0">
                <a:solidFill>
                  <a:srgbClr val="3FC6D6"/>
                </a:solidFill>
                <a:latin typeface="Microsoft YaHei"/>
                <a:ea typeface="Microsoft YaHei"/>
                <a:hlinkClick r:id="rId10"/>
              </a:rPr>
              <a:t>iamwavecut/ninfer-all</a:t>
            </a:r>
            <a:endParaRPr lang="en-US" sz="950" dirty="0"/>
          </a:p>
        </p:txBody>
      </p:sp>
      <p:sp>
        <p:nvSpPr>
          <p:cNvPr id="223" name="Text 17"/>
          <p:cNvSpPr/>
          <p:nvPr/>
        </p:nvSpPr>
        <p:spPr>
          <a:xfrm>
            <a:off x="713232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我们的线始于@沈三殊的</a:t>
            </a:r>
            <a:r>
              <a:rPr lang="en-US" sz="105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NInfer × KVMem </a:t>
            </a:r>
            <a:r>
              <a:rPr lang="en-US" sz="105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组合；感谢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</a:t>
            </a:r>
            <a:r>
              <a:rPr lang="en-US" sz="1050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tancau</a:t>
            </a:r>
            <a:r>
              <a:rPr lang="en-US" sz="105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与@帅气的</a:t>
            </a:r>
            <a:r>
              <a:rPr lang="en-US" sz="1050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zxz 的直接交流与同行；近期 KVMem 官方亦将 NInfer 纳入正式后端——技术收敛。</a:t>
            </a:r>
            <a:endParaRPr lang="en-US" sz="1050" dirty="0"/>
          </a:p>
        </p:txBody>
      </p:sp>
      <p:sp>
        <p:nvSpPr>
          <p:cNvPr id="224" name="Text 18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02 / 27</a:t>
            </a:r>
            <a:endParaRPr lang="en-US" sz="1000" dirty="0"/>
          </a:p>
        </p:txBody>
      </p:sp>
      <p:sp>
        <p:nvSpPr>
          <p:cNvPr id="225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226" name="Rectangle 225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C6D6"/>
                </a:solidFill>
                <a:latin typeface="Microsoft YaHei"/>
              </a:rPr>
              <a:t>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NINFER：承载这一切的推理引擎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血统：Neroued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/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ninfer（源头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）→ </a:t>
            </a:r>
            <a:r>
              <a:rPr sz="1050" dirty="0" smtClean="0">
                <a:solidFill>
                  <a:srgbClr val="A9BECC"/>
                </a:solidFill>
                <a:latin typeface="Microsoft YaHei"/>
              </a:rPr>
              <a:t>paicat1/Bonsai-27B-NInfer（</a:t>
            </a:r>
            <a:r>
              <a:rPr lang="zh-CN" altLang="en-US" sz="1050" dirty="0" smtClean="0">
                <a:solidFill>
                  <a:srgbClr val="A9BECC"/>
                </a:solidFill>
                <a:latin typeface="Microsoft YaHei"/>
              </a:rPr>
              <a:t>前代项目：</a:t>
            </a:r>
            <a:r>
              <a:rPr sz="1050" dirty="0" err="1" smtClean="0">
                <a:solidFill>
                  <a:srgbClr val="A9BECC"/>
                </a:solidFill>
                <a:latin typeface="Microsoft YaHei"/>
              </a:rPr>
              <a:t>本仓基座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）→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本仓（KVMem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+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异步页流水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</a:t>
            </a:r>
          </a:p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是什么：Windows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优先的推理引擎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——sm_120a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原生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SASS、混合架构注意力（GDN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线性注意力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+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滑窗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/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全注意力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）、CUDA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Graph、页池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KV（64 token/页）</a:t>
            </a:r>
          </a:p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推理加速：投机解码（MTP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+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ngram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混合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）、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多档量化（权重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IQ3_S / KV rk8v4、nvfp4）、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视觉嫁接（overlay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视觉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</a:t>
            </a:r>
          </a:p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与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KVMem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的关系：KVMem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是“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记忆系统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”（KV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虚拟化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），NINFER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是“发动机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”——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页池架构正是两者结合的接口（首创者见下页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没有这台发动机，记忆系统无处安放；没有记忆系统，发动机跑不远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98E1F"/>
                </a:solidFill>
                <a:latin typeface="Microsoft YaHei"/>
              </a:rPr>
              <a:t>THE PIONEER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5587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 smtClean="0">
                <a:solidFill>
                  <a:srgbClr val="FFFFFF"/>
                </a:solidFill>
                <a:latin typeface="Microsoft YaHei"/>
              </a:rPr>
              <a:t>@</a:t>
            </a:r>
            <a:r>
              <a:rPr sz="2600" b="1" dirty="0" err="1" smtClean="0">
                <a:solidFill>
                  <a:srgbClr val="FFFFFF"/>
                </a:solidFill>
                <a:latin typeface="Microsoft YaHei"/>
              </a:rPr>
              <a:t>沈三殊</a:t>
            </a:r>
            <a:r>
              <a:rPr sz="2600" b="1" dirty="0" err="1">
                <a:solidFill>
                  <a:srgbClr val="FFFFFF"/>
                </a:solidFill>
                <a:latin typeface="Microsoft YaHei"/>
              </a:rPr>
              <a:t>：第一个把</a:t>
            </a:r>
            <a:r>
              <a:rPr sz="2600" b="1" dirty="0">
                <a:solidFill>
                  <a:srgbClr val="FFFFFF"/>
                </a:solidFill>
                <a:latin typeface="Microsoft YaHei"/>
              </a:rPr>
              <a:t> NINFER 与 KVMEM </a:t>
            </a:r>
            <a:r>
              <a:rPr sz="2600" b="1" dirty="0" err="1">
                <a:solidFill>
                  <a:srgbClr val="FFFFFF"/>
                </a:solidFill>
                <a:latin typeface="Microsoft YaHei"/>
              </a:rPr>
              <a:t>结合起来的人</a:t>
            </a:r>
            <a:endParaRPr sz="26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lang="zh-CN" altLang="en-US" sz="1250" dirty="0" smtClean="0">
                <a:solidFill>
                  <a:srgbClr val="A9BECC"/>
                </a:solidFill>
                <a:latin typeface="Microsoft YaHei"/>
              </a:rPr>
              <a:t>灵感与直觉：</a:t>
            </a:r>
            <a:r>
              <a:rPr sz="1250" dirty="0" smtClean="0">
                <a:solidFill>
                  <a:srgbClr val="A9BECC"/>
                </a:solidFill>
                <a:latin typeface="Microsoft YaHei"/>
              </a:rPr>
              <a:t>2026-10 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初，他发布了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NInfer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 × 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KVMem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250" dirty="0" err="1" smtClean="0">
                <a:solidFill>
                  <a:srgbClr val="A9BECC"/>
                </a:solidFill>
                <a:latin typeface="Microsoft YaHei"/>
              </a:rPr>
              <a:t>的第一个可用组合</a:t>
            </a:r>
            <a:endParaRPr sz="125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700"/>
              </a:spcAft>
            </a:pPr>
            <a:r>
              <a:rPr sz="12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我们的全部工作从这个起点延伸</a:t>
            </a:r>
            <a:r>
              <a:rPr sz="1250" dirty="0" smtClean="0">
                <a:solidFill>
                  <a:srgbClr val="A9BECC"/>
                </a:solidFill>
                <a:latin typeface="Microsoft YaHei"/>
              </a:rPr>
              <a:t>：</a:t>
            </a:r>
            <a:r>
              <a:rPr lang="zh-CN" altLang="en-US" sz="1250" dirty="0" smtClean="0">
                <a:solidFill>
                  <a:srgbClr val="A9BECC"/>
                </a:solidFill>
                <a:latin typeface="Microsoft YaHei"/>
              </a:rPr>
              <a:t>第一仓：</a:t>
            </a:r>
            <a:r>
              <a:rPr sz="1250" dirty="0" smtClean="0">
                <a:solidFill>
                  <a:srgbClr val="A9BECC"/>
                </a:solidFill>
                <a:latin typeface="Microsoft YaHei"/>
              </a:rPr>
              <a:t>Bonsai-27B-NInfer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（引擎）→ </a:t>
            </a:r>
            <a:r>
              <a:rPr lang="zh-CN" altLang="en-US" sz="1250" dirty="0" smtClean="0">
                <a:solidFill>
                  <a:srgbClr val="A9BECC"/>
                </a:solidFill>
                <a:latin typeface="Microsoft YaHei"/>
              </a:rPr>
              <a:t>第二仓：</a:t>
            </a:r>
            <a:r>
              <a:rPr sz="1250" dirty="0" smtClean="0">
                <a:solidFill>
                  <a:srgbClr val="A9BECC"/>
                </a:solidFill>
                <a:latin typeface="Microsoft YaHei"/>
              </a:rPr>
              <a:t>Bonsai-27B-NInfer-kvmem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（</a:t>
            </a:r>
            <a:r>
              <a:rPr sz="1250" dirty="0" smtClean="0">
                <a:solidFill>
                  <a:srgbClr val="A9BECC"/>
                </a:solidFill>
                <a:latin typeface="Microsoft YaHei"/>
              </a:rPr>
              <a:t>他的组合</a:t>
            </a:r>
            <a:r>
              <a:rPr lang="zh-CN" altLang="en-US" sz="1250" dirty="0" smtClean="0">
                <a:solidFill>
                  <a:srgbClr val="A9BECC"/>
                </a:solidFill>
                <a:latin typeface="Microsoft YaHei"/>
              </a:rPr>
              <a:t>的本地实现</a:t>
            </a:r>
            <a:r>
              <a:rPr sz="1250" dirty="0" smtClean="0">
                <a:solidFill>
                  <a:srgbClr val="A9BECC"/>
                </a:solidFill>
                <a:latin typeface="Microsoft YaHei"/>
              </a:rPr>
              <a:t>）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→ </a:t>
            </a:r>
            <a:r>
              <a:rPr sz="1250" dirty="0" err="1" smtClean="0">
                <a:solidFill>
                  <a:srgbClr val="A9BECC"/>
                </a:solidFill>
                <a:latin typeface="Microsoft YaHei"/>
              </a:rPr>
              <a:t>本仓</a:t>
            </a:r>
            <a:r>
              <a:rPr lang="zh-CN" altLang="en-US" sz="1250" dirty="0" smtClean="0">
                <a:solidFill>
                  <a:srgbClr val="A9BECC"/>
                </a:solidFill>
                <a:latin typeface="Microsoft YaHei"/>
              </a:rPr>
              <a:t>：在前面构建的框架里运行更大的模型</a:t>
            </a:r>
            <a:r>
              <a:rPr sz="1250" dirty="0" smtClean="0">
                <a:solidFill>
                  <a:srgbClr val="A9BECC"/>
                </a:solidFill>
                <a:latin typeface="Microsoft YaHei"/>
              </a:rPr>
              <a:t>（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异步页流水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）——</a:t>
            </a:r>
            <a:r>
              <a:rPr sz="1250" dirty="0" err="1" smtClean="0">
                <a:solidFill>
                  <a:srgbClr val="A9BECC"/>
                </a:solidFill>
                <a:latin typeface="Microsoft YaHei"/>
              </a:rPr>
              <a:t>自然延伸</a:t>
            </a:r>
            <a:endParaRPr sz="125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700"/>
              </a:spcAft>
            </a:pPr>
            <a:r>
              <a:rPr sz="12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引擎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 × 记忆系统：一个决定“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算得多快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”，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一个决定“记得多少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”——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结合才有“消费卡上的长程</a:t>
            </a:r>
            <a:r>
              <a:rPr sz="1250" dirty="0">
                <a:solidFill>
                  <a:srgbClr val="A9BECC"/>
                </a:solidFill>
                <a:latin typeface="Microsoft YaHei"/>
              </a:rPr>
              <a:t> Agent”</a:t>
            </a:r>
          </a:p>
          <a:p>
            <a:pPr>
              <a:spcAft>
                <a:spcPts val="700"/>
              </a:spcAft>
            </a:pPr>
            <a:r>
              <a:rPr sz="12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250" dirty="0" err="1">
                <a:solidFill>
                  <a:srgbClr val="A9BECC"/>
                </a:solidFill>
                <a:latin typeface="Microsoft YaHei"/>
              </a:rPr>
              <a:t>直接讨论与同行：他的实现与问题定义，是我们仪表链与页账设计的参考原点</a:t>
            </a:r>
            <a:endParaRPr sz="1250" dirty="0">
              <a:solidFill>
                <a:srgbClr val="A9BECC"/>
              </a:solidFill>
              <a:latin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我们站在他的肩膀上——这份工作的一半，属于第一个想到把它们装在一起的人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8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INSIGHT</a:t>
            </a:r>
            <a:endParaRPr lang="en-US" sz="1100" dirty="0"/>
          </a:p>
        </p:txBody>
      </p:sp>
      <p:sp>
        <p:nvSpPr>
          <p:cNvPr id="229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</a:t>
            </a:r>
            <a:r>
              <a:rPr lang="en-US" altLang="zh-CN" sz="2400" b="1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</a:t>
            </a:r>
            <a:r>
              <a:rPr lang="en-US" sz="2400" b="1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作者的核心洞察</a:t>
            </a:r>
            <a:r>
              <a:rPr lang="en-US" sz="2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：每一步，只需看见一小部分</a:t>
            </a:r>
            <a:endParaRPr lang="en-US" sz="2400" dirty="0"/>
          </a:p>
        </p:txBody>
      </p:sp>
      <p:sp>
        <p:nvSpPr>
          <p:cNvPr id="230" name="Text 3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场景把上下文推到几十万到上百万 token（100 万 token 的 KV ≈ 32 GiB，消费卡只有 16 GB）——但模型每一步真正“看见”的 KV 只是一小部分：</a:t>
            </a:r>
            <a:endParaRPr lang="en-US" sz="1250" dirty="0"/>
          </a:p>
        </p:txBody>
      </p:sp>
      <p:sp>
        <p:nvSpPr>
          <p:cNvPr id="231" name="Shape 4"/>
          <p:cNvSpPr/>
          <p:nvPr/>
        </p:nvSpPr>
        <p:spPr>
          <a:xfrm>
            <a:off x="548640" y="1783080"/>
            <a:ext cx="2377440" cy="1371600"/>
          </a:xfrm>
          <a:prstGeom prst="roundRect">
            <a:avLst>
              <a:gd name="adj" fmla="val 28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2" name="Text 5"/>
          <p:cNvSpPr/>
          <p:nvPr/>
        </p:nvSpPr>
        <p:spPr>
          <a:xfrm>
            <a:off x="685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Sink（固定开头）</a:t>
            </a:r>
            <a:endParaRPr lang="en-US" sz="1200" dirty="0"/>
          </a:p>
        </p:txBody>
      </p:sp>
      <p:sp>
        <p:nvSpPr>
          <p:cNvPr id="233" name="Text 6"/>
          <p:cNvSpPr/>
          <p:nvPr/>
        </p:nvSpPr>
        <p:spPr>
          <a:xfrm>
            <a:off x="6858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12K token · 常驻</a:t>
            </a:r>
            <a:endParaRPr lang="en-US" sz="1000" dirty="0"/>
          </a:p>
        </p:txBody>
      </p:sp>
      <p:sp>
        <p:nvSpPr>
          <p:cNvPr id="234" name="Shape 7"/>
          <p:cNvSpPr/>
          <p:nvPr/>
        </p:nvSpPr>
        <p:spPr>
          <a:xfrm>
            <a:off x="3017520" y="1783080"/>
            <a:ext cx="1371600" cy="1371600"/>
          </a:xfrm>
          <a:prstGeom prst="roundRect">
            <a:avLst>
              <a:gd name="adj" fmla="val 28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Text 8"/>
          <p:cNvSpPr/>
          <p:nvPr/>
        </p:nvSpPr>
        <p:spPr>
          <a:xfrm>
            <a:off x="315468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Recent（最近窗口）</a:t>
            </a:r>
            <a:endParaRPr lang="en-US" sz="1200" dirty="0"/>
          </a:p>
        </p:txBody>
      </p:sp>
      <p:sp>
        <p:nvSpPr>
          <p:cNvPr id="236" name="Text 9"/>
          <p:cNvSpPr/>
          <p:nvPr/>
        </p:nvSpPr>
        <p:spPr>
          <a:xfrm>
            <a:off x="315468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1K token · 常驻</a:t>
            </a:r>
            <a:endParaRPr lang="en-US" sz="1000" dirty="0"/>
          </a:p>
        </p:txBody>
      </p:sp>
      <p:sp>
        <p:nvSpPr>
          <p:cNvPr id="237" name="Shape 10"/>
          <p:cNvSpPr/>
          <p:nvPr/>
        </p:nvSpPr>
        <p:spPr>
          <a:xfrm>
            <a:off x="4480560" y="1783080"/>
            <a:ext cx="4114800" cy="1371600"/>
          </a:xfrm>
          <a:prstGeom prst="roundRect">
            <a:avLst>
              <a:gd name="adj" fmla="val 2800"/>
            </a:avLst>
          </a:prstGeom>
          <a:solidFill>
            <a:srgbClr val="5A77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8" name="Text 11"/>
          <p:cNvSpPr/>
          <p:nvPr/>
        </p:nvSpPr>
        <p:spPr>
          <a:xfrm>
            <a:off x="4617720" y="1920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其余全部历史</a:t>
            </a:r>
            <a:endParaRPr lang="en-US" sz="1200" dirty="0"/>
          </a:p>
        </p:txBody>
      </p:sp>
      <p:sp>
        <p:nvSpPr>
          <p:cNvPr id="239" name="Text 12"/>
          <p:cNvSpPr/>
          <p:nvPr/>
        </p:nvSpPr>
        <p:spPr>
          <a:xfrm>
            <a:off x="461772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按检索命中才换入 GPU</a:t>
            </a:r>
            <a:endParaRPr lang="en-US" sz="1000" dirty="0"/>
          </a:p>
        </p:txBody>
      </p:sp>
      <p:sp>
        <p:nvSpPr>
          <p:cNvPr id="240" name="Text 13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于是：完整 KV 存放 Host RAM（可选下沉 SSD），GPU 只保留“当前用得着的”——KV 虚拟化诞生</a:t>
            </a:r>
            <a:endParaRPr lang="en-US" sz="1350" dirty="0"/>
          </a:p>
        </p:txBody>
      </p:sp>
      <p:sp>
        <p:nvSpPr>
          <p:cNvPr id="241" name="Text 14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05 / 27</a:t>
            </a:r>
            <a:endParaRPr lang="en-US" sz="1000" dirty="0"/>
          </a:p>
        </p:txBody>
      </p:sp>
      <p:sp>
        <p:nvSpPr>
          <p:cNvPr id="242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243" name="Rectangle 242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WORK</a:t>
            </a:r>
            <a:endParaRPr lang="en-US" sz="1100" dirty="0"/>
          </a:p>
        </p:txBody>
      </p:sp>
      <p:sp>
        <p:nvSpPr>
          <p:cNvPr id="24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</a:t>
            </a:r>
            <a:r>
              <a:rPr lang="en-US" altLang="zh-CN" sz="2400" b="1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</a:t>
            </a:r>
            <a:r>
              <a:rPr lang="zh-CN" altLang="en-US" sz="2400" b="1" dirty="0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2400" b="1" dirty="0" err="1" smtClean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开创性技术与公开进展</a:t>
            </a:r>
            <a:endParaRPr lang="en-US" sz="2400" dirty="0"/>
          </a:p>
        </p:txBody>
      </p:sp>
      <p:sp>
        <p:nvSpPr>
          <p:cNvPr id="247" name="Text 3"/>
          <p:cNvSpPr/>
          <p:nvPr/>
        </p:nvSpPr>
        <p:spPr>
          <a:xfrm>
            <a:off x="5486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系统性实践的首创技术</a:t>
            </a:r>
            <a:endParaRPr lang="en-US" sz="1300" dirty="0"/>
          </a:p>
        </p:txBody>
      </p:sp>
      <p:sp>
        <p:nvSpPr>
          <p:cNvPr id="248" name="Text 4"/>
          <p:cNvSpPr/>
          <p:nvPr/>
        </p:nvSpPr>
        <p:spPr>
          <a:xfrm>
            <a:off x="54864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虚拟化（含量化附属 + MTP KV 一起分层）</a:t>
            </a:r>
            <a:endParaRPr lang="en-US" sz="1050" dirty="0"/>
          </a:p>
        </p:txBody>
      </p:sp>
      <p:sp>
        <p:nvSpPr>
          <p:cNvPr id="249" name="Text 5"/>
          <p:cNvSpPr/>
          <p:nvPr/>
        </p:nvSpPr>
        <p:spPr>
          <a:xfrm>
            <a:off x="548640" y="1892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检索驱动的按需换入（不是全量搬运）</a:t>
            </a:r>
            <a:endParaRPr lang="en-US" sz="1050" dirty="0"/>
          </a:p>
        </p:txBody>
      </p:sp>
      <p:sp>
        <p:nvSpPr>
          <p:cNvPr id="250" name="Text 6"/>
          <p:cNvSpPr/>
          <p:nvPr/>
        </p:nvSpPr>
        <p:spPr>
          <a:xfrm>
            <a:off x="548640" y="23225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LRFU 历史加权 + GQA max 打分</a:t>
            </a:r>
            <a:endParaRPr lang="en-US" sz="1050" dirty="0"/>
          </a:p>
        </p:txBody>
      </p:sp>
      <p:sp>
        <p:nvSpPr>
          <p:cNvPr id="251" name="Text 7"/>
          <p:cNvSpPr/>
          <p:nvPr/>
        </p:nvSpPr>
        <p:spPr>
          <a:xfrm>
            <a:off x="548640" y="27523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所有权移动（恢复不复制、不重新量化）</a:t>
            </a:r>
            <a:endParaRPr lang="en-US" sz="1050" dirty="0"/>
          </a:p>
        </p:txBody>
      </p:sp>
      <p:sp>
        <p:nvSpPr>
          <p:cNvPr id="252" name="Text 8"/>
          <p:cNvSpPr/>
          <p:nvPr/>
        </p:nvSpPr>
        <p:spPr>
          <a:xfrm>
            <a:off x="548640" y="3182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 + 版本化发布 + 读租约</a:t>
            </a:r>
            <a:endParaRPr lang="en-US" sz="1050" dirty="0"/>
          </a:p>
        </p:txBody>
      </p:sp>
      <p:sp>
        <p:nvSpPr>
          <p:cNvPr id="253" name="Text 9"/>
          <p:cNvSpPr/>
          <p:nvPr/>
        </p:nvSpPr>
        <p:spPr>
          <a:xfrm>
            <a:off x="548640" y="3611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跨后端统一内存契约（双引擎共用）</a:t>
            </a:r>
            <a:endParaRPr lang="en-US" sz="1050" dirty="0"/>
          </a:p>
        </p:txBody>
      </p:sp>
      <p:sp>
        <p:nvSpPr>
          <p:cNvPr id="254" name="Shape 10"/>
          <p:cNvSpPr/>
          <p:nvPr/>
        </p:nvSpPr>
        <p:spPr>
          <a:xfrm>
            <a:off x="5029200" y="1143000"/>
            <a:ext cx="3611880" cy="3063240"/>
          </a:xfrm>
          <a:prstGeom prst="roundRect">
            <a:avLst>
              <a:gd name="adj" fmla="val 125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5" name="Shape 11"/>
          <p:cNvSpPr/>
          <p:nvPr/>
        </p:nvSpPr>
        <p:spPr>
          <a:xfrm>
            <a:off x="5029200" y="1143000"/>
            <a:ext cx="361188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6" name="Text 12"/>
          <p:cNvSpPr/>
          <p:nvPr/>
        </p:nvSpPr>
        <p:spPr>
          <a:xfrm>
            <a:off x="52578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公开进展（0.18.0 / RC3）</a:t>
            </a:r>
            <a:endParaRPr lang="en-US" sz="1300" dirty="0"/>
          </a:p>
        </p:txBody>
      </p:sp>
      <p:sp>
        <p:nvSpPr>
          <p:cNvPr id="257" name="Text 13"/>
          <p:cNvSpPr/>
          <p:nvPr/>
        </p:nvSpPr>
        <p:spPr>
          <a:xfrm>
            <a:off x="5257800" y="169164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双后端正式化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 + NInfer；Windows RTX 50 (sm120a) 正式包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RC3 实测（5060 Ti 16GB + IQ3_S 模型）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长历史工具轮 53.24 tok/s · 输入 26 万 token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日常文本 50.08 / 代码 64.54 tok/s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整卡显存峰值 ≈ 14.12 GiB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工程纪律示范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配对统计（95% 上界）· 边界“明确拒绝而非猜测”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完整的验收与失败记录公开</a:t>
            </a:r>
            <a:endParaRPr lang="en-US" sz="1050" dirty="0"/>
          </a:p>
        </p:txBody>
      </p:sp>
      <p:sp>
        <p:nvSpPr>
          <p:cNvPr id="258" name="Text 14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06 / 27</a:t>
            </a:r>
            <a:endParaRPr lang="en-US" sz="1000" dirty="0"/>
          </a:p>
        </p:txBody>
      </p:sp>
      <p:sp>
        <p:nvSpPr>
          <p:cNvPr id="259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260" name="Rectangle 259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WALL</a:t>
            </a:r>
            <a:endParaRPr lang="en-US" sz="1100" dirty="0"/>
          </a:p>
        </p:txBody>
      </p:sp>
      <p:sp>
        <p:nvSpPr>
          <p:cNvPr id="26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留下的那道墙：搬运在关键路径上</a:t>
            </a:r>
            <a:endParaRPr lang="en-US" sz="2400" dirty="0"/>
          </a:p>
        </p:txBody>
      </p:sp>
      <p:sp>
        <p:nvSpPr>
          <p:cNvPr id="264" name="Text 3"/>
          <p:cNvSpPr/>
          <p:nvPr/>
        </p:nvSpPr>
        <p:spPr>
          <a:xfrm>
            <a:off x="5486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事件驱动的形态</a:t>
            </a:r>
            <a:endParaRPr lang="en-US" sz="1200" dirty="0"/>
          </a:p>
        </p:txBody>
      </p:sp>
      <p:sp>
        <p:nvSpPr>
          <p:cNvPr id="265" name="Shape 4"/>
          <p:cNvSpPr/>
          <p:nvPr/>
        </p:nvSpPr>
        <p:spPr>
          <a:xfrm>
            <a:off x="2377440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6" name="Text 5"/>
          <p:cNvSpPr/>
          <p:nvPr/>
        </p:nvSpPr>
        <p:spPr>
          <a:xfrm>
            <a:off x="2377440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67" name="Shape 6"/>
          <p:cNvSpPr/>
          <p:nvPr/>
        </p:nvSpPr>
        <p:spPr>
          <a:xfrm>
            <a:off x="3675888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Text 7"/>
          <p:cNvSpPr/>
          <p:nvPr/>
        </p:nvSpPr>
        <p:spPr>
          <a:xfrm>
            <a:off x="3675888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等搬运</a:t>
            </a:r>
            <a:endParaRPr lang="en-US" sz="950" dirty="0"/>
          </a:p>
        </p:txBody>
      </p:sp>
      <p:sp>
        <p:nvSpPr>
          <p:cNvPr id="269" name="Shape 8"/>
          <p:cNvSpPr/>
          <p:nvPr/>
        </p:nvSpPr>
        <p:spPr>
          <a:xfrm>
            <a:off x="4974336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0" name="Text 9"/>
          <p:cNvSpPr/>
          <p:nvPr/>
        </p:nvSpPr>
        <p:spPr>
          <a:xfrm>
            <a:off x="4974336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1" name="Shape 10"/>
          <p:cNvSpPr/>
          <p:nvPr/>
        </p:nvSpPr>
        <p:spPr>
          <a:xfrm>
            <a:off x="6272784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Text 11"/>
          <p:cNvSpPr/>
          <p:nvPr/>
        </p:nvSpPr>
        <p:spPr>
          <a:xfrm>
            <a:off x="6272784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等搬运</a:t>
            </a:r>
            <a:endParaRPr lang="en-US" sz="950" dirty="0"/>
          </a:p>
        </p:txBody>
      </p:sp>
      <p:sp>
        <p:nvSpPr>
          <p:cNvPr id="273" name="Shape 12"/>
          <p:cNvSpPr/>
          <p:nvPr/>
        </p:nvSpPr>
        <p:spPr>
          <a:xfrm>
            <a:off x="7571232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4" name="Text 13"/>
          <p:cNvSpPr/>
          <p:nvPr/>
        </p:nvSpPr>
        <p:spPr>
          <a:xfrm>
            <a:off x="7571232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5" name="Text 14"/>
          <p:cNvSpPr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我们的目标</a:t>
            </a:r>
            <a:endParaRPr lang="en-US" sz="1200" dirty="0"/>
          </a:p>
        </p:txBody>
      </p:sp>
      <p:sp>
        <p:nvSpPr>
          <p:cNvPr id="276" name="Shape 15"/>
          <p:cNvSpPr/>
          <p:nvPr/>
        </p:nvSpPr>
        <p:spPr>
          <a:xfrm>
            <a:off x="2377440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7" name="Text 16"/>
          <p:cNvSpPr/>
          <p:nvPr/>
        </p:nvSpPr>
        <p:spPr>
          <a:xfrm>
            <a:off x="2377440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8" name="Shape 17"/>
          <p:cNvSpPr/>
          <p:nvPr/>
        </p:nvSpPr>
        <p:spPr>
          <a:xfrm>
            <a:off x="3675888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9" name="Text 18"/>
          <p:cNvSpPr/>
          <p:nvPr/>
        </p:nvSpPr>
        <p:spPr>
          <a:xfrm>
            <a:off x="3675888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0" name="Shape 19"/>
          <p:cNvSpPr/>
          <p:nvPr/>
        </p:nvSpPr>
        <p:spPr>
          <a:xfrm>
            <a:off x="4974336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1" name="Text 20"/>
          <p:cNvSpPr/>
          <p:nvPr/>
        </p:nvSpPr>
        <p:spPr>
          <a:xfrm>
            <a:off x="4974336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2" name="Shape 21"/>
          <p:cNvSpPr/>
          <p:nvPr/>
        </p:nvSpPr>
        <p:spPr>
          <a:xfrm>
            <a:off x="6272784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3" name="Text 22"/>
          <p:cNvSpPr/>
          <p:nvPr/>
        </p:nvSpPr>
        <p:spPr>
          <a:xfrm>
            <a:off x="6272784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4" name="Shape 23"/>
          <p:cNvSpPr/>
          <p:nvPr/>
        </p:nvSpPr>
        <p:spPr>
          <a:xfrm>
            <a:off x="7571232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5" name="Text 24"/>
          <p:cNvSpPr/>
          <p:nvPr/>
        </p:nvSpPr>
        <p:spPr>
          <a:xfrm>
            <a:off x="7571232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6" name="Shape 25"/>
          <p:cNvSpPr/>
          <p:nvPr/>
        </p:nvSpPr>
        <p:spPr>
          <a:xfrm>
            <a:off x="2377440" y="2395728"/>
            <a:ext cx="6309360" cy="310896"/>
          </a:xfrm>
          <a:prstGeom prst="roundRect">
            <a:avLst>
              <a:gd name="adj" fmla="val 12500"/>
            </a:avLst>
          </a:prstGeom>
          <a:solidFill>
            <a:srgbClr val="1632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7" name="Text 26"/>
          <p:cNvSpPr/>
          <p:nvPr/>
        </p:nvSpPr>
        <p:spPr>
          <a:xfrm>
            <a:off x="2514600" y="24048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搬运与计算重叠执行（第七页解剖）</a:t>
            </a:r>
            <a:endParaRPr lang="en-US" sz="1000" dirty="0"/>
          </a:p>
        </p:txBody>
      </p:sp>
      <p:sp>
        <p:nvSpPr>
          <p:cNvPr id="288" name="Text 27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墙的准确位置：上游的 CPU I/O 段已异步（有界任务队列）——留下的墙在 GPU 段：搬运完成后才发布，且换页由事件触发（无每步裁决、无预取、无多批在飞）。⇒ </a:t>
            </a:r>
            <a:r>
              <a:rPr lang="en-US" sz="13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“池不要小于工作集”的工程红线，本质是在</a:t>
            </a:r>
            <a:r>
              <a:rPr lang="en-US" sz="1300" b="1" dirty="0">
                <a:solidFill>
                  <a:srgbClr val="FF8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回避换页</a:t>
            </a:r>
            <a:r>
              <a:rPr lang="en-US" sz="13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——池盖住需求就不换。但 Agent 的真实上下文会持续增长，回避终有尽头。</a:t>
            </a:r>
            <a:endParaRPr lang="en-US" sz="1300" dirty="0"/>
          </a:p>
        </p:txBody>
      </p:sp>
      <p:sp>
        <p:nvSpPr>
          <p:cNvPr id="289" name="Text 28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我们的探索从墙的准确位置开始：把 GPU </a:t>
            </a:r>
            <a:r>
              <a:rPr lang="en-US" sz="1350" b="1" dirty="0" err="1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段搬运藏进解码步窗，</a:t>
            </a:r>
            <a:r>
              <a:rPr lang="en-US" sz="1350" b="1" dirty="0" err="1" smtClean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r>
              <a:rPr lang="en-US" sz="1350" b="1" dirty="0" smtClean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 err="1" smtClean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</a:t>
            </a:r>
            <a:r>
              <a:rPr lang="en-US" sz="1350" b="1" dirty="0" smtClean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 err="1" smtClean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升级为</a:t>
            </a:r>
            <a:r>
              <a:rPr lang="en-US" sz="1350" b="1" dirty="0" smtClean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 err="1" smtClean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步进流水</a:t>
            </a:r>
            <a:r>
              <a:rPr lang="en-US" sz="13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290" name="Text 29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07 / 27</a:t>
            </a:r>
            <a:endParaRPr lang="en-US" sz="1000" dirty="0"/>
          </a:p>
        </p:txBody>
      </p:sp>
      <p:sp>
        <p:nvSpPr>
          <p:cNvPr id="291" name="Text 3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292" name="Rectangle 291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4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①</a:t>
            </a:r>
            <a:endParaRPr lang="en-US" sz="1100" dirty="0"/>
          </a:p>
        </p:txBody>
      </p:sp>
      <p:sp>
        <p:nvSpPr>
          <p:cNvPr id="295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异步页流水（Async Page Pipeline）：让搬运和计算同时发生</a:t>
            </a:r>
            <a:endParaRPr lang="en-US" sz="2400" dirty="0"/>
          </a:p>
        </p:txBody>
      </p:sp>
      <p:sp>
        <p:nvSpPr>
          <p:cNvPr id="296" name="Text 3"/>
          <p:cNvSpPr/>
          <p:nvPr/>
        </p:nvSpPr>
        <p:spPr>
          <a:xfrm>
            <a:off x="54864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 1</a:t>
            </a:r>
            <a:endParaRPr lang="en-US" sz="1050" dirty="0"/>
          </a:p>
        </p:txBody>
      </p:sp>
      <p:sp>
        <p:nvSpPr>
          <p:cNvPr id="297" name="Shape 4"/>
          <p:cNvSpPr/>
          <p:nvPr/>
        </p:nvSpPr>
        <p:spPr>
          <a:xfrm>
            <a:off x="1554480" y="117043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8" name="Text 5"/>
          <p:cNvSpPr/>
          <p:nvPr/>
        </p:nvSpPr>
        <p:spPr>
          <a:xfrm>
            <a:off x="155448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推理步</a:t>
            </a:r>
            <a:endParaRPr lang="en-US" sz="1000" dirty="0"/>
          </a:p>
        </p:txBody>
      </p:sp>
      <p:sp>
        <p:nvSpPr>
          <p:cNvPr id="299" name="Text 6"/>
          <p:cNvSpPr/>
          <p:nvPr/>
        </p:nvSpPr>
        <p:spPr>
          <a:xfrm>
            <a:off x="384048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 2</a:t>
            </a:r>
            <a:endParaRPr lang="en-US" sz="1050" dirty="0"/>
          </a:p>
        </p:txBody>
      </p:sp>
      <p:sp>
        <p:nvSpPr>
          <p:cNvPr id="300" name="Shape 7"/>
          <p:cNvSpPr/>
          <p:nvPr/>
        </p:nvSpPr>
        <p:spPr>
          <a:xfrm>
            <a:off x="4846320" y="117043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1" name="Text 8"/>
          <p:cNvSpPr/>
          <p:nvPr/>
        </p:nvSpPr>
        <p:spPr>
          <a:xfrm>
            <a:off x="484632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推理步</a:t>
            </a:r>
            <a:endParaRPr lang="en-US" sz="1000" dirty="0"/>
          </a:p>
        </p:txBody>
      </p:sp>
      <p:sp>
        <p:nvSpPr>
          <p:cNvPr id="302" name="Shape 9"/>
          <p:cNvSpPr/>
          <p:nvPr/>
        </p:nvSpPr>
        <p:spPr>
          <a:xfrm>
            <a:off x="1554480" y="167335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3" name="Text 10"/>
          <p:cNvSpPr/>
          <p:nvPr/>
        </p:nvSpPr>
        <p:spPr>
          <a:xfrm>
            <a:off x="1554480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搬运（批 8 页）</a:t>
            </a:r>
            <a:endParaRPr lang="en-US" sz="1000" dirty="0"/>
          </a:p>
        </p:txBody>
      </p:sp>
      <p:sp>
        <p:nvSpPr>
          <p:cNvPr id="304" name="Text 11"/>
          <p:cNvSpPr/>
          <p:nvPr/>
        </p:nvSpPr>
        <p:spPr>
          <a:xfrm>
            <a:off x="3840480" y="1700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下一步开始前，页已就位</a:t>
            </a:r>
            <a:endParaRPr lang="en-US" sz="1050" dirty="0"/>
          </a:p>
        </p:txBody>
      </p:sp>
      <p:sp>
        <p:nvSpPr>
          <p:cNvPr id="305" name="Shape 12"/>
          <p:cNvSpPr/>
          <p:nvPr/>
        </p:nvSpPr>
        <p:spPr>
          <a:xfrm>
            <a:off x="5486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6" name="Shape 13"/>
          <p:cNvSpPr/>
          <p:nvPr/>
        </p:nvSpPr>
        <p:spPr>
          <a:xfrm>
            <a:off x="5486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7" name="Text 14"/>
          <p:cNvSpPr/>
          <p:nvPr/>
        </p:nvSpPr>
        <p:spPr>
          <a:xfrm>
            <a:off x="8046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+ 批</a:t>
            </a:r>
            <a:endParaRPr lang="en-US" sz="1250" dirty="0"/>
          </a:p>
        </p:txBody>
      </p:sp>
      <p:sp>
        <p:nvSpPr>
          <p:cNvPr id="308" name="Text 15"/>
          <p:cNvSpPr/>
          <p:nvPr/>
        </p:nvSpPr>
        <p:spPr>
          <a:xfrm>
            <a:off x="8046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token/页；8 页一批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控制单次搬运占用</a:t>
            </a:r>
            <a:endParaRPr lang="en-US" sz="1000" dirty="0"/>
          </a:p>
        </p:txBody>
      </p:sp>
      <p:sp>
        <p:nvSpPr>
          <p:cNvPr id="309" name="Shape 16"/>
          <p:cNvSpPr/>
          <p:nvPr/>
        </p:nvSpPr>
        <p:spPr>
          <a:xfrm>
            <a:off x="46634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0" name="Shape 17"/>
          <p:cNvSpPr/>
          <p:nvPr/>
        </p:nvSpPr>
        <p:spPr>
          <a:xfrm>
            <a:off x="46634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1" name="Text 18"/>
          <p:cNvSpPr/>
          <p:nvPr/>
        </p:nvSpPr>
        <p:spPr>
          <a:xfrm>
            <a:off x="49194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提交即返回</a:t>
            </a:r>
            <a:endParaRPr lang="en-US" sz="1250" dirty="0"/>
          </a:p>
        </p:txBody>
      </p:sp>
      <p:sp>
        <p:nvSpPr>
          <p:cNvPr id="312" name="Text 19"/>
          <p:cNvSpPr/>
          <p:nvPr/>
        </p:nvSpPr>
        <p:spPr>
          <a:xfrm>
            <a:off x="49194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解码步不等搬运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这是“异步”的本质</a:t>
            </a:r>
            <a:endParaRPr lang="en-US" sz="1000" dirty="0"/>
          </a:p>
        </p:txBody>
      </p:sp>
      <p:sp>
        <p:nvSpPr>
          <p:cNvPr id="313" name="Shape 20"/>
          <p:cNvSpPr/>
          <p:nvPr/>
        </p:nvSpPr>
        <p:spPr>
          <a:xfrm>
            <a:off x="5486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4" name="Shape 21"/>
          <p:cNvSpPr/>
          <p:nvPr/>
        </p:nvSpPr>
        <p:spPr>
          <a:xfrm>
            <a:off x="5486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5" name="Text 22"/>
          <p:cNvSpPr/>
          <p:nvPr/>
        </p:nvSpPr>
        <p:spPr>
          <a:xfrm>
            <a:off x="8046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在飞页计数</a:t>
            </a:r>
            <a:endParaRPr lang="en-US" sz="1250" dirty="0"/>
          </a:p>
        </p:txBody>
      </p:sp>
      <p:sp>
        <p:nvSpPr>
          <p:cNvPr id="316" name="Text 23"/>
          <p:cNvSpPr/>
          <p:nvPr/>
        </p:nvSpPr>
        <p:spPr>
          <a:xfrm>
            <a:off x="8046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“已离开设备、未发布”的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中间态如实记账</a:t>
            </a:r>
            <a:endParaRPr lang="en-US" sz="1000" dirty="0"/>
          </a:p>
        </p:txBody>
      </p:sp>
      <p:sp>
        <p:nvSpPr>
          <p:cNvPr id="317" name="Shape 24"/>
          <p:cNvSpPr/>
          <p:nvPr/>
        </p:nvSpPr>
        <p:spPr>
          <a:xfrm>
            <a:off x="46634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8" name="Shape 25"/>
          <p:cNvSpPr/>
          <p:nvPr/>
        </p:nvSpPr>
        <p:spPr>
          <a:xfrm>
            <a:off x="46634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9" name="Text 26"/>
          <p:cNvSpPr/>
          <p:nvPr/>
        </p:nvSpPr>
        <p:spPr>
          <a:xfrm>
            <a:off x="49194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 / drop</a:t>
            </a:r>
            <a:endParaRPr lang="en-US" sz="1250" dirty="0"/>
          </a:p>
        </p:txBody>
      </p:sp>
      <p:sp>
        <p:nvSpPr>
          <p:cNvPr id="320" name="Text 27"/>
          <p:cNvSpPr/>
          <p:nvPr/>
        </p:nvSpPr>
        <p:spPr>
          <a:xfrm>
            <a:off x="49194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搬完校验才发布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确定无用才丢弃</a:t>
            </a:r>
            <a:endParaRPr lang="en-US" sz="1000" dirty="0"/>
          </a:p>
        </p:txBody>
      </p:sp>
      <p:sp>
        <p:nvSpPr>
          <p:cNvPr id="321" name="Text 28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08 / 27</a:t>
            </a:r>
            <a:endParaRPr lang="en-US" sz="1000" dirty="0"/>
          </a:p>
        </p:txBody>
      </p:sp>
      <p:sp>
        <p:nvSpPr>
          <p:cNvPr id="322" name="Text 2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323" name="Rectangle 322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100" dirty="0"/>
          </a:p>
        </p:txBody>
      </p:sp>
      <p:sp>
        <p:nvSpPr>
          <p:cNvPr id="32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搬运是怎么“藏”起来的？</a:t>
            </a:r>
            <a:endParaRPr lang="en-US" sz="2400" dirty="0"/>
          </a:p>
        </p:txBody>
      </p:sp>
      <p:sp>
        <p:nvSpPr>
          <p:cNvPr id="327" name="Shape 3"/>
          <p:cNvSpPr/>
          <p:nvPr/>
        </p:nvSpPr>
        <p:spPr>
          <a:xfrm>
            <a:off x="54864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8" name="Shape 4"/>
          <p:cNvSpPr/>
          <p:nvPr/>
        </p:nvSpPr>
        <p:spPr>
          <a:xfrm>
            <a:off x="54864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9" name="Text 5"/>
          <p:cNvSpPr/>
          <p:nvPr/>
        </p:nvSpPr>
        <p:spPr>
          <a:xfrm>
            <a:off x="74980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主厨</a:t>
            </a:r>
            <a:endParaRPr lang="en-US" sz="1400" dirty="0"/>
          </a:p>
        </p:txBody>
      </p:sp>
      <p:sp>
        <p:nvSpPr>
          <p:cNvPr id="330" name="Text 6"/>
          <p:cNvSpPr/>
          <p:nvPr/>
        </p:nvSpPr>
        <p:spPr>
          <a:xfrm>
            <a:off x="74980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计算单元（SM）</a:t>
            </a:r>
            <a:endParaRPr lang="en-US" sz="1000" dirty="0"/>
          </a:p>
        </p:txBody>
      </p:sp>
      <p:sp>
        <p:nvSpPr>
          <p:cNvPr id="331" name="Text 7"/>
          <p:cNvSpPr/>
          <p:nvPr/>
        </p:nvSpPr>
        <p:spPr>
          <a:xfrm>
            <a:off x="74980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跑解码的整张计算图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每个解码步约 27-32 ms</a:t>
            </a:r>
            <a:endParaRPr lang="en-US" sz="950" dirty="0"/>
          </a:p>
        </p:txBody>
      </p:sp>
      <p:sp>
        <p:nvSpPr>
          <p:cNvPr id="332" name="Shape 8"/>
          <p:cNvSpPr/>
          <p:nvPr/>
        </p:nvSpPr>
        <p:spPr>
          <a:xfrm>
            <a:off x="333756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3" name="Shape 9"/>
          <p:cNvSpPr/>
          <p:nvPr/>
        </p:nvSpPr>
        <p:spPr>
          <a:xfrm>
            <a:off x="333756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4" name="Text 10"/>
          <p:cNvSpPr/>
          <p:nvPr/>
        </p:nvSpPr>
        <p:spPr>
          <a:xfrm>
            <a:off x="353872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专职跑腿</a:t>
            </a:r>
            <a:endParaRPr lang="en-US" sz="1400" dirty="0"/>
          </a:p>
        </p:txBody>
      </p:sp>
      <p:sp>
        <p:nvSpPr>
          <p:cNvPr id="335" name="Text 11"/>
          <p:cNvSpPr/>
          <p:nvPr/>
        </p:nvSpPr>
        <p:spPr>
          <a:xfrm>
            <a:off x="353872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拷贝引擎（DMA）</a:t>
            </a:r>
            <a:endParaRPr lang="en-US" sz="1000" dirty="0"/>
          </a:p>
        </p:txBody>
      </p:sp>
      <p:sp>
        <p:nvSpPr>
          <p:cNvPr id="336" name="Text 12"/>
          <p:cNvSpPr/>
          <p:nvPr/>
        </p:nvSpPr>
        <p:spPr>
          <a:xfrm>
            <a:off x="353872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 ↔ 内存之间搬页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每批 8 页约 1-3 ms</a:t>
            </a:r>
            <a:endParaRPr lang="en-US" sz="950" dirty="0"/>
          </a:p>
        </p:txBody>
      </p:sp>
      <p:sp>
        <p:nvSpPr>
          <p:cNvPr id="337" name="Shape 13"/>
          <p:cNvSpPr/>
          <p:nvPr/>
        </p:nvSpPr>
        <p:spPr>
          <a:xfrm>
            <a:off x="612648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8" name="Shape 14"/>
          <p:cNvSpPr/>
          <p:nvPr/>
        </p:nvSpPr>
        <p:spPr>
          <a:xfrm>
            <a:off x="612648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D98E1F">
              <a:alpha val="10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9" name="Text 15"/>
          <p:cNvSpPr/>
          <p:nvPr/>
        </p:nvSpPr>
        <p:spPr>
          <a:xfrm>
            <a:off x="632764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经理</a:t>
            </a:r>
            <a:endParaRPr lang="en-US" sz="1400" dirty="0"/>
          </a:p>
        </p:txBody>
      </p:sp>
      <p:sp>
        <p:nvSpPr>
          <p:cNvPr id="340" name="Text 16"/>
          <p:cNvSpPr/>
          <p:nvPr/>
        </p:nvSpPr>
        <p:spPr>
          <a:xfrm>
            <a:off x="632764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调度线程</a:t>
            </a:r>
            <a:endParaRPr lang="en-US" sz="1000" dirty="0"/>
          </a:p>
        </p:txBody>
      </p:sp>
      <p:sp>
        <p:nvSpPr>
          <p:cNvPr id="341" name="Text 17"/>
          <p:cNvSpPr/>
          <p:nvPr/>
        </p:nvSpPr>
        <p:spPr>
          <a:xfrm>
            <a:off x="632764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三道过滤器：保护范围 → 水位 → 相关性打分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微秒级——不亲手搬</a:t>
            </a:r>
            <a:endParaRPr lang="en-US" sz="950" dirty="0"/>
          </a:p>
        </p:txBody>
      </p:sp>
      <p:sp>
        <p:nvSpPr>
          <p:cNvPr id="342" name="Shape 18"/>
          <p:cNvSpPr/>
          <p:nvPr/>
        </p:nvSpPr>
        <p:spPr>
          <a:xfrm>
            <a:off x="548640" y="2816352"/>
            <a:ext cx="8046720" cy="566928"/>
          </a:xfrm>
          <a:prstGeom prst="roundRect">
            <a:avLst>
              <a:gd name="adj" fmla="val 6700"/>
            </a:avLst>
          </a:prstGeom>
          <a:solidFill>
            <a:srgbClr val="2346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3" name="Text 19"/>
          <p:cNvSpPr/>
          <p:nvPr/>
        </p:nvSpPr>
        <p:spPr>
          <a:xfrm>
            <a:off x="777240" y="286207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不是让主厨停下活去仓库取菜，而是后厨一直开火、跑腿小哥专职往返仓库与灶台——两双不同的手，同时干活。</a:t>
            </a:r>
            <a:endParaRPr lang="en-US" sz="1200" dirty="0"/>
          </a:p>
        </p:txBody>
      </p:sp>
      <p:sp>
        <p:nvSpPr>
          <p:cNvPr id="344" name="Text 20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ms 藏在 27-32 ms 里 → 完全隐藏    ｜    </a:t>
            </a:r>
            <a:r>
              <a:rPr lang="en-US" sz="14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74.4K 深度超池 → 114.4 tok/s</a:t>
            </a:r>
            <a:endParaRPr lang="en-US" sz="1400" dirty="0"/>
          </a:p>
        </p:txBody>
      </p:sp>
      <p:sp>
        <p:nvSpPr>
          <p:cNvPr id="345" name="Text 21"/>
          <p:cNvSpPr/>
          <p:nvPr/>
        </p:nvSpPr>
        <p:spPr>
          <a:xfrm>
            <a:off x="548640" y="40416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双保险：决策更准（保护/水位/打分三道过滤器）+ 失误更便宜（异步隐藏 + A2 无损）；在飞计数 + 账本保证不丢失、不重复。</a:t>
            </a:r>
            <a:endParaRPr lang="en-US" sz="1050" dirty="0"/>
          </a:p>
        </p:txBody>
      </p:sp>
      <p:sp>
        <p:nvSpPr>
          <p:cNvPr id="346" name="Text 22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09 / 27</a:t>
            </a:r>
            <a:endParaRPr lang="en-US" sz="1000" dirty="0"/>
          </a:p>
        </p:txBody>
      </p:sp>
      <p:sp>
        <p:nvSpPr>
          <p:cNvPr id="347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348" name="Rectangle 347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C6D6"/>
                </a:solidFill>
                <a:latin typeface="Microsoft YaHei"/>
              </a:rPr>
              <a:t>ALGORITHM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1052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 err="1">
                <a:solidFill>
                  <a:srgbClr val="FFFFFF"/>
                </a:solidFill>
                <a:latin typeface="Microsoft YaHei"/>
              </a:rPr>
              <a:t>算法基础：Host</a:t>
            </a:r>
            <a:r>
              <a:rPr sz="2200" b="1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2200" b="1" dirty="0" err="1" smtClean="0">
                <a:solidFill>
                  <a:srgbClr val="FFFFFF"/>
                </a:solidFill>
                <a:latin typeface="Microsoft YaHei"/>
              </a:rPr>
              <a:t>调度如何精准高效</a:t>
            </a:r>
            <a:r>
              <a:rPr lang="zh-CN" altLang="en-US" sz="22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流动</a:t>
            </a:r>
            <a:r>
              <a:rPr lang="en-US" altLang="zh-CN" sz="2200" b="1" dirty="0" smtClean="0">
                <a:solidFill>
                  <a:srgbClr val="FFFFFF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——</a:t>
            </a:r>
            <a:r>
              <a:rPr lang="zh-CN" altLang="en-US" sz="2200" b="1" dirty="0">
                <a:solidFill>
                  <a:srgbClr val="FFFFFF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让页面“在飞”</a:t>
            </a:r>
            <a:endParaRPr sz="2200" b="1" dirty="0">
              <a:solidFill>
                <a:srgbClr val="FFFFFF"/>
              </a:solidFill>
              <a:latin typeface="方正小标宋简体" panose="03000509000000000000" pitchFamily="65" charset="-122"/>
              <a:ea typeface="方正小标宋简体" panose="03000509000000000000" pitchFamily="65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00" dirty="0" err="1" smtClean="0">
                <a:solidFill>
                  <a:srgbClr val="A9BECC"/>
                </a:solidFill>
                <a:latin typeface="Microsoft YaHei"/>
              </a:rPr>
              <a:t>继承</a:t>
            </a:r>
            <a:r>
              <a:rPr lang="zh-CN" altLang="en-US" sz="1000" dirty="0" smtClean="0">
                <a:solidFill>
                  <a:srgbClr val="A9BECC"/>
                </a:solidFill>
                <a:latin typeface="Microsoft YaHei"/>
              </a:rPr>
              <a:t>：</a:t>
            </a:r>
            <a:endParaRPr lang="en-US" altLang="zh-CN" sz="1000" dirty="0" smtClean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700"/>
              </a:spcAft>
            </a:pPr>
            <a:r>
              <a:rPr lang="zh-CN" altLang="en-US" sz="1000" dirty="0">
                <a:solidFill>
                  <a:srgbClr val="A9BECC"/>
                </a:solidFill>
                <a:latin typeface="Microsoft YaHei"/>
              </a:rPr>
              <a:t>▪</a:t>
            </a:r>
            <a:r>
              <a:rPr sz="1000" dirty="0" smtClean="0">
                <a:solidFill>
                  <a:srgbClr val="A9BECC"/>
                </a:solidFill>
                <a:latin typeface="Microsoft YaHei"/>
              </a:rPr>
              <a:t>上游的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“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调度大脑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”（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决策层，零改动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）：LRFU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历史加权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 + GQA max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打分（决定先召回谁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）· sink/recent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保护窗口（永不换出的零误判区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）·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配额制（写前取配额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）· 64 token/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页粒度</a:t>
            </a:r>
            <a:endParaRPr sz="100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700"/>
              </a:spcAft>
            </a:pPr>
            <a:r>
              <a:rPr sz="100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00" dirty="0" err="1" smtClean="0">
                <a:solidFill>
                  <a:srgbClr val="A9BECC"/>
                </a:solidFill>
                <a:latin typeface="Microsoft YaHei"/>
              </a:rPr>
              <a:t>自研</a:t>
            </a:r>
            <a:r>
              <a:rPr lang="zh-CN" altLang="en-US" sz="1000" dirty="0" smtClean="0">
                <a:solidFill>
                  <a:srgbClr val="A9BECC"/>
                </a:solidFill>
                <a:latin typeface="Microsoft YaHei"/>
              </a:rPr>
              <a:t>：</a:t>
            </a:r>
            <a:endParaRPr lang="en-US" altLang="zh-CN" sz="1000" dirty="0" smtClean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700"/>
              </a:spcAft>
            </a:pPr>
            <a:r>
              <a:rPr lang="zh-CN" altLang="en-US" sz="1000" dirty="0">
                <a:solidFill>
                  <a:srgbClr val="A9BECC"/>
                </a:solidFill>
                <a:latin typeface="Microsoft YaHei"/>
              </a:rPr>
              <a:t>▪</a:t>
            </a:r>
            <a:r>
              <a:rPr sz="1000" dirty="0" smtClean="0">
                <a:solidFill>
                  <a:srgbClr val="A9BECC"/>
                </a:solidFill>
                <a:latin typeface="Microsoft YaHei"/>
              </a:rPr>
              <a:t>“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步进执行器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”（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执行层，全部新增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）：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每步水位裁决（上游是事件驱动：配额满才动；我们每步检查，义务摊到每一步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）</a:t>
            </a:r>
          </a:p>
          <a:p>
            <a:pPr>
              <a:spcAft>
                <a:spcPts val="700"/>
              </a:spcAft>
            </a:pPr>
            <a:r>
              <a:rPr lang="zh-CN" altLang="en-US" sz="100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00" dirty="0" smtClean="0">
                <a:solidFill>
                  <a:srgbClr val="A9BECC"/>
                </a:solidFill>
                <a:latin typeface="Microsoft YaHei"/>
              </a:rPr>
              <a:t> 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批量搬运：8 页/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批、单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 extent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覆盖整批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——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减少提交次数与分配开销</a:t>
            </a:r>
            <a:endParaRPr sz="100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700"/>
              </a:spcAft>
            </a:pPr>
            <a:r>
              <a:rPr lang="zh-CN" altLang="en-US" sz="1000" dirty="0" smtClean="0">
                <a:solidFill>
                  <a:srgbClr val="A9BECC"/>
                </a:solidFill>
                <a:latin typeface="Microsoft YaHei"/>
              </a:rPr>
              <a:t>▪</a:t>
            </a:r>
            <a:r>
              <a:rPr sz="1000" dirty="0" smtClean="0">
                <a:solidFill>
                  <a:srgbClr val="A9BECC"/>
                </a:solidFill>
                <a:latin typeface="Microsoft YaHei"/>
              </a:rPr>
              <a:t> 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transfer stream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异步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 +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下一步收割：提交即返回，DMA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与解码并行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——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这是与上游的核心差异（上游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 GPU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段搬运同步等待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）</a:t>
            </a:r>
          </a:p>
          <a:p>
            <a:pPr>
              <a:spcAft>
                <a:spcPts val="700"/>
              </a:spcAft>
            </a:pPr>
            <a:r>
              <a:rPr lang="zh-CN" altLang="en-US" sz="100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00" dirty="0" err="1" smtClean="0">
                <a:solidFill>
                  <a:srgbClr val="A9BECC"/>
                </a:solidFill>
                <a:latin typeface="Microsoft YaHei"/>
              </a:rPr>
              <a:t>在飞页计数</a:t>
            </a:r>
            <a:r>
              <a:rPr sz="1000" dirty="0" smtClean="0">
                <a:solidFill>
                  <a:srgbClr val="A9BECC"/>
                </a:solidFill>
                <a:latin typeface="Microsoft YaHei"/>
              </a:rPr>
              <a:t> 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+ publish/drop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账本</a:t>
            </a:r>
            <a:r>
              <a:rPr sz="1000" dirty="0">
                <a:solidFill>
                  <a:srgbClr val="A9BECC"/>
                </a:solidFill>
                <a:latin typeface="Microsoft YaHei"/>
              </a:rPr>
              <a:t> + </a:t>
            </a:r>
            <a:r>
              <a:rPr sz="1000" dirty="0" err="1">
                <a:solidFill>
                  <a:srgbClr val="A9BECC"/>
                </a:solidFill>
                <a:latin typeface="Microsoft YaHei"/>
              </a:rPr>
              <a:t>取消回滚：搬运中间态如实记账，任何时候至少一份有效副本</a:t>
            </a:r>
            <a:endParaRPr sz="1000" dirty="0">
              <a:solidFill>
                <a:srgbClr val="A9BECC"/>
              </a:solidFill>
              <a:latin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调度大脑继承上游（决策接口零改动，语义零破坏）——步进执行器是我们的：把上游的事件驱动升级为步进流水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C6D6"/>
                </a:solidFill>
                <a:latin typeface="Microsoft YaHei"/>
              </a:rPr>
              <a:t>WHERE PAGES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148384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dirty="0" err="1">
                <a:solidFill>
                  <a:srgbClr val="FFFFFF"/>
                </a:solidFill>
                <a:latin typeface="Microsoft YaHei"/>
              </a:rPr>
              <a:t>物理基础：提前搬运的页放在哪</a:t>
            </a:r>
            <a:r>
              <a:rPr sz="2300" b="1" dirty="0" err="1" smtClean="0">
                <a:solidFill>
                  <a:srgbClr val="FFFFFF"/>
                </a:solidFill>
                <a:latin typeface="Microsoft YaHei"/>
              </a:rPr>
              <a:t>？池页数恒定</a:t>
            </a:r>
            <a:r>
              <a:rPr sz="2300" b="1" dirty="0" err="1">
                <a:solidFill>
                  <a:srgbClr val="FFFFFF"/>
                </a:solidFill>
                <a:latin typeface="Microsoft YaHei"/>
              </a:rPr>
              <a:t>，</a:t>
            </a:r>
            <a:r>
              <a:rPr sz="2300" b="1" dirty="0" err="1" smtClean="0">
                <a:solidFill>
                  <a:srgbClr val="FFFFFF"/>
                </a:solidFill>
                <a:latin typeface="Microsoft YaHei"/>
              </a:rPr>
              <a:t>搬运只换内容</a:t>
            </a:r>
            <a:endParaRPr sz="2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804672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设备池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= 1,024 个页槽（65,536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tok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÷ 64），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启动时一次分配、永不增减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——搬运不是“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加空间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”，是“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换槽里的内容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”（同 OS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物理页帧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</a:t>
            </a:r>
          </a:p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restore（搬回）的落点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=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设备池的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free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槽；demote（搬出）的落点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= Host RAM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配额槽（写前取配额：host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没空槽就不发起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</a:t>
            </a:r>
          </a:p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空间守恒律：restore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进来的每页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= demote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出去的一页的槽；每步新增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N 页 =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每步腾出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N 槽——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稳态流水平衡</a:t>
            </a:r>
            <a:endParaRPr sz="105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唯一的瞬时额外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=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在飞批次的双份副本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≈ 26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MiB（publish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前旧副本不丢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——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账本保证任何时刻至少一份有效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</a:t>
            </a:r>
          </a:p>
          <a:p>
            <a:pPr>
              <a:spcAft>
                <a:spcPts val="700"/>
              </a:spcAft>
            </a:pPr>
            <a:r>
              <a:rPr sz="1050" dirty="0">
                <a:solidFill>
                  <a:srgbClr val="A9BECC"/>
                </a:solidFill>
                <a:latin typeface="Microsoft YaHei"/>
              </a:rPr>
              <a:t>▪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池满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 = </a:t>
            </a:r>
            <a:r>
              <a:rPr sz="1050" dirty="0" err="1">
                <a:solidFill>
                  <a:srgbClr val="A9BECC"/>
                </a:solidFill>
                <a:latin typeface="Microsoft YaHei"/>
              </a:rPr>
              <a:t>换页体系的设计工况：池满不回退，池浅才等价（浅载无搬运需求，两条路自然一样快</a:t>
            </a:r>
            <a:r>
              <a:rPr sz="1050" dirty="0">
                <a:solidFill>
                  <a:srgbClr val="A9BECC"/>
                </a:solidFill>
                <a:latin typeface="Microsoft YaHei"/>
              </a:rPr>
              <a:t>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真边界只有两条：Host 配额耗尽（=原作者 SSD 层场景，128 GB 下远不可达）与瞬时涌入超流水深度（=深流水要覆盖的工况）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C6D6"/>
                </a:solidFill>
                <a:latin typeface="Microsoft YaHei"/>
              </a:rPr>
              <a:t>THEORY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数学基础：异步页流水的收益不等式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804672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守恒律：工作集 &gt; 池 ⇒ 每步新增页必须换出等量页——搬运义务的总量由工作集/池比决定，与开关无关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支付位置：同步把义务 100% 放在关键路径（解码等 DMA）；异步把义务放进影子时间 ⇒ T异步 ≤ T同步 恒成立，相等仅当义务为零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三参数公式：收益% =（义务率 × 单位成本）/ 步窗 =（0.09 页/步 × 1.6 MiB）/ 30 ms ≈ 0.05%（稳态换页义务微不足道）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收益主要来源 = 召回爆发：轮首 turn closure 集中召回数十 MiB——工作集越超池、轮次越长，爆发越大收益越大——这解释全部实测（浅载 r≈1 / 深轮 r=0.80）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实测对照（10-19 三档浅载）：D2 187.1 &gt; D0 183.6 &gt; D1 182.6——方向与不等式一致；D1 反常（半流水开销）已立挂账复查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不等式由守恒律与硬件并行性（DMA/SM）保证——收益幅度由义务率与步窗决定，由对照实验测定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C6D6"/>
                </a:solidFill>
                <a:latin typeface="Microsoft YaHei"/>
              </a:rPr>
              <a:t>DEPTH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流水深度的理论上限：最多几批同时在飞？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804672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需求侧：稳态义务 0.09 页/步 ⇒ 1 批（8 页）覆盖约 11 步；深度需求的真正来源 = 轮首召回爆发（爆发页数 ÷ 8 = 有意义批数）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供给侧硬上限：设备 free 槽 ≤1,024 · Host 配额数千页 · 双份缓冲每批 ≈26 MiB——理论上几十批可行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理论甜蜜点 2-4 批（尚未实测，深载分档待测）：超过峰值义务深度的档位是闲置——排队批次不会让 DMA 更快，只是把同一笔义务摊得更平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DEPTH=1 是最差配置（实测 D1 182.6 &lt; D0 183.6）：付半流水管理开销、无摊薄收益——要么 0（纯同步）要么 ≥2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关键对照：深载长跑（深超池堆积 + 轮首爆发密集）ON/OFF 对照——理论预测收益落在“爆发规模 / 步窗”区间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深度不是越大越好：最优 DEPTH = ⌈峰值义务页数 ÷ 8⌉，通常 ≤ 4——超过即闲置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C6D6"/>
                </a:solidFill>
                <a:latin typeface="Microsoft YaHei"/>
              </a:rPr>
              <a:t>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三层加速栈：单步与长程的分工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804672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L1 硬件层（显卡带宽/算力）：单步解码的物理天花板——权重每 token 全读一遍（IQ3_S ≈ 11.3 GiB）；只能换卡或降比特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L2 算法层（投机解码 / MTP 接受率）：每 forward 多出 token（64% 接受 ≈ 1.64×）——决定单步的有效产出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L3 系统层（KVMem + 异步页流水）：不加速单步——解决"工作集装不下"与"换页不拖慢长程"，把长程保全系数拉回 ≈1.0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长程有效速度 ≈ L1 × L2 × L3 保全系数——没有 L3，L1×L2 的数字只在第一轮成立（历史极端案例：换页侵蚀至 5.6 tok/s）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A9BECC"/>
                </a:solidFill>
                <a:latin typeface="Microsoft YaHei"/>
              </a:rPr>
              <a:t>▪ 耦合：L2 越快 → 页产生率越高 → 深超池下 L3 越重要——三者是同一流水线的上下游，不是竞争关系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单步要快靠 L1/L2；长程要快靠 L3——异步页流水保证的是后者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0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②</a:t>
            </a:r>
            <a:endParaRPr lang="en-US" sz="1100" dirty="0"/>
          </a:p>
        </p:txBody>
      </p:sp>
      <p:sp>
        <p:nvSpPr>
          <p:cNvPr id="351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目标函数修正：池从“容量门槛”变成“旋钮”</a:t>
            </a:r>
            <a:endParaRPr lang="en-US" sz="2400" dirty="0"/>
          </a:p>
        </p:txBody>
      </p:sp>
      <p:sp>
        <p:nvSpPr>
          <p:cNvPr id="352" name="Text 3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异步之后，池的收益曲线出现三段结构（200K 上下文场景）：</a:t>
            </a:r>
            <a:endParaRPr lang="en-US" sz="1300" dirty="0"/>
          </a:p>
        </p:txBody>
      </p:sp>
      <p:sp>
        <p:nvSpPr>
          <p:cNvPr id="353" name="Shape 4"/>
          <p:cNvSpPr/>
          <p:nvPr/>
        </p:nvSpPr>
        <p:spPr>
          <a:xfrm>
            <a:off x="548640" y="1600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9A8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4" name="Text 5"/>
          <p:cNvSpPr/>
          <p:nvPr/>
        </p:nvSpPr>
        <p:spPr>
          <a:xfrm>
            <a:off x="621792" y="161848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 &lt; 工作集（~42K）</a:t>
            </a:r>
            <a:endParaRPr lang="en-US" sz="950" dirty="0"/>
          </a:p>
        </p:txBody>
      </p:sp>
      <p:sp>
        <p:nvSpPr>
          <p:cNvPr id="355" name="Text 6"/>
          <p:cNvSpPr/>
          <p:nvPr/>
        </p:nvSpPr>
        <p:spPr>
          <a:xfrm>
            <a:off x="548640" y="21214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每步都在搬运——全靠流水硬扛</a:t>
            </a:r>
            <a:endParaRPr lang="en-US" sz="900" dirty="0"/>
          </a:p>
        </p:txBody>
      </p:sp>
      <p:sp>
        <p:nvSpPr>
          <p:cNvPr id="356" name="Shape 7"/>
          <p:cNvSpPr/>
          <p:nvPr/>
        </p:nvSpPr>
        <p:spPr>
          <a:xfrm>
            <a:off x="3063240" y="1600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7" name="Text 8"/>
          <p:cNvSpPr/>
          <p:nvPr/>
        </p:nvSpPr>
        <p:spPr>
          <a:xfrm>
            <a:off x="313639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甜点区 42K-56K</a:t>
            </a:r>
            <a:endParaRPr lang="en-US" sz="950" dirty="0"/>
          </a:p>
        </p:txBody>
      </p:sp>
      <p:sp>
        <p:nvSpPr>
          <p:cNvPr id="358" name="Text 9"/>
          <p:cNvSpPr/>
          <p:nvPr/>
        </p:nvSpPr>
        <p:spPr>
          <a:xfrm>
            <a:off x="306324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常规轮次零搬运</a:t>
            </a:r>
            <a:endParaRPr lang="en-US" sz="900" dirty="0"/>
          </a:p>
        </p:txBody>
      </p:sp>
      <p:sp>
        <p:nvSpPr>
          <p:cNvPr id="359" name="Shape 10"/>
          <p:cNvSpPr/>
          <p:nvPr/>
        </p:nvSpPr>
        <p:spPr>
          <a:xfrm>
            <a:off x="4709160" y="1600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E7E86">
              <a:alpha val="10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Text 11"/>
          <p:cNvSpPr/>
          <p:nvPr/>
        </p:nvSpPr>
        <p:spPr>
          <a:xfrm>
            <a:off x="478231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优选段 56K-96K</a:t>
            </a:r>
            <a:endParaRPr lang="en-US" sz="950" dirty="0"/>
          </a:p>
        </p:txBody>
      </p:sp>
      <p:sp>
        <p:nvSpPr>
          <p:cNvPr id="361" name="Text 12"/>
          <p:cNvSpPr/>
          <p:nvPr/>
        </p:nvSpPr>
        <p:spPr>
          <a:xfrm>
            <a:off x="470916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覆盖大多数会话</a:t>
            </a:r>
            <a:endParaRPr lang="en-US" sz="900" dirty="0"/>
          </a:p>
        </p:txBody>
      </p:sp>
      <p:sp>
        <p:nvSpPr>
          <p:cNvPr id="362" name="Shape 13"/>
          <p:cNvSpPr/>
          <p:nvPr/>
        </p:nvSpPr>
        <p:spPr>
          <a:xfrm>
            <a:off x="6355080" y="1600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5A77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3" name="Text 14"/>
          <p:cNvSpPr/>
          <p:nvPr/>
        </p:nvSpPr>
        <p:spPr>
          <a:xfrm>
            <a:off x="6428232" y="1618488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96K（请求线上）</a:t>
            </a:r>
            <a:endParaRPr lang="en-US" sz="950" dirty="0"/>
          </a:p>
        </p:txBody>
      </p:sp>
      <p:sp>
        <p:nvSpPr>
          <p:cNvPr id="364" name="Text 15"/>
          <p:cNvSpPr/>
          <p:nvPr/>
        </p:nvSpPr>
        <p:spPr>
          <a:xfrm>
            <a:off x="6355080" y="2121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边际收益骤降</a:t>
            </a:r>
            <a:endParaRPr lang="en-US" sz="900" dirty="0"/>
          </a:p>
        </p:txBody>
      </p:sp>
      <p:sp>
        <p:nvSpPr>
          <p:cNvPr id="365" name="Text 16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 64K vs 51K 仅多撑约 8 轮会话——过了工作集线后，多买的池主要是“防深堆积”，而深堆积有流水兜底。</a:t>
            </a:r>
            <a:endParaRPr lang="en-US" sz="1250" dirty="0"/>
          </a:p>
        </p:txBody>
      </p:sp>
      <p:sp>
        <p:nvSpPr>
          <p:cNvPr id="366" name="Shape 17"/>
          <p:cNvSpPr/>
          <p:nvPr/>
        </p:nvSpPr>
        <p:spPr>
          <a:xfrm>
            <a:off x="548640" y="3566160"/>
            <a:ext cx="8046720" cy="621792"/>
          </a:xfrm>
          <a:prstGeom prst="roundRect">
            <a:avLst>
              <a:gd name="adj" fmla="val 6100"/>
            </a:avLst>
          </a:prstGeom>
          <a:solidFill>
            <a:srgbClr val="2346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7" name="Text 18"/>
          <p:cNvSpPr/>
          <p:nvPr/>
        </p:nvSpPr>
        <p:spPr>
          <a:xfrm>
            <a:off x="777240" y="36118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16GB 显存是零和的：每 1 GiB 给池，就少 1 GiB 给 KV 精度或权重档位——而精度影响每一轮。→ 浅池 + 深流水 + 高精度。</a:t>
            </a:r>
            <a:endParaRPr lang="en-US" sz="1200" dirty="0"/>
          </a:p>
        </p:txBody>
      </p:sp>
      <p:sp>
        <p:nvSpPr>
          <p:cNvPr id="368" name="Text 19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15 / 27</a:t>
            </a:r>
            <a:endParaRPr lang="en-US" sz="1000" dirty="0"/>
          </a:p>
        </p:txBody>
      </p:sp>
      <p:sp>
        <p:nvSpPr>
          <p:cNvPr id="369" name="Text 2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370" name="Rectangle 369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③</a:t>
            </a:r>
            <a:endParaRPr lang="en-US" sz="1100" dirty="0"/>
          </a:p>
        </p:txBody>
      </p:sp>
      <p:sp>
        <p:nvSpPr>
          <p:cNvPr id="37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正确性工程：给“跑腿”立三条规矩</a:t>
            </a:r>
            <a:endParaRPr lang="en-US" sz="2400" dirty="0"/>
          </a:p>
        </p:txBody>
      </p:sp>
      <p:sp>
        <p:nvSpPr>
          <p:cNvPr id="374" name="Text 3"/>
          <p:cNvSpPr/>
          <p:nvPr/>
        </p:nvSpPr>
        <p:spPr>
          <a:xfrm>
            <a:off x="548640" y="10607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 = 请了跑腿小哥（见第 7 页）。规矩立不好会丢件、会搬错——所以我们给他立三条规矩，外加一张“考卷”：</a:t>
            </a:r>
            <a:endParaRPr lang="en-US" sz="1200" dirty="0"/>
          </a:p>
        </p:txBody>
      </p:sp>
      <p:sp>
        <p:nvSpPr>
          <p:cNvPr id="375" name="Text 4"/>
          <p:cNvSpPr/>
          <p:nvPr/>
        </p:nvSpPr>
        <p:spPr>
          <a:xfrm>
            <a:off x="548640" y="151790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规矩一：正在用的书不能搬：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引擎的“施工图”在启动时就画定（捕获期），运行中不许改——要改就重启，边界清清楚楚</a:t>
            </a:r>
            <a:endParaRPr lang="en-US" sz="1150" dirty="0"/>
          </a:p>
        </p:txBody>
      </p:sp>
      <p:sp>
        <p:nvSpPr>
          <p:cNvPr id="376" name="Text 5"/>
          <p:cNvSpPr/>
          <p:nvPr/>
        </p:nvSpPr>
        <p:spPr>
          <a:xfrm>
            <a:off x="548640" y="20848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规矩二：货没交稳，旧的不扔：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新副本发布之前，旧的那一份永远不许丢——任何时候都有一份“唯一有效”的数据在手</a:t>
            </a:r>
            <a:endParaRPr lang="en-US" sz="1150" dirty="0"/>
          </a:p>
        </p:txBody>
      </p:sp>
      <p:sp>
        <p:nvSpPr>
          <p:cNvPr id="377" name="Text 6"/>
          <p:cNvSpPr/>
          <p:nvPr/>
        </p:nvSpPr>
        <p:spPr>
          <a:xfrm>
            <a:off x="548640" y="26517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规矩三：订单取消，已出发的必须跑完：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请求可以取消，但已经在路上的搬运必须排空才能收账——不收“半路失踪”的账</a:t>
            </a:r>
            <a:endParaRPr lang="en-US" sz="1150" dirty="0"/>
          </a:p>
        </p:txBody>
      </p:sp>
      <p:sp>
        <p:nvSpPr>
          <p:cNvPr id="378" name="Shape 7"/>
          <p:cNvSpPr/>
          <p:nvPr/>
        </p:nvSpPr>
        <p:spPr>
          <a:xfrm>
            <a:off x="548640" y="3291840"/>
            <a:ext cx="8046720" cy="658368"/>
          </a:xfrm>
          <a:prstGeom prst="roundRect">
            <a:avLst>
              <a:gd name="adj" fmla="val 5800"/>
            </a:avLst>
          </a:prstGeom>
          <a:solidFill>
            <a:srgbClr val="1632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9" name="Text 8"/>
          <p:cNvSpPr/>
          <p:nvPr/>
        </p:nvSpPr>
        <p:spPr>
          <a:xfrm>
            <a:off x="777240" y="336499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那张“考卷”（无损门 A2）：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同一道题，“池内”与“首次超池”两条路径的答卷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逐字相同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——异步只改变搬运时机，不改变模型输出。</a:t>
            </a:r>
            <a:endParaRPr lang="en-US" sz="1150" dirty="0"/>
          </a:p>
        </p:txBody>
      </p:sp>
      <p:sp>
        <p:nvSpPr>
          <p:cNvPr id="380" name="Text 9"/>
          <p:cNvSpPr/>
          <p:nvPr/>
        </p:nvSpPr>
        <p:spPr>
          <a:xfrm>
            <a:off x="548640" y="4096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诚实披露：</a:t>
            </a:r>
            <a:r>
              <a:rPr lang="en-US" sz="11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慢峰时搬运会“藏不住”（单批接近步窗）——这就是流水的击穿边界，解法是深流水（见问题页）。</a:t>
            </a:r>
            <a:endParaRPr lang="en-US" sz="1100" dirty="0"/>
          </a:p>
        </p:txBody>
      </p:sp>
      <p:sp>
        <p:nvSpPr>
          <p:cNvPr id="381" name="Text 10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16 / 27</a:t>
            </a:r>
            <a:endParaRPr lang="en-US" sz="1000" dirty="0"/>
          </a:p>
        </p:txBody>
      </p:sp>
      <p:sp>
        <p:nvSpPr>
          <p:cNvPr id="382" name="Text 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383" name="Rectangle 382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· 2026-10-11~14</a:t>
            </a:r>
            <a:endParaRPr lang="en-US" sz="1100" dirty="0"/>
          </a:p>
        </p:txBody>
      </p:sp>
      <p:sp>
        <p:nvSpPr>
          <p:cNvPr id="20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已实现的阶段：V2 上线初期的成果快照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47247"/>
              </p:ext>
            </p:extLst>
          </p:nvPr>
        </p:nvGraphicFramePr>
        <p:xfrm>
          <a:off x="548640" y="1143000"/>
          <a:ext cx="8046720" cy="268833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/>
                  </a:extLst>
                </a:gridCol>
                <a:gridCol w="4846320">
                  <a:extLst>
                    <a:ext uri="{9D8B030D-6E8A-4147-A177-3AD203B41FA5}"/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页级异步流水（搬运与解码并行）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已交付并转正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（V2</a:t>
                      </a:r>
                      <a:r>
                        <a:rPr lang="zh-CN" altLang="en-US" sz="1100" dirty="0" smtClean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版引擎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池标定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81,920 token 实测（16GB 卡低比特 KV 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极值 400+ tok/s；1 小时综合平均 220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深超池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74.4K 上下文（池约 65K）：114.4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无损性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池内 vs 超池输出逐字相同（A2 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单路长上下文 Agent 会话（多路场景待覆盖）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22" name="Text 3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V2 上线初期的成果（10-11 上线当天：首战峰值 333、超池 103-195 tok/s；随后数日陆续补全上表数字）——不是最新状态；最新进展（死亡谷攻关 / 深轮 AB 铁证）见第 13-14 页。</a:t>
            </a:r>
            <a:endParaRPr lang="en-US" sz="1000" dirty="0"/>
          </a:p>
        </p:txBody>
      </p:sp>
      <p:sp>
        <p:nvSpPr>
          <p:cNvPr id="23" name="Text 4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阶段定位：第一阶段（可行性与稳定性）完成——从“能跑”到“长跑不崩、输出无损”；正在进入第二阶段（性能深化）。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17 / 27</a:t>
            </a:r>
            <a:endParaRPr lang="en-US" sz="1000" dirty="0"/>
          </a:p>
        </p:txBody>
      </p:sp>
      <p:sp>
        <p:nvSpPr>
          <p:cNvPr id="25" name="Text 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29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攻关里程碑：异步页流水诞生记（单日闭环）</a:t>
            </a:r>
            <a:endParaRPr lang="en-US" sz="2400" dirty="0"/>
          </a:p>
        </p:txBody>
      </p:sp>
      <p:sp>
        <p:nvSpPr>
          <p:cNvPr id="30" name="Shape 3"/>
          <p:cNvSpPr/>
          <p:nvPr/>
        </p:nvSpPr>
        <p:spPr>
          <a:xfrm>
            <a:off x="548640" y="1051560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4"/>
          <p:cNvSpPr/>
          <p:nvPr/>
        </p:nvSpPr>
        <p:spPr>
          <a:xfrm>
            <a:off x="640080" y="108813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 · 问题定义</a:t>
            </a:r>
            <a:endParaRPr lang="en-US" sz="950" dirty="0"/>
          </a:p>
        </p:txBody>
      </p:sp>
      <p:sp>
        <p:nvSpPr>
          <p:cNvPr id="32" name="Shape 5"/>
          <p:cNvSpPr/>
          <p:nvPr/>
        </p:nvSpPr>
        <p:spPr>
          <a:xfrm>
            <a:off x="2468880" y="1051560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6"/>
          <p:cNvSpPr/>
          <p:nvPr/>
        </p:nvSpPr>
        <p:spPr>
          <a:xfrm>
            <a:off x="2697480" y="108813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页漂移：34 轮后 330 页滞留 Host —— decode 掉到 3 tok/s</a:t>
            </a:r>
            <a:endParaRPr lang="en-US" sz="1000" dirty="0"/>
          </a:p>
        </p:txBody>
      </p:sp>
      <p:sp>
        <p:nvSpPr>
          <p:cNvPr id="34" name="Shape 7"/>
          <p:cNvSpPr/>
          <p:nvPr/>
        </p:nvSpPr>
        <p:spPr>
          <a:xfrm>
            <a:off x="548640" y="1746504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8"/>
          <p:cNvSpPr/>
          <p:nvPr/>
        </p:nvSpPr>
        <p:spPr>
          <a:xfrm>
            <a:off x="640080" y="17830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14:35-17:39 · 三个施工</a:t>
            </a:r>
            <a:endParaRPr lang="en-US" sz="950" dirty="0"/>
          </a:p>
        </p:txBody>
      </p:sp>
      <p:sp>
        <p:nvSpPr>
          <p:cNvPr id="36" name="Shape 9"/>
          <p:cNvSpPr/>
          <p:nvPr/>
        </p:nvSpPr>
        <p:spPr>
          <a:xfrm>
            <a:off x="2468880" y="1746504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10"/>
          <p:cNvSpPr/>
          <p:nvPr/>
        </p:nvSpPr>
        <p:spPr>
          <a:xfrm>
            <a:off x="2697480" y="178308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取消检查点前移 → 批量搬运（8 页/批）→ 实测定案：真凶 = 同步 D2H 拷贝（双峰 10-20×）</a:t>
            </a:r>
            <a:endParaRPr lang="en-US" sz="1000" dirty="0"/>
          </a:p>
        </p:txBody>
      </p:sp>
      <p:sp>
        <p:nvSpPr>
          <p:cNvPr id="38" name="Shape 11"/>
          <p:cNvSpPr/>
          <p:nvPr/>
        </p:nvSpPr>
        <p:spPr>
          <a:xfrm>
            <a:off x="548640" y="2441448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12"/>
          <p:cNvSpPr/>
          <p:nvPr/>
        </p:nvSpPr>
        <p:spPr>
          <a:xfrm>
            <a:off x="640080" y="247802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20:36 · 异步搬运上线</a:t>
            </a:r>
            <a:endParaRPr lang="en-US" sz="950" dirty="0"/>
          </a:p>
        </p:txBody>
      </p:sp>
      <p:sp>
        <p:nvSpPr>
          <p:cNvPr id="40" name="Shape 13"/>
          <p:cNvSpPr/>
          <p:nvPr/>
        </p:nvSpPr>
        <p:spPr>
          <a:xfrm>
            <a:off x="2468880" y="2441448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14"/>
          <p:cNvSpPr/>
          <p:nvPr/>
        </p:nvSpPr>
        <p:spPr>
          <a:xfrm>
            <a:off x="2697480" y="247802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 stream 异步提交 + 下一步收割（约 600 行）——当天首战：峰值 333 tok/s</a:t>
            </a:r>
            <a:endParaRPr lang="en-US" sz="1000" dirty="0"/>
          </a:p>
        </p:txBody>
      </p:sp>
      <p:sp>
        <p:nvSpPr>
          <p:cNvPr id="42" name="Shape 15"/>
          <p:cNvSpPr/>
          <p:nvPr/>
        </p:nvSpPr>
        <p:spPr>
          <a:xfrm>
            <a:off x="548640" y="3136392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16"/>
          <p:cNvSpPr/>
          <p:nvPr/>
        </p:nvSpPr>
        <p:spPr>
          <a:xfrm>
            <a:off x="640080" y="317296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 · 验证闭环</a:t>
            </a:r>
            <a:endParaRPr lang="en-US" sz="950" dirty="0"/>
          </a:p>
        </p:txBody>
      </p:sp>
      <p:sp>
        <p:nvSpPr>
          <p:cNvPr id="44" name="Shape 17"/>
          <p:cNvSpPr/>
          <p:nvPr/>
        </p:nvSpPr>
        <p:spPr>
          <a:xfrm>
            <a:off x="2468880" y="3136392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Text 18"/>
          <p:cNvSpPr/>
          <p:nvPr/>
        </p:nvSpPr>
        <p:spPr>
          <a:xfrm>
            <a:off x="2697480" y="317296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超池解码 103-195 tok/s（此前 4-6）——提升 20-40×；连续 10+ 轮零降速</a:t>
            </a:r>
            <a:endParaRPr lang="en-US" sz="1000" dirty="0"/>
          </a:p>
        </p:txBody>
      </p:sp>
      <p:sp>
        <p:nvSpPr>
          <p:cNvPr id="46" name="Shape 19"/>
          <p:cNvSpPr/>
          <p:nvPr/>
        </p:nvSpPr>
        <p:spPr>
          <a:xfrm>
            <a:off x="548640" y="3831336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C98A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20"/>
          <p:cNvSpPr/>
          <p:nvPr/>
        </p:nvSpPr>
        <p:spPr>
          <a:xfrm>
            <a:off x="640080" y="386791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10-13 · 转正</a:t>
            </a:r>
            <a:endParaRPr lang="en-US" sz="950" dirty="0"/>
          </a:p>
        </p:txBody>
      </p:sp>
      <p:sp>
        <p:nvSpPr>
          <p:cNvPr id="48" name="Shape 21"/>
          <p:cNvSpPr/>
          <p:nvPr/>
        </p:nvSpPr>
        <p:spPr>
          <a:xfrm>
            <a:off x="2468880" y="3831336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Text 22"/>
          <p:cNvSpPr/>
          <p:nvPr/>
        </p:nvSpPr>
        <p:spPr>
          <a:xfrm>
            <a:off x="2697480" y="386791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独立交叉审核（2×40 轮深压）+ 真实长会话 → 默认基线：127 轮 0×500 · 峰值 403.7 tok/s</a:t>
            </a:r>
            <a:endParaRPr lang="en-US" sz="1000" dirty="0"/>
          </a:p>
        </p:txBody>
      </p:sp>
      <p:sp>
        <p:nvSpPr>
          <p:cNvPr id="50" name="Text 23"/>
          <p:cNvSpPr/>
          <p:nvPr/>
        </p:nvSpPr>
        <p:spPr>
          <a:xfrm>
            <a:off x="548640" y="44622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单日完成 “问题定义 → 施工 → 定案 → 上线 → 验证”；每一步都带 A/B 回退臂（NINFER_ASYNC_DEMOTE=0）。</a:t>
            </a:r>
            <a:endParaRPr lang="en-US" sz="1150" dirty="0"/>
          </a:p>
        </p:txBody>
      </p:sp>
      <p:sp>
        <p:nvSpPr>
          <p:cNvPr id="51" name="Text 24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18 / 27</a:t>
            </a:r>
            <a:endParaRPr lang="en-US" sz="1000" dirty="0"/>
          </a:p>
        </p:txBody>
      </p:sp>
      <p:sp>
        <p:nvSpPr>
          <p:cNvPr id="52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53" name="Rectangle 52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QUEST</a:t>
            </a:r>
            <a:endParaRPr lang="en-US" sz="1100" dirty="0"/>
          </a:p>
        </p:txBody>
      </p:sp>
      <p:sp>
        <p:nvSpPr>
          <p:cNvPr id="5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时段性慢态（“死亡谷”）：150 小时排查，嫌疑圈定</a:t>
            </a:r>
            <a:endParaRPr lang="en-US" sz="2400" dirty="0"/>
          </a:p>
        </p:txBody>
      </p:sp>
      <p:sp>
        <p:nvSpPr>
          <p:cNvPr id="57" name="Shape 3"/>
          <p:cNvSpPr/>
          <p:nvPr/>
        </p:nvSpPr>
        <p:spPr>
          <a:xfrm>
            <a:off x="605790" y="1210187"/>
            <a:ext cx="3712464" cy="2660287"/>
          </a:xfrm>
          <a:prstGeom prst="roundRect">
            <a:avLst>
              <a:gd name="adj" fmla="val 18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8" name="Shape 4"/>
          <p:cNvSpPr/>
          <p:nvPr/>
        </p:nvSpPr>
        <p:spPr>
          <a:xfrm>
            <a:off x="548640" y="1097280"/>
            <a:ext cx="3769614" cy="6215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5"/>
          <p:cNvSpPr/>
          <p:nvPr/>
        </p:nvSpPr>
        <p:spPr>
          <a:xfrm>
            <a:off x="1123950" y="1363783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endParaRPr lang="en-US" sz="900" dirty="0" smtClean="0">
              <a:solidFill>
                <a:srgbClr val="A9BECC"/>
              </a:solidFill>
              <a:latin typeface="Microsoft YaHei"/>
            </a:endParaRPr>
          </a:p>
          <a:p>
            <a:pPr marL="0" indent="0">
              <a:spcAft>
                <a:spcPts val="500"/>
              </a:spcAft>
              <a:buNone/>
            </a:pPr>
            <a:endParaRPr lang="en-US" sz="900" dirty="0">
              <a:solidFill>
                <a:srgbClr val="A9BECC"/>
              </a:solidFill>
              <a:latin typeface="Microsoft YaHei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sz="900" dirty="0" err="1" smtClean="0">
                <a:solidFill>
                  <a:srgbClr val="A9BECC"/>
                </a:solidFill>
                <a:latin typeface="Microsoft YaHei"/>
              </a:rPr>
              <a:t>现象与指纹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sz="900" dirty="0" err="1">
                <a:solidFill>
                  <a:srgbClr val="A9BECC"/>
                </a:solidFill>
                <a:latin typeface="Microsoft YaHei"/>
              </a:rPr>
              <a:t>偶发尖峰：单步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30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ms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→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数百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ms（深端秒级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）</a:t>
            </a:r>
          </a:p>
          <a:p>
            <a:pPr>
              <a:spcAft>
                <a:spcPts val="500"/>
              </a:spcAft>
            </a:pPr>
            <a:r>
              <a:rPr sz="900" dirty="0" err="1">
                <a:solidFill>
                  <a:srgbClr val="A9BECC"/>
                </a:solidFill>
                <a:latin typeface="Microsoft YaHei"/>
              </a:rPr>
              <a:t>指纹：GPU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满占用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/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满频，功耗极低、显存几乎不动</a:t>
            </a:r>
            <a:endParaRPr sz="90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900" dirty="0" err="1">
                <a:solidFill>
                  <a:srgbClr val="A9BECC"/>
                </a:solidFill>
                <a:latin typeface="Microsoft YaHei"/>
              </a:rPr>
              <a:t>分钟级自愈；输出逐字无损</a:t>
            </a:r>
            <a:endParaRPr sz="90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900" dirty="0" err="1">
                <a:solidFill>
                  <a:srgbClr val="A9BECC"/>
                </a:solidFill>
                <a:latin typeface="Microsoft YaHei"/>
              </a:rPr>
              <a:t>曾极难复现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——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现已可按需制造（见右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）</a:t>
            </a:r>
          </a:p>
        </p:txBody>
      </p:sp>
      <p:sp>
        <p:nvSpPr>
          <p:cNvPr id="60" name="Text 6"/>
          <p:cNvSpPr/>
          <p:nvPr/>
        </p:nvSpPr>
        <p:spPr>
          <a:xfrm>
            <a:off x="797814" y="1941962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偶发延迟尖峰：同一步耗时可从 30 ms 级 → 数百 ms 级（深端可达秒级）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指纹：GPU 满占用 / 满频，但功耗极低、显存几乎不动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分钟级自愈；输出逐字无损（与池内路径相同）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曾以“小时级窗口”极难复现——现已可按需制造（见右）</a:t>
            </a:r>
            <a:endParaRPr lang="en-US" sz="950" dirty="0"/>
          </a:p>
        </p:txBody>
      </p:sp>
      <p:sp>
        <p:nvSpPr>
          <p:cNvPr id="61" name="Shape 7"/>
          <p:cNvSpPr/>
          <p:nvPr/>
        </p:nvSpPr>
        <p:spPr>
          <a:xfrm>
            <a:off x="4510278" y="1194751"/>
            <a:ext cx="4077462" cy="2675723"/>
          </a:xfrm>
          <a:prstGeom prst="roundRect">
            <a:avLst>
              <a:gd name="adj" fmla="val 18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" name="Shape 8"/>
          <p:cNvSpPr/>
          <p:nvPr/>
        </p:nvSpPr>
        <p:spPr>
          <a:xfrm>
            <a:off x="4510278" y="1097280"/>
            <a:ext cx="4158234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9"/>
          <p:cNvSpPr/>
          <p:nvPr/>
        </p:nvSpPr>
        <p:spPr>
          <a:xfrm>
            <a:off x="4709160" y="1595628"/>
            <a:ext cx="37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sz="900" dirty="0">
                <a:solidFill>
                  <a:srgbClr val="A9BECC"/>
                </a:solidFill>
                <a:latin typeface="Microsoft YaHei"/>
              </a:rPr>
              <a:t>150 小时排查（10-11 → </a:t>
            </a:r>
            <a:r>
              <a:rPr sz="900" dirty="0" smtClean="0">
                <a:solidFill>
                  <a:srgbClr val="A9BECC"/>
                </a:solidFill>
                <a:latin typeface="Microsoft YaHei"/>
              </a:rPr>
              <a:t>10-1</a:t>
            </a:r>
            <a:r>
              <a:rPr lang="en-US" sz="900" dirty="0" smtClean="0">
                <a:solidFill>
                  <a:srgbClr val="A9BECC"/>
                </a:solidFill>
                <a:latin typeface="Microsoft YaHei"/>
              </a:rPr>
              <a:t>8</a:t>
            </a:r>
            <a:r>
              <a:rPr sz="900" dirty="0" smtClean="0">
                <a:solidFill>
                  <a:srgbClr val="A9BECC"/>
                </a:solidFill>
                <a:latin typeface="Microsoft YaHei"/>
              </a:rPr>
              <a:t> </a:t>
            </a:r>
            <a:r>
              <a:rPr sz="900" dirty="0" err="1" smtClean="0">
                <a:solidFill>
                  <a:srgbClr val="A9BECC"/>
                </a:solidFill>
                <a:latin typeface="Microsoft YaHei"/>
              </a:rPr>
              <a:t>不关机</a:t>
            </a:r>
            <a:r>
              <a:rPr sz="900" dirty="0" smtClean="0">
                <a:solidFill>
                  <a:srgbClr val="A9BECC"/>
                </a:solidFill>
                <a:latin typeface="Microsoft YaHei"/>
              </a:rPr>
              <a:t>）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sz="900" dirty="0" err="1">
                <a:solidFill>
                  <a:srgbClr val="A9BECC"/>
                </a:solidFill>
                <a:latin typeface="Microsoft YaHei"/>
              </a:rPr>
              <a:t>仪表化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→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按需复现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→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机制定位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→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编译配方</a:t>
            </a:r>
            <a:endParaRPr sz="90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900" dirty="0" err="1">
                <a:solidFill>
                  <a:srgbClr val="A9BECC"/>
                </a:solidFill>
                <a:latin typeface="Microsoft YaHei"/>
              </a:rPr>
              <a:t>嫌疑圈定：外部显存压力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（≥400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MiB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必中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）×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图提交路径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×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编译布局</a:t>
            </a:r>
            <a:endParaRPr sz="900" dirty="0">
              <a:solidFill>
                <a:srgbClr val="A9BECC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900" dirty="0" err="1">
                <a:solidFill>
                  <a:srgbClr val="A9BECC"/>
                </a:solidFill>
                <a:latin typeface="Microsoft YaHei"/>
              </a:rPr>
              <a:t>机制定位：cudaGraphLaunch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阻塞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0.5-2.2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s（GPU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</a:t>
            </a:r>
            <a:r>
              <a:rPr sz="900" dirty="0" err="1">
                <a:solidFill>
                  <a:srgbClr val="A9BECC"/>
                </a:solidFill>
                <a:latin typeface="Microsoft YaHei"/>
              </a:rPr>
              <a:t>内核</a:t>
            </a:r>
            <a:r>
              <a:rPr sz="900" dirty="0">
                <a:solidFill>
                  <a:srgbClr val="A9BECC"/>
                </a:solidFill>
                <a:latin typeface="Microsoft YaHei"/>
              </a:rPr>
              <a:t> 0.007 s/40 s）</a:t>
            </a:r>
          </a:p>
          <a:p>
            <a:pPr>
              <a:spcAft>
                <a:spcPts val="500"/>
              </a:spcAft>
            </a:pPr>
            <a:r>
              <a:rPr sz="900" dirty="0" err="1">
                <a:solidFill>
                  <a:srgbClr val="A9BECC"/>
                </a:solidFill>
                <a:latin typeface="Microsoft YaHei"/>
              </a:rPr>
              <a:t>不是算得慢，是活儿送不到设备上</a:t>
            </a:r>
            <a:endParaRPr sz="900" dirty="0">
              <a:solidFill>
                <a:srgbClr val="A9BECC"/>
              </a:solidFill>
              <a:latin typeface="Microsoft YaHei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4709160" y="2272445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按需复现：外部显存压力（约 1.2 GiB）⇒ 谷档（1/25）稳定可造、释放即恢复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深档（≈1/100）受时窗支配：窗内 4/4 命中（含重启首持）；窗外 8/8 谷档——“重启即复现”被证伪，时窗开合未知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机制定位：时间全在 host 侧提交调用（submit≈wall、wait=sync≈0）⇒ 驱动内部阻塞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排除清单：PDL ❌ 出局（原最大嫌疑）· 页中转 ❌ · 宿主路径 ❌ · 页档位 ❌ · 池大小 ❌ · 节流 ❌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应对：避免与引擎争抢显存（唯一确证有效）；最小复现协议已备（供上游）</a:t>
            </a:r>
            <a:endParaRPr lang="en-US" sz="900" dirty="0"/>
          </a:p>
        </p:txBody>
      </p:sp>
      <p:sp>
        <p:nvSpPr>
          <p:cNvPr id="65" name="Shape 11"/>
          <p:cNvSpPr/>
          <p:nvPr/>
        </p:nvSpPr>
        <p:spPr>
          <a:xfrm>
            <a:off x="512064" y="4038536"/>
            <a:ext cx="8046720" cy="607183"/>
          </a:xfrm>
          <a:prstGeom prst="roundRect">
            <a:avLst>
              <a:gd name="adj" fmla="val 5400"/>
            </a:avLst>
          </a:prstGeom>
          <a:solidFill>
            <a:srgbClr val="3A2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Text 13"/>
          <p:cNvSpPr/>
          <p:nvPr/>
        </p:nvSpPr>
        <p:spPr>
          <a:xfrm>
            <a:off x="758190" y="4087271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机制已收敛：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整轮时间全部花在 host 侧提交调用里（submit ≈ wall、wait = sync ≈ 0）⇒ 卡点在引擎自身的提交路径（驱动内部阻塞）——外部算力 / 拷贝 / 节流全部正常。</a:t>
            </a:r>
            <a:endParaRPr lang="en-US" sz="1000" dirty="0"/>
          </a:p>
        </p:txBody>
      </p:sp>
      <p:sp>
        <p:nvSpPr>
          <p:cNvPr id="68" name="Text 14"/>
          <p:cNvSpPr/>
          <p:nvPr/>
        </p:nvSpPr>
        <p:spPr>
          <a:xfrm>
            <a:off x="512064" y="21914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</a:pPr>
            <a:endParaRPr sz="1000" dirty="0">
              <a:solidFill>
                <a:srgbClr val="A9BECC"/>
              </a:solidFill>
              <a:latin typeface="Microsoft YaHei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19 / 27</a:t>
            </a:r>
            <a:endParaRPr lang="en-US" sz="1000" dirty="0"/>
          </a:p>
        </p:txBody>
      </p:sp>
      <p:sp>
        <p:nvSpPr>
          <p:cNvPr id="70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71" name="Rectangle 70"/>
          <p:cNvSpPr/>
          <p:nvPr/>
        </p:nvSpPr>
        <p:spPr>
          <a:xfrm>
            <a:off x="512064" y="4800219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</a:t>
            </a:r>
            <a:endParaRPr lang="en-US" sz="1100" dirty="0"/>
          </a:p>
        </p:txBody>
      </p:sp>
      <p:sp>
        <p:nvSpPr>
          <p:cNvPr id="7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追捕 · 第一阶段（10-11~16）：真凶未获，包围圈在收紧</a:t>
            </a:r>
            <a:endParaRPr lang="en-US" sz="2400" dirty="0"/>
          </a:p>
        </p:txBody>
      </p:sp>
      <p:sp>
        <p:nvSpPr>
          <p:cNvPr id="75" name="Text 3"/>
          <p:cNvSpPr/>
          <p:nvPr/>
        </p:nvSpPr>
        <p:spPr>
          <a:xfrm>
            <a:off x="548640" y="10241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A9BECC"/>
                </a:solidFill>
                <a:latin typeface="Microsoft YaHei"/>
              </a:rPr>
              <a:t>第一阶段（10-11 → 10-16）：连续 120 小时（5 昼夜）不间断的工程化受控压测 + 现场取证；中途顺手修复和改进了大量问题。此后仍现死亡谷、根因未抓到——转机见前页与根因页。</a:t>
            </a:r>
            <a:endParaRPr lang="en-US" sz="1050" dirty="0"/>
          </a:p>
        </p:txBody>
      </p:sp>
      <p:sp>
        <p:nvSpPr>
          <p:cNvPr id="76" name="Shape 4"/>
          <p:cNvSpPr/>
          <p:nvPr/>
        </p:nvSpPr>
        <p:spPr>
          <a:xfrm>
            <a:off x="548640" y="1627632"/>
            <a:ext cx="3886200" cy="1664208"/>
          </a:xfrm>
          <a:prstGeom prst="roundRect">
            <a:avLst>
              <a:gd name="adj" fmla="val 23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hape 5"/>
          <p:cNvSpPr/>
          <p:nvPr/>
        </p:nvSpPr>
        <p:spPr>
          <a:xfrm>
            <a:off x="548640" y="1627632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Text 6"/>
          <p:cNvSpPr/>
          <p:nvPr/>
        </p:nvSpPr>
        <p:spPr>
          <a:xfrm>
            <a:off x="77724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异步的贡献：同条件对照铁证</a:t>
            </a:r>
            <a:endParaRPr lang="en-US" sz="1300" dirty="0"/>
          </a:p>
        </p:txBody>
      </p:sp>
      <p:sp>
        <p:nvSpPr>
          <p:cNvPr id="79" name="Text 7"/>
          <p:cNvSpPr/>
          <p:nvPr/>
        </p:nvSpPr>
        <p:spPr>
          <a:xfrm>
            <a:off x="77724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深轮重载（2.3-3.5× 超池）关闭异步（OFF）：decode 拖慢约 20%（r=0.80）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最深段（3.5× 超池）：≈ 2.0 倍差（235.6 vs 119.4 tok/s）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停机（ring STALL）：33 → 2 次（约 16×）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浅载/单发：打平（r=1.13）⇒ 口径：“看工作集深度”</a:t>
            </a:r>
            <a:endParaRPr lang="en-US" sz="900" dirty="0"/>
          </a:p>
        </p:txBody>
      </p:sp>
      <p:sp>
        <p:nvSpPr>
          <p:cNvPr id="80" name="Shape 8"/>
          <p:cNvSpPr/>
          <p:nvPr/>
        </p:nvSpPr>
        <p:spPr>
          <a:xfrm>
            <a:off x="4709160" y="1627632"/>
            <a:ext cx="3886200" cy="1664208"/>
          </a:xfrm>
          <a:prstGeom prst="roundRect">
            <a:avLst>
              <a:gd name="adj" fmla="val 23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1" name="Shape 9"/>
          <p:cNvSpPr/>
          <p:nvPr/>
        </p:nvSpPr>
        <p:spPr>
          <a:xfrm>
            <a:off x="4709160" y="1627632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Text 10"/>
          <p:cNvSpPr/>
          <p:nvPr/>
        </p:nvSpPr>
        <p:spPr>
          <a:xfrm>
            <a:off x="493776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嫌疑范围：不断收紧的排除法</a:t>
            </a:r>
            <a:endParaRPr lang="en-US" sz="1300" dirty="0"/>
          </a:p>
        </p:txBody>
      </p:sp>
      <p:sp>
        <p:nvSpPr>
          <p:cNvPr id="83" name="Text 11"/>
          <p:cNvSpPr/>
          <p:nvPr/>
        </p:nvSpPr>
        <p:spPr>
          <a:xfrm>
            <a:off x="493776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已出局：PDL（原最大嫌疑）· 页中转 · 宿主路径 · 页档位 · 池大小 · 驱动节流——逐项实测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已锁定：时间全在 host 侧提交调用（submit≈wall）⇒ 驱动内部阻塞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已可按需复现（外部显存压力协议）：不再“等窗口”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现存嫌疑人：驱动提交路径内部 · 自然触发源 · 叠加态假说</a:t>
            </a:r>
            <a:endParaRPr lang="en-US" sz="900" dirty="0"/>
          </a:p>
        </p:txBody>
      </p:sp>
      <p:sp>
        <p:nvSpPr>
          <p:cNvPr id="84" name="Shape 12"/>
          <p:cNvSpPr/>
          <p:nvPr/>
        </p:nvSpPr>
        <p:spPr>
          <a:xfrm>
            <a:off x="548640" y="3419856"/>
            <a:ext cx="8046720" cy="676656"/>
          </a:xfrm>
          <a:prstGeom prst="roundRect">
            <a:avLst>
              <a:gd name="adj" fmla="val 5700"/>
            </a:avLst>
          </a:prstGeom>
          <a:solidFill>
            <a:srgbClr val="3A2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Shape 13"/>
          <p:cNvSpPr/>
          <p:nvPr/>
        </p:nvSpPr>
        <p:spPr>
          <a:xfrm>
            <a:off x="548640" y="3419856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" name="Text 14"/>
          <p:cNvSpPr/>
          <p:nvPr/>
        </p:nvSpPr>
        <p:spPr>
          <a:xfrm>
            <a:off x="777240" y="34747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真凶未获，但猎捕方式已从“等它出现”变成“随时造它出来”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——剩下的问题：把提交路径上的具体阻塞点钉到行号级（驱动侧定位 + 现场取证并行推进）。</a:t>
            </a:r>
            <a:endParaRPr lang="en-US" sz="1100" dirty="0"/>
          </a:p>
        </p:txBody>
      </p:sp>
      <p:sp>
        <p:nvSpPr>
          <p:cNvPr id="87" name="Text 15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备注：异步收益的对照证据口径 = n=3/臂、单机、健康期；谷期影响未覆盖（留作后续）。</a:t>
            </a:r>
            <a:endParaRPr lang="en-US" sz="1050" dirty="0"/>
          </a:p>
        </p:txBody>
      </p:sp>
      <p:sp>
        <p:nvSpPr>
          <p:cNvPr id="88" name="Text 16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20 / 27</a:t>
            </a:r>
            <a:endParaRPr lang="en-US" sz="1000" dirty="0"/>
          </a:p>
        </p:txBody>
      </p:sp>
      <p:sp>
        <p:nvSpPr>
          <p:cNvPr id="89" name="Text 1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90" name="Rectangle 89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9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异步贡献的对照实验：极深池 AB 对照（2026-10-16）</a:t>
            </a:r>
            <a:endParaRPr lang="en-US" sz="24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/>
        </p:nvGraphicFramePr>
        <p:xfrm>
          <a:off x="548640" y="1078992"/>
          <a:ext cx="8046720" cy="211226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/>
                  </a:extLst>
                </a:gridCol>
                <a:gridCol w="548640">
                  <a:extLst>
                    <a:ext uri="{9D8B030D-6E8A-4147-A177-3AD203B41FA5}"/>
                  </a:extLst>
                </a:gridCol>
                <a:gridCol w="1645920">
                  <a:extLst>
                    <a:ext uri="{9D8B030D-6E8A-4147-A177-3AD203B41FA5}"/>
                  </a:extLst>
                </a:gridCol>
                <a:gridCol w="1371600">
                  <a:extLst>
                    <a:ext uri="{9D8B030D-6E8A-4147-A177-3AD203B41FA5}"/>
                  </a:extLst>
                </a:gridCol>
                <a:gridCol w="1371600">
                  <a:extLst>
                    <a:ext uri="{9D8B030D-6E8A-4147-A177-3AD203B41FA5}"/>
                  </a:extLst>
                </a:gridCol>
                <a:gridCol w="1280160">
                  <a:extLst>
                    <a:ext uri="{9D8B030D-6E8A-4147-A177-3AD203B41FA5}"/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round1（1.15× 超池）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round2（2.3×）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round3（3.5×）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深段均值(r2,r3)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extLst>
                  <a:ext uri="{0D108BD9-81ED-4DB2-BD59-A6C34878D82A}"/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OFF（同步回退）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327.6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223.5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/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332.0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107.5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149.5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extLst>
                  <a:ext uri="{0D108BD9-81ED-4DB2-BD59-A6C34878D82A}"/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119.4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/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ON（异步）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293.9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285.7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237.3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extLst>
                  <a:ext uri="{0D108BD9-81ED-4DB2-BD59-A6C34878D82A}"/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195.0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extLst>
                  <a:ext uri="{0D108BD9-81ED-4DB2-BD59-A6C34878D82A}"/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235.6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95" name="Text 3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实验数据：上下文 ~75.3K → ~152K → ~229K token（池 65,536 ⇒ 超池 1.15× / 2.3× / 3.5×）；每轮长输出 max 2000 token；轮间前缀缓存部分复用（49.3% / 66.4%）；两臂仅差 NINFER_ASYNC_DEMOTE 开关</a:t>
            </a:r>
            <a:endParaRPr lang="en-US" sz="900" dirty="0"/>
          </a:p>
        </p:txBody>
      </p:sp>
      <p:sp>
        <p:nvSpPr>
          <p:cNvPr id="96" name="Text 4"/>
          <p:cNvSpPr/>
          <p:nvPr/>
        </p:nvSpPr>
        <p:spPr>
          <a:xfrm>
            <a:off x="548640" y="3657600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主判据：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 深段 median 188.1 vs ON 234.9 ⇒ r = 0.80 &lt; 0.85：异步净收益成立；三轮配对 ON 全胜</a:t>
            </a:r>
            <a:endParaRPr lang="en-US" sz="1050" dirty="0"/>
          </a:p>
        </p:txBody>
      </p:sp>
      <p:sp>
        <p:nvSpPr>
          <p:cNvPr id="97" name="Text 5"/>
          <p:cNvSpPr/>
          <p:nvPr/>
        </p:nvSpPr>
        <p:spPr>
          <a:xfrm>
            <a:off x="548640" y="3959352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最深段（3.5× 超池）：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119.4 vs 235.6 ≈ 2.0 倍；停机（ring STALL）33 → 2 次（约 16×）</a:t>
            </a:r>
            <a:endParaRPr lang="en-US" sz="1050" dirty="0"/>
          </a:p>
        </p:txBody>
      </p:sp>
      <p:sp>
        <p:nvSpPr>
          <p:cNvPr id="98" name="Text 6"/>
          <p:cNvSpPr/>
          <p:nvPr/>
        </p:nvSpPr>
        <p:spPr>
          <a:xfrm>
            <a:off x="548640" y="4261104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浅载对照（同日单发）：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1.13 打平 ⇒ 口径：价值随工作集深度上升而显现——异步正是为深载设计的</a:t>
            </a:r>
            <a:endParaRPr lang="en-US" sz="1050" dirty="0"/>
          </a:p>
        </p:txBody>
      </p:sp>
      <p:sp>
        <p:nvSpPr>
          <p:cNvPr id="99" name="Text 7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诚实备注：n=3/臂、单机、健康期；同步臂未“死”——历史“v2 前多轮必死”的更强主张未复现（观测为“可用但慢”）；且本次未现死亡谷，可能因前序多轮修复已碰巧缓解了该状态（未在对照中复现，待后续验证）。</a:t>
            </a:r>
            <a:endParaRPr lang="en-US" sz="900" dirty="0"/>
          </a:p>
        </p:txBody>
      </p:sp>
      <p:sp>
        <p:nvSpPr>
          <p:cNvPr id="100" name="Text 8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21 / 27</a:t>
            </a:r>
            <a:endParaRPr lang="en-US" sz="1000" dirty="0"/>
          </a:p>
        </p:txBody>
      </p:sp>
      <p:sp>
        <p:nvSpPr>
          <p:cNvPr id="101" name="Text 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102" name="Rectangle 101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98E1F"/>
                </a:solidFill>
                <a:latin typeface="Microsoft YaHei"/>
              </a:rPr>
              <a:t>THE TURNING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转机：一次死机，连环三味药（10-17~18）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50">
                <a:solidFill>
                  <a:srgbClr val="A9BECC"/>
                </a:solidFill>
                <a:latin typeface="Microsoft YaHei"/>
              </a:rPr>
              <a:t>▪ 10-17：连续 160 小时未停机后突然死机（首次整机级挂死）——重启后排查，发现显卡风暴（WHEA 纠错 542-761 次/分，Gen5 特性；后证与谷互不为因果，共享上游因）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A9BECC"/>
                </a:solidFill>
                <a:latin typeface="Microsoft YaHei"/>
              </a:rPr>
              <a:t>▪ 第一味药·降 Gen（10-18 18:11）：BIOS 切 PCIe 4.0——果然改善：Gen4 下 68 探针零谷；同剂量外压只到“慢”不入谷（代数维被发现）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A9BECC"/>
                </a:solidFill>
                <a:latin typeface="Microsoft YaHei"/>
              </a:rPr>
              <a:t>▪ 第二味药·新配方：深入根因需带符号重编，而 S13 引擎源码树已被删除——改配方重编（/Zi+/DEBUG，66 min 冷编）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A9BECC"/>
                </a:solidFill>
                <a:latin typeface="Microsoft YaHei"/>
              </a:rPr>
              <a:t>▪ 没想到效果很好：新件卡死消失（深谷但走得完）——同源码三角矩阵判决 ⇒ 卡死元凶 = 符号链接缺失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A9BECC"/>
                </a:solidFill>
                <a:latin typeface="Microsoft YaHei"/>
              </a:rPr>
              <a:t>▪ 连环收获：死机暴露风暴、风暴逼出降 Gen、源码树被删逼出新配方——每一步都是被动撞上的转机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三个转机点连环触发：死机 → 风暴 → 降 Gen → 新配方——死亡谷的攻关从“排查”进入“拆解”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FC6D6"/>
                </a:solidFill>
                <a:latin typeface="Microsoft YaHei"/>
              </a:rPr>
              <a:t>ROOT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三个重要根因，与一个待判决的猜想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A9BECC"/>
                </a:solidFill>
                <a:latin typeface="Microsoft YaHei"/>
              </a:rPr>
              <a:t>▪ 根因① 编译配方（已破案）：卡死元凶 = 符号链接缺失——D 项判决三角矩阵（同源码三件：无符号件卡死 / 带符号件深谷但走得完，跨工具链复验一致）；修复 = /DEBUG 链接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A9BECC"/>
                </a:solidFill>
                <a:latin typeface="Microsoft YaHei"/>
              </a:rPr>
              <a:t>▪ 根因② 显卡风暴（已回避）：Gen5 的 WHEA 风暴 542-761 次/分（与谷互不为因果但共享上游因）——BIOS 切 Gen4 回避；Gen4 下同剂量外压只到“慢”不入谷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A9BECC"/>
                </a:solidFill>
                <a:latin typeface="Microsoft YaHei"/>
              </a:rPr>
              <a:t>▪ 猜想③ 布局敏感（待判决）：编译效果的真机制 = 链接布局改变驱动分页决策的输入——三假说：分页队列循环等待 / 内核重试循环 / 地址邻接效应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A9BECC"/>
                </a:solidFill>
                <a:latin typeface="Microsoft YaHei"/>
              </a:rPr>
              <a:t>▪ 判决实验 E1-E4（预登记）：带符号+旧布局 / 无符号+新布局 / DEBUG 子开关 / dumpbin 布局普查——把“符号”与“布局”拆开，一次开庭定案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A9BECC"/>
                </a:solidFill>
                <a:latin typeface="Microsoft YaHei"/>
              </a:rPr>
              <a:t>▪ 深档时窗：窗内 4/4、窗外 8/8——开合条件未知（机器态时窗假说，1.5h 尺度非简单休息-恢复）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13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卡死与谷是两个问题——谷三件全有（与编译无关），卡死仅特定布局：符号是目击者，布局是嫌疑人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ISSUES</a:t>
            </a:r>
            <a:endParaRPr lang="en-US" sz="1100" dirty="0"/>
          </a:p>
        </p:txBody>
      </p:sp>
      <p:sp>
        <p:nvSpPr>
          <p:cNvPr id="105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其余问题（诚实清单）</a:t>
            </a:r>
            <a:endParaRPr lang="en-US" sz="2400" dirty="0"/>
          </a:p>
        </p:txBody>
      </p:sp>
      <p:sp>
        <p:nvSpPr>
          <p:cNvPr id="106" name="Shape 3"/>
          <p:cNvSpPr/>
          <p:nvPr/>
        </p:nvSpPr>
        <p:spPr>
          <a:xfrm>
            <a:off x="548640" y="118872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7" name="Shape 4"/>
          <p:cNvSpPr/>
          <p:nvPr/>
        </p:nvSpPr>
        <p:spPr>
          <a:xfrm>
            <a:off x="548640" y="118872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" name="Text 5"/>
          <p:cNvSpPr/>
          <p:nvPr/>
        </p:nvSpPr>
        <p:spPr>
          <a:xfrm>
            <a:off x="8046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  <a:latin typeface="Microsoft YaHei"/>
              </a:rPr>
              <a:t>深载性能边界（击穿）</a:t>
            </a:r>
            <a:endParaRPr lang="en-US" sz="1200" dirty="0"/>
          </a:p>
        </p:txBody>
      </p:sp>
      <p:sp>
        <p:nvSpPr>
          <p:cNvPr id="109" name="Text 6"/>
          <p:cNvSpPr/>
          <p:nvPr/>
        </p:nvSpPr>
        <p:spPr>
          <a:xfrm>
            <a:off x="8046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A9BECC"/>
                </a:solidFill>
                <a:latin typeface="Microsoft YaHei"/>
              </a:rPr>
              <a:t>慢峰搬运接近步窗时暴露（深载/爆发场景）。非死亡谷成因——谷已另案定案（提交阻塞）。解法 = 深流水多批摊薄</a:t>
            </a:r>
            <a:endParaRPr lang="en-US" sz="950" dirty="0"/>
          </a:p>
        </p:txBody>
      </p:sp>
      <p:sp>
        <p:nvSpPr>
          <p:cNvPr id="110" name="Shape 7"/>
          <p:cNvSpPr/>
          <p:nvPr/>
        </p:nvSpPr>
        <p:spPr>
          <a:xfrm>
            <a:off x="4663440" y="118872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1" name="Shape 8"/>
          <p:cNvSpPr/>
          <p:nvPr/>
        </p:nvSpPr>
        <p:spPr>
          <a:xfrm>
            <a:off x="4663440" y="118872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" name="Text 9"/>
          <p:cNvSpPr/>
          <p:nvPr/>
        </p:nvSpPr>
        <p:spPr>
          <a:xfrm>
            <a:off x="49194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  <a:latin typeface="Microsoft YaHei"/>
              </a:rPr>
              <a:t>异步收益的统计强度</a:t>
            </a:r>
            <a:endParaRPr lang="en-US" sz="1200" dirty="0"/>
          </a:p>
        </p:txBody>
      </p:sp>
      <p:sp>
        <p:nvSpPr>
          <p:cNvPr id="113" name="Text 10"/>
          <p:cNvSpPr/>
          <p:nvPr/>
        </p:nvSpPr>
        <p:spPr>
          <a:xfrm>
            <a:off x="49194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A9BECC"/>
                </a:solidFill>
                <a:latin typeface="Microsoft YaHei"/>
              </a:rPr>
              <a:t>深轮 r=0.80 为 n=3/臂、单机、健康期——需 n≥10 重复 + 带宽竞争单独计量（compute-only 步窗对比）才钉显著；深载分档（D2/D3/D4）与 D1 反常一并测</a:t>
            </a:r>
            <a:endParaRPr lang="en-US" sz="950" dirty="0"/>
          </a:p>
        </p:txBody>
      </p:sp>
      <p:sp>
        <p:nvSpPr>
          <p:cNvPr id="114" name="Shape 11"/>
          <p:cNvSpPr/>
          <p:nvPr/>
        </p:nvSpPr>
        <p:spPr>
          <a:xfrm>
            <a:off x="5486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5" name="Shape 12"/>
          <p:cNvSpPr/>
          <p:nvPr/>
        </p:nvSpPr>
        <p:spPr>
          <a:xfrm>
            <a:off x="5486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Text 13"/>
          <p:cNvSpPr/>
          <p:nvPr/>
        </p:nvSpPr>
        <p:spPr>
          <a:xfrm>
            <a:off x="8046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 层：有意取舍</a:t>
            </a:r>
            <a:endParaRPr lang="en-US" sz="1200" dirty="0"/>
          </a:p>
        </p:txBody>
      </p:sp>
      <p:sp>
        <p:nvSpPr>
          <p:cNvPr id="117" name="Text 14"/>
          <p:cNvSpPr/>
          <p:nvPr/>
        </p:nvSpPr>
        <p:spPr>
          <a:xfrm>
            <a:off x="8046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KV 可常驻 Host RAM（最坏 ≈8.6 GB / 本机 128 GB）——无容量必要，热成本 +11% 不划算</a:t>
            </a:r>
            <a:endParaRPr lang="en-US" sz="950" dirty="0"/>
          </a:p>
        </p:txBody>
      </p:sp>
      <p:sp>
        <p:nvSpPr>
          <p:cNvPr id="118" name="Shape 15"/>
          <p:cNvSpPr/>
          <p:nvPr/>
        </p:nvSpPr>
        <p:spPr>
          <a:xfrm>
            <a:off x="46634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9" name="Shape 16"/>
          <p:cNvSpPr/>
          <p:nvPr/>
        </p:nvSpPr>
        <p:spPr>
          <a:xfrm>
            <a:off x="46634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" name="Text 17"/>
          <p:cNvSpPr/>
          <p:nvPr/>
        </p:nvSpPr>
        <p:spPr>
          <a:xfrm>
            <a:off x="49194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拷贝式搬运</a:t>
            </a:r>
            <a:endParaRPr lang="en-US" sz="1200" dirty="0"/>
          </a:p>
        </p:txBody>
      </p:sp>
      <p:sp>
        <p:nvSpPr>
          <p:cNvPr id="121" name="Text 18"/>
          <p:cNvSpPr/>
          <p:nvPr/>
        </p:nvSpPr>
        <p:spPr>
          <a:xfrm>
            <a:off x="49194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仍是拷贝；原作者已实现“所有权移动”——追赶中。落地后用按需协议做拷贝版 vs 移动版对照（入谷率/谷深），并测对暴露面的作用</a:t>
            </a:r>
            <a:endParaRPr lang="en-US" sz="950" dirty="0"/>
          </a:p>
        </p:txBody>
      </p:sp>
      <p:sp>
        <p:nvSpPr>
          <p:cNvPr id="122" name="Shape 19"/>
          <p:cNvSpPr/>
          <p:nvPr/>
        </p:nvSpPr>
        <p:spPr>
          <a:xfrm>
            <a:off x="5486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3" name="Shape 20"/>
          <p:cNvSpPr/>
          <p:nvPr/>
        </p:nvSpPr>
        <p:spPr>
          <a:xfrm>
            <a:off x="5486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" name="Text 21"/>
          <p:cNvSpPr/>
          <p:nvPr/>
        </p:nvSpPr>
        <p:spPr>
          <a:xfrm>
            <a:off x="804672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覆盖差异</a:t>
            </a:r>
            <a:endParaRPr lang="en-US" sz="1200" dirty="0"/>
          </a:p>
        </p:txBody>
      </p:sp>
      <p:sp>
        <p:nvSpPr>
          <p:cNvPr id="125" name="Text 22"/>
          <p:cNvSpPr/>
          <p:nvPr/>
        </p:nvSpPr>
        <p:spPr>
          <a:xfrm>
            <a:off x="804672" y="37673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 smtClean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深耕单路长上下文</a:t>
            </a:r>
            <a:r>
              <a:rPr lang="en-US" sz="950" dirty="0" smtClean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zh-CN" altLang="en-US" sz="950" dirty="0" smtClean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部分社区</a:t>
            </a:r>
            <a:r>
              <a:rPr lang="en-US" sz="950" dirty="0" err="1" smtClean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作者的多路并发场景我们覆盖不足</a:t>
            </a:r>
            <a:endParaRPr lang="en-US" sz="950" dirty="0"/>
          </a:p>
        </p:txBody>
      </p:sp>
      <p:sp>
        <p:nvSpPr>
          <p:cNvPr id="126" name="Text 2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注：“时段性慢态”已在前两页展开（嫌疑圈定 + 根因与猜想）；深档时窗开合条件未列入本清单（见根因页）</a:t>
            </a:r>
            <a:endParaRPr lang="en-US" sz="950" dirty="0"/>
          </a:p>
        </p:txBody>
      </p:sp>
      <p:sp>
        <p:nvSpPr>
          <p:cNvPr id="127" name="Text 24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24 / 27</a:t>
            </a:r>
            <a:endParaRPr lang="en-US" sz="1000" dirty="0"/>
          </a:p>
        </p:txBody>
      </p:sp>
      <p:sp>
        <p:nvSpPr>
          <p:cNvPr id="128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129" name="Rectangle 128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32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未来的方向</a:t>
            </a:r>
            <a:endParaRPr lang="en-US" sz="2400" dirty="0"/>
          </a:p>
        </p:txBody>
      </p:sp>
      <p:sp>
        <p:nvSpPr>
          <p:cNvPr id="133" name="Shape 3"/>
          <p:cNvSpPr/>
          <p:nvPr/>
        </p:nvSpPr>
        <p:spPr>
          <a:xfrm>
            <a:off x="548640" y="1024128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4" name="Shape 4"/>
          <p:cNvSpPr/>
          <p:nvPr/>
        </p:nvSpPr>
        <p:spPr>
          <a:xfrm>
            <a:off x="548640" y="102412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5" name="Shape 5"/>
          <p:cNvSpPr/>
          <p:nvPr/>
        </p:nvSpPr>
        <p:spPr>
          <a:xfrm>
            <a:off x="777240" y="1106424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Text 6"/>
          <p:cNvSpPr/>
          <p:nvPr/>
        </p:nvSpPr>
        <p:spPr>
          <a:xfrm>
            <a:off x="777240" y="1115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37" name="Text 7"/>
          <p:cNvSpPr/>
          <p:nvPr/>
        </p:nvSpPr>
        <p:spPr>
          <a:xfrm>
            <a:off x="1325880" y="10698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深流水</a:t>
            </a:r>
            <a:endParaRPr lang="en-US" sz="1200" dirty="0"/>
          </a:p>
        </p:txBody>
      </p:sp>
      <p:sp>
        <p:nvSpPr>
          <p:cNvPr id="138" name="Text 8"/>
          <p:cNvSpPr/>
          <p:nvPr/>
        </p:nvSpPr>
        <p:spPr>
          <a:xfrm>
            <a:off x="3474720" y="106984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多批在飞，把击穿余量拿回来——“浅池+深流水+高精度”最后一环</a:t>
            </a:r>
            <a:endParaRPr lang="en-US" sz="950" dirty="0"/>
          </a:p>
        </p:txBody>
      </p:sp>
      <p:sp>
        <p:nvSpPr>
          <p:cNvPr id="139" name="Shape 9"/>
          <p:cNvSpPr/>
          <p:nvPr/>
        </p:nvSpPr>
        <p:spPr>
          <a:xfrm>
            <a:off x="548640" y="1645920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0" name="Shape 10"/>
          <p:cNvSpPr/>
          <p:nvPr/>
        </p:nvSpPr>
        <p:spPr>
          <a:xfrm>
            <a:off x="548640" y="1645920"/>
            <a:ext cx="91440" cy="5303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" name="Shape 11"/>
          <p:cNvSpPr/>
          <p:nvPr/>
        </p:nvSpPr>
        <p:spPr>
          <a:xfrm>
            <a:off x="777240" y="1728216"/>
            <a:ext cx="365760" cy="365760"/>
          </a:xfrm>
          <a:prstGeom prst="ellipse">
            <a:avLst/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" name="Text 12"/>
          <p:cNvSpPr/>
          <p:nvPr/>
        </p:nvSpPr>
        <p:spPr>
          <a:xfrm>
            <a:off x="777240" y="1737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3" name="Text 13"/>
          <p:cNvSpPr/>
          <p:nvPr/>
        </p:nvSpPr>
        <p:spPr>
          <a:xfrm>
            <a:off x="1325880" y="16916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所有权移动</a:t>
            </a:r>
            <a:endParaRPr lang="en-US" sz="1200" dirty="0"/>
          </a:p>
        </p:txBody>
      </p:sp>
      <p:sp>
        <p:nvSpPr>
          <p:cNvPr id="144" name="Text 14"/>
          <p:cNvSpPr/>
          <p:nvPr/>
        </p:nvSpPr>
        <p:spPr>
          <a:xfrm>
            <a:off x="3474720" y="169164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向原作者语义看齐：搬运不复制、恢复零快照</a:t>
            </a:r>
            <a:endParaRPr lang="en-US" sz="950" dirty="0"/>
          </a:p>
        </p:txBody>
      </p:sp>
      <p:sp>
        <p:nvSpPr>
          <p:cNvPr id="145" name="Shape 15"/>
          <p:cNvSpPr/>
          <p:nvPr/>
        </p:nvSpPr>
        <p:spPr>
          <a:xfrm>
            <a:off x="548640" y="2267712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6" name="Shape 16"/>
          <p:cNvSpPr/>
          <p:nvPr/>
        </p:nvSpPr>
        <p:spPr>
          <a:xfrm>
            <a:off x="548640" y="2267712"/>
            <a:ext cx="91440" cy="5303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Shape 17"/>
          <p:cNvSpPr/>
          <p:nvPr/>
        </p:nvSpPr>
        <p:spPr>
          <a:xfrm>
            <a:off x="777240" y="2350008"/>
            <a:ext cx="365760" cy="365760"/>
          </a:xfrm>
          <a:prstGeom prst="ellipse">
            <a:avLst/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" name="Text 18"/>
          <p:cNvSpPr/>
          <p:nvPr/>
        </p:nvSpPr>
        <p:spPr>
          <a:xfrm>
            <a:off x="777240" y="23591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49" name="Text 19"/>
          <p:cNvSpPr/>
          <p:nvPr/>
        </p:nvSpPr>
        <p:spPr>
          <a:xfrm>
            <a:off x="1325880" y="23134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层深化</a:t>
            </a:r>
            <a:endParaRPr lang="en-US" sz="1200" dirty="0"/>
          </a:p>
        </p:txBody>
      </p:sp>
      <p:sp>
        <p:nvSpPr>
          <p:cNvPr id="150" name="Text 20"/>
          <p:cNvSpPr/>
          <p:nvPr/>
        </p:nvSpPr>
        <p:spPr>
          <a:xfrm>
            <a:off x="3474720" y="2313432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 Host 配额 + 优化 RAM↔显存搬运；SSD 按需再评估（非跟随项）</a:t>
            </a:r>
            <a:endParaRPr lang="en-US" sz="950" dirty="0"/>
          </a:p>
        </p:txBody>
      </p:sp>
      <p:sp>
        <p:nvSpPr>
          <p:cNvPr id="151" name="Shape 21"/>
          <p:cNvSpPr/>
          <p:nvPr/>
        </p:nvSpPr>
        <p:spPr>
          <a:xfrm>
            <a:off x="548640" y="2889504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2" name="Shape 22"/>
          <p:cNvSpPr/>
          <p:nvPr/>
        </p:nvSpPr>
        <p:spPr>
          <a:xfrm>
            <a:off x="548640" y="2889504"/>
            <a:ext cx="91440" cy="530352"/>
          </a:xfrm>
          <a:prstGeom prst="roundRect">
            <a:avLst>
              <a:gd name="adj" fmla="val 50000"/>
            </a:avLst>
          </a:prstGeom>
          <a:solidFill>
            <a:srgbClr val="D98E1F">
              <a:alpha val="10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" name="Shape 23"/>
          <p:cNvSpPr/>
          <p:nvPr/>
        </p:nvSpPr>
        <p:spPr>
          <a:xfrm>
            <a:off x="777240" y="2971800"/>
            <a:ext cx="365760" cy="365760"/>
          </a:xfrm>
          <a:prstGeom prst="ellipse">
            <a:avLst/>
          </a:prstGeom>
          <a:solidFill>
            <a:srgbClr val="C98A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Text 24"/>
          <p:cNvSpPr/>
          <p:nvPr/>
        </p:nvSpPr>
        <p:spPr>
          <a:xfrm>
            <a:off x="777240" y="29809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155" name="Text 25"/>
          <p:cNvSpPr/>
          <p:nvPr/>
        </p:nvSpPr>
        <p:spPr>
          <a:xfrm>
            <a:off x="1325880" y="29352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编译配方与慢态收口</a:t>
            </a:r>
            <a:endParaRPr lang="en-US" sz="1200" dirty="0"/>
          </a:p>
        </p:txBody>
      </p:sp>
      <p:sp>
        <p:nvSpPr>
          <p:cNvPr id="156" name="Text 26"/>
          <p:cNvSpPr/>
          <p:nvPr/>
        </p:nvSpPr>
        <p:spPr>
          <a:xfrm>
            <a:off x="3474720" y="293522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判决实验 E1-E4（拆开符号与布局）+ 深载长跑决胜局 + 深档时窗开合 + 自然触发源</a:t>
            </a:r>
            <a:endParaRPr lang="en-US" sz="950" dirty="0"/>
          </a:p>
        </p:txBody>
      </p:sp>
      <p:sp>
        <p:nvSpPr>
          <p:cNvPr id="157" name="Shape 27"/>
          <p:cNvSpPr/>
          <p:nvPr/>
        </p:nvSpPr>
        <p:spPr>
          <a:xfrm>
            <a:off x="548640" y="3511296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8" name="Shape 28"/>
          <p:cNvSpPr/>
          <p:nvPr/>
        </p:nvSpPr>
        <p:spPr>
          <a:xfrm>
            <a:off x="548640" y="3511296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Shape 29"/>
          <p:cNvSpPr/>
          <p:nvPr/>
        </p:nvSpPr>
        <p:spPr>
          <a:xfrm>
            <a:off x="777240" y="3593592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0" name="Text 30"/>
          <p:cNvSpPr/>
          <p:nvPr/>
        </p:nvSpPr>
        <p:spPr>
          <a:xfrm>
            <a:off x="777240" y="36027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161" name="Text 31"/>
          <p:cNvSpPr/>
          <p:nvPr/>
        </p:nvSpPr>
        <p:spPr>
          <a:xfrm>
            <a:off x="1325880" y="35570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误搬率观测</a:t>
            </a:r>
            <a:endParaRPr lang="en-US" sz="1200" dirty="0"/>
          </a:p>
        </p:txBody>
      </p:sp>
      <p:sp>
        <p:nvSpPr>
          <p:cNvPr id="162" name="Text 32"/>
          <p:cNvSpPr/>
          <p:nvPr/>
        </p:nvSpPr>
        <p:spPr>
          <a:xfrm>
            <a:off x="3474720" y="35570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统计“搬出后又快速搬回”的比率——让决策质量从猜变成量</a:t>
            </a:r>
            <a:endParaRPr lang="en-US" sz="950" dirty="0"/>
          </a:p>
        </p:txBody>
      </p:sp>
      <p:sp>
        <p:nvSpPr>
          <p:cNvPr id="163" name="Shape 33"/>
          <p:cNvSpPr/>
          <p:nvPr/>
        </p:nvSpPr>
        <p:spPr>
          <a:xfrm>
            <a:off x="548640" y="4133088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4" name="Shape 34"/>
          <p:cNvSpPr/>
          <p:nvPr/>
        </p:nvSpPr>
        <p:spPr>
          <a:xfrm>
            <a:off x="548640" y="413308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5" name="Shape 35"/>
          <p:cNvSpPr/>
          <p:nvPr/>
        </p:nvSpPr>
        <p:spPr>
          <a:xfrm>
            <a:off x="777240" y="4215384"/>
            <a:ext cx="365760" cy="365760"/>
          </a:xfrm>
          <a:prstGeom prst="ellipse">
            <a:avLst/>
          </a:prstGeom>
          <a:solidFill>
            <a:srgbClr val="D98E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Text 36"/>
          <p:cNvSpPr/>
          <p:nvPr/>
        </p:nvSpPr>
        <p:spPr>
          <a:xfrm>
            <a:off x="77724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167" name="Text 37"/>
          <p:cNvSpPr/>
          <p:nvPr/>
        </p:nvSpPr>
        <p:spPr>
          <a:xfrm>
            <a:off x="1325880" y="41788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向上游回馈与投机路线评估</a:t>
            </a:r>
            <a:endParaRPr lang="en-US" sz="1200" dirty="0"/>
          </a:p>
        </p:txBody>
      </p:sp>
      <p:sp>
        <p:nvSpPr>
          <p:cNvPr id="168" name="Text 38"/>
          <p:cNvSpPr/>
          <p:nvPr/>
        </p:nvSpPr>
        <p:spPr>
          <a:xfrm>
            <a:off x="3474720" y="417880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修复与实测数据贡献回社区；DFlash2 路线评估（缩池换草稿的账，看上游接受率数据）；三元量化权重评估</a:t>
            </a:r>
            <a:endParaRPr lang="en-US" sz="950" dirty="0"/>
          </a:p>
        </p:txBody>
      </p:sp>
      <p:sp>
        <p:nvSpPr>
          <p:cNvPr id="169" name="Text 39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25 / 27</a:t>
            </a:r>
            <a:endParaRPr lang="en-US" sz="1000" dirty="0"/>
          </a:p>
        </p:txBody>
      </p:sp>
      <p:sp>
        <p:nvSpPr>
          <p:cNvPr id="170" name="Text 4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171" name="Rectangle 170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OPEN SOURCE</a:t>
            </a:r>
            <a:endParaRPr lang="en-US" sz="1100" dirty="0"/>
          </a:p>
        </p:txBody>
      </p:sp>
      <p:sp>
        <p:nvSpPr>
          <p:cNvPr id="17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为什么要开源这份工作</a:t>
            </a:r>
            <a:endParaRPr lang="en-US" sz="2400" dirty="0"/>
          </a:p>
        </p:txBody>
      </p:sp>
      <p:sp>
        <p:nvSpPr>
          <p:cNvPr id="175" name="Shape 3"/>
          <p:cNvSpPr/>
          <p:nvPr/>
        </p:nvSpPr>
        <p:spPr>
          <a:xfrm>
            <a:off x="548640" y="1097280"/>
            <a:ext cx="3886200" cy="2377440"/>
          </a:xfrm>
          <a:prstGeom prst="roundRect">
            <a:avLst>
              <a:gd name="adj" fmla="val 16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6" name="Shape 4"/>
          <p:cNvSpPr/>
          <p:nvPr/>
        </p:nvSpPr>
        <p:spPr>
          <a:xfrm>
            <a:off x="54864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sz="950">
                <a:solidFill>
                  <a:srgbClr val="8FA6B5"/>
                </a:solidFill>
                <a:latin typeface="Microsoft YaHei"/>
              </a:rPr>
              <a:t>缘起：到火候了就开门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技术已达“限定场景生产可用”：单路长上下文 Agent 会话（显存独占）实跑验证通过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最大未解课题（时段性慢态）经 150+ 小时攻关已嫌疑圈定、初步消除：卡死破案（编译配方）/ Gen4 回避风暴 / 布局敏感猜想+E1-E4 判决实验已备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剩余部分（布局判决 / 深档时窗 / 自然触发源）需要社区 / 上游 / 驱动侧协同——开源 = 一起完成最后判决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钥匙已备好：约 2 分钟的最小复现协议（可随时造出该状态）</a:t>
            </a:r>
          </a:p>
        </p:txBody>
      </p:sp>
      <p:sp>
        <p:nvSpPr>
          <p:cNvPr id="178" name="Text 6"/>
          <p:cNvSpPr/>
          <p:nvPr/>
        </p:nvSpPr>
        <p:spPr>
          <a:xfrm>
            <a:off x="77724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技术已达“限定场景生产可用”：单路长上下文 Agent 会话（显存独占）实跑验证通过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但最大未解课题（时段性慢态）已超出单线攻关的带宽——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= 借社区 / 上游 / 驱动侧协同攻关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我们已备好”换帮助”的钥匙：约 2 分钟的最小复现协议（可随时造出该状态）</a:t>
            </a:r>
            <a:endParaRPr lang="en-US" sz="950" dirty="0"/>
          </a:p>
        </p:txBody>
      </p:sp>
      <p:sp>
        <p:nvSpPr>
          <p:cNvPr id="179" name="Shape 7"/>
          <p:cNvSpPr/>
          <p:nvPr/>
        </p:nvSpPr>
        <p:spPr>
          <a:xfrm>
            <a:off x="4709160" y="1097280"/>
            <a:ext cx="3886200" cy="2377440"/>
          </a:xfrm>
          <a:prstGeom prst="roundRect">
            <a:avLst>
              <a:gd name="adj" fmla="val 16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0" name="Shape 8"/>
          <p:cNvSpPr/>
          <p:nvPr/>
        </p:nvSpPr>
        <p:spPr>
          <a:xfrm>
            <a:off x="470916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sz="950">
                <a:solidFill>
                  <a:srgbClr val="8FA6B5"/>
                </a:solidFill>
                <a:latin typeface="Microsoft YaHei"/>
              </a:rPr>
              <a:t>定位与承诺（口径先行）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定位：“研究性工程 + 限定场景生产可用”；多路并发未覆盖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承诺 ① 进谷可控：卡死已消除（编译配方）/ 指纹可检测 / 分钟级自愈 / 回避手段已确证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承诺 ② 输出无损：池内 vs 超池逐字相同（A2 门）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不承诺：永不进谷（自然触发源待解）；通用生产级</a:t>
            </a:r>
          </a:p>
        </p:txBody>
      </p:sp>
      <p:sp>
        <p:nvSpPr>
          <p:cNvPr id="182" name="Text 10"/>
          <p:cNvSpPr/>
          <p:nvPr/>
        </p:nvSpPr>
        <p:spPr>
          <a:xfrm>
            <a:off x="493776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定位：“研究性工程 + 限定场景生产可用”；多路并发未覆盖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 ① 进谷可控：指纹可检测 / 分钟级自愈 / 回避手段已确证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 ② 输出无损：池内 vs 超池逐字相同（A2 门）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FF8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不承诺：永不进谷（触发源未解）；通用生产级</a:t>
            </a:r>
            <a:endParaRPr lang="en-US" sz="950" dirty="0"/>
          </a:p>
        </p:txBody>
      </p:sp>
      <p:sp>
        <p:nvSpPr>
          <p:cNvPr id="183" name="Shape 11"/>
          <p:cNvSpPr/>
          <p:nvPr/>
        </p:nvSpPr>
        <p:spPr>
          <a:xfrm>
            <a:off x="548640" y="3657600"/>
            <a:ext cx="8046720" cy="713232"/>
          </a:xfrm>
          <a:prstGeom prst="roundRect">
            <a:avLst>
              <a:gd name="adj" fmla="val 5400"/>
            </a:avLst>
          </a:prstGeom>
          <a:solidFill>
            <a:srgbClr val="3A2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Shape 12"/>
          <p:cNvSpPr/>
          <p:nvPr/>
        </p:nvSpPr>
        <p:spPr>
          <a:xfrm>
            <a:off x="548640" y="3657600"/>
            <a:ext cx="109728" cy="71323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Text 13"/>
          <p:cNvSpPr/>
          <p:nvPr/>
        </p:nvSpPr>
        <p:spPr>
          <a:xfrm>
            <a:off x="777240" y="371246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sz="1100">
                <a:solidFill>
                  <a:srgbClr val="23465C"/>
                </a:solidFill>
                <a:latin typeface="Microsoft YaHei"/>
              </a:rPr>
              <a:t>我们希望换到的：不是“夸赞”，而是同路人的线索与判决——谁在驱动侧见过提交阻塞、谁能复现布局敏感（E1-E4）、谁能一起把行号级根因钉死。</a:t>
            </a:r>
            <a:endParaRPr lang="en-US" sz="1100" dirty="0"/>
          </a:p>
        </p:txBody>
      </p:sp>
      <p:sp>
        <p:nvSpPr>
          <p:cNvPr id="186" name="Text 14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sz="950">
                <a:solidFill>
                  <a:srgbClr val="8FA6B5"/>
                </a:solidFill>
                <a:latin typeface="Microsoft YaHei"/>
              </a:rPr>
              <a:t>缘起：到火候了就开门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技术已达“限定场景生产可用”：单路长上下文 Agent 会话（显存独占）实跑验证通过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最大未解课题（时段性慢态）经 150+ 小时攻关已嫌疑圈定、初步消除：卡死破案（编译配方）/ Gen4 回避风暴 / 布局敏感猜想+E1-E4 判决实验已备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剩余部分（布局判决 / 深档时窗 / 自然触发源）需要社区 / 上游 / 驱动侧协同——开源 = 一起完成最后判决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8FA6B5"/>
                </a:solidFill>
                <a:latin typeface="Microsoft YaHei"/>
              </a:rPr>
              <a:t>钥匙已备好：约 2 分钟的最小复现协议（可随时造出该状态）</a:t>
            </a:r>
          </a:p>
        </p:txBody>
      </p:sp>
      <p:sp>
        <p:nvSpPr>
          <p:cNvPr id="187" name="Text 15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3FC6D6"/>
                </a:solidFill>
                <a:latin typeface="Microsoft YaHei"/>
              </a:rPr>
              <a:t>26 / 27</a:t>
            </a:r>
            <a:endParaRPr lang="en-US" sz="1000" dirty="0"/>
          </a:p>
        </p:txBody>
      </p:sp>
      <p:sp>
        <p:nvSpPr>
          <p:cNvPr id="188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NINFER 和 KVMEM 的肩膀上 · 异步页流水</a:t>
            </a:r>
            <a:endParaRPr lang="en-US" sz="900" dirty="0"/>
          </a:p>
        </p:txBody>
      </p:sp>
      <p:sp>
        <p:nvSpPr>
          <p:cNvPr id="189" name="Rectangle 188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457200" y="640080"/>
            <a:ext cx="128016" cy="64008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1" name="Text 1"/>
          <p:cNvSpPr/>
          <p:nvPr/>
        </p:nvSpPr>
        <p:spPr>
          <a:xfrm>
            <a:off x="77724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THANKS</a:t>
            </a:r>
            <a:endParaRPr lang="en-US" sz="1200" dirty="0"/>
          </a:p>
        </p:txBody>
      </p:sp>
      <p:sp>
        <p:nvSpPr>
          <p:cNvPr id="192" name="Text 2"/>
          <p:cNvSpPr/>
          <p:nvPr/>
        </p:nvSpPr>
        <p:spPr>
          <a:xfrm>
            <a:off x="777240" y="868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</a:t>
            </a:r>
            <a:endParaRPr lang="en-US" sz="2800" dirty="0"/>
          </a:p>
        </p:txBody>
      </p:sp>
      <p:sp>
        <p:nvSpPr>
          <p:cNvPr id="193" name="Shape 3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4" name="Text 4"/>
          <p:cNvSpPr/>
          <p:nvPr/>
        </p:nvSpPr>
        <p:spPr>
          <a:xfrm>
            <a:off x="822960" y="16093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95" name="Text 5"/>
          <p:cNvSpPr/>
          <p:nvPr/>
        </p:nvSpPr>
        <p:spPr>
          <a:xfrm>
            <a:off x="1371600" y="15544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原作者把“装不下”变成“装得下”——KV 虚拟化让消费卡承载百万 token 工作区；</a:t>
            </a:r>
            <a:endParaRPr lang="en-US" sz="1350" dirty="0"/>
          </a:p>
        </p:txBody>
      </p:sp>
      <p:sp>
        <p:nvSpPr>
          <p:cNvPr id="196" name="Shape 6"/>
          <p:cNvSpPr/>
          <p:nvPr/>
        </p:nvSpPr>
        <p:spPr>
          <a:xfrm>
            <a:off x="822960" y="2377440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7" name="Text 7"/>
          <p:cNvSpPr/>
          <p:nvPr/>
        </p:nvSpPr>
        <p:spPr>
          <a:xfrm>
            <a:off x="822960" y="2386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8" name="Text 8"/>
          <p:cNvSpPr/>
          <p:nvPr/>
        </p:nvSpPr>
        <p:spPr>
          <a:xfrm>
            <a:off x="1371600" y="23317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我们在其基础上把“换页”从同步等待变成异步页流水——搬运与计算重叠，超池不等于减速；</a:t>
            </a:r>
            <a:endParaRPr lang="en-US" sz="1350" dirty="0"/>
          </a:p>
        </p:txBody>
      </p:sp>
      <p:sp>
        <p:nvSpPr>
          <p:cNvPr id="199" name="Shape 9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0" name="Text 10"/>
          <p:cNvSpPr/>
          <p:nvPr/>
        </p:nvSpPr>
        <p:spPr>
          <a:xfrm>
            <a:off x="822960" y="31638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01" name="Text 11"/>
          <p:cNvSpPr/>
          <p:nvPr/>
        </p:nvSpPr>
        <p:spPr>
          <a:xfrm>
            <a:off x="1371600" y="31089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第一阶段已交付、慢态攻关在进行——目标：从“持续装得下”到“持续跑得快”。</a:t>
            </a:r>
            <a:endParaRPr lang="en-US" sz="1350" dirty="0"/>
          </a:p>
        </p:txBody>
      </p:sp>
      <p:sp>
        <p:nvSpPr>
          <p:cNvPr id="202" name="Shape 12"/>
          <p:cNvSpPr/>
          <p:nvPr/>
        </p:nvSpPr>
        <p:spPr>
          <a:xfrm>
            <a:off x="822960" y="3977640"/>
            <a:ext cx="7498080" cy="566928"/>
          </a:xfrm>
          <a:prstGeom prst="roundRect">
            <a:avLst>
              <a:gd name="adj" fmla="val 6700"/>
            </a:avLst>
          </a:prstGeom>
          <a:solidFill>
            <a:srgbClr val="1632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3" name="Text 13"/>
          <p:cNvSpPr/>
          <p:nvPr/>
        </p:nvSpPr>
        <p:spPr>
          <a:xfrm>
            <a:off x="1005840" y="4023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再次感谢：KVMem 作者团队（B 站 FirePKU）· 沈三殊 · tancau（Ring 环）· 帅气的 zxz（5060Ti 线），以及 llama.cpp / Neroued/ninfer / iamwavecut/ninfer-all 与社区所有贡献者。</a:t>
            </a:r>
            <a:endParaRPr lang="en-US" sz="900" dirty="0"/>
          </a:p>
        </p:txBody>
      </p:sp>
      <p:sp>
        <p:nvSpPr>
          <p:cNvPr id="204" name="Text 14"/>
          <p:cNvSpPr/>
          <p:nvPr/>
        </p:nvSpPr>
        <p:spPr>
          <a:xfrm>
            <a:off x="82296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Ninfer-KVMem-Async · 2026-10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3144</Words>
  <Application>Microsoft Office PowerPoint</Application>
  <PresentationFormat>全屏显示(16:9)</PresentationFormat>
  <Paragraphs>437</Paragraphs>
  <Slides>27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等线</vt:lpstr>
      <vt:lpstr>方正小标宋简体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微软用户</cp:lastModifiedBy>
  <cp:revision>17</cp:revision>
  <dcterms:created xsi:type="dcterms:W3CDTF">2026-10-17T01:46:31Z</dcterms:created>
  <dcterms:modified xsi:type="dcterms:W3CDTF">2026-10-19T09:46:48Z</dcterms:modified>
</cp:coreProperties>
</file>